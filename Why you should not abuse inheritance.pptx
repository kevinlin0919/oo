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57" r:id="rId6"/>
    <p:sldId id="258" r:id="rId7"/>
    <p:sldId id="259" r:id="rId8"/>
    <p:sldId id="265" r:id="rId9"/>
    <p:sldId id="260" r:id="rId10"/>
    <p:sldId id="261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>
        <p:scale>
          <a:sx n="50" d="100"/>
          <a:sy n="50" d="100"/>
        </p:scale>
        <p:origin x="126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919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6670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7001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0414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066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97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03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48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7536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3205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696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61E8B-FBDC-48EE-9B47-7507343ABC58}" type="datetimeFigureOut">
              <a:rPr lang="zh-TW" altLang="en-US" smtClean="0"/>
              <a:t>2019/3/27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83833-0235-4733-8069-4CFF350BA2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714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Why you should not abuse </a:t>
            </a:r>
            <a:r>
              <a:rPr lang="en-US" altLang="zh-TW" dirty="0" smtClean="0"/>
              <a:t>inheritance</a:t>
            </a:r>
            <a:r>
              <a:rPr lang="zh-TW" altLang="en-US" dirty="0" smtClean="0"/>
              <a:t> </a:t>
            </a:r>
            <a:r>
              <a:rPr lang="en-US" altLang="zh-TW" dirty="0" smtClean="0"/>
              <a:t>over composition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5875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595" y="176213"/>
            <a:ext cx="6265273" cy="662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5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Answer of class 2019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721723" y="1325563"/>
            <a:ext cx="10748554" cy="4351338"/>
          </a:xfrm>
        </p:spPr>
        <p:txBody>
          <a:bodyPr>
            <a:noAutofit/>
          </a:bodyPr>
          <a:lstStyle/>
          <a:p>
            <a:r>
              <a:rPr lang="zh-TW" altLang="zh-TW" sz="2000" dirty="0"/>
              <a:t>繼承是物件導向中最強烈的耦合</a:t>
            </a:r>
            <a:r>
              <a:rPr lang="en-US" altLang="zh-TW" sz="2000" dirty="0"/>
              <a:t>, </a:t>
            </a:r>
            <a:r>
              <a:rPr lang="zh-TW" altLang="zh-TW" sz="2000" dirty="0"/>
              <a:t>容易牽一髮而動全身</a:t>
            </a:r>
            <a:r>
              <a:rPr lang="en-US" altLang="zh-TW" sz="2000" dirty="0"/>
              <a:t>, </a:t>
            </a:r>
            <a:r>
              <a:rPr lang="zh-TW" altLang="zh-TW" sz="2000" dirty="0"/>
              <a:t>當更改父類別時將同步影響到所有子類別</a:t>
            </a:r>
            <a:r>
              <a:rPr lang="en-US" altLang="zh-TW" sz="2000" dirty="0"/>
              <a:t>, </a:t>
            </a:r>
            <a:r>
              <a:rPr lang="zh-TW" altLang="zh-TW" sz="2000" dirty="0"/>
              <a:t>而且亂用繼承的話</a:t>
            </a:r>
            <a:r>
              <a:rPr lang="en-US" altLang="zh-TW" sz="2000" dirty="0"/>
              <a:t>, </a:t>
            </a:r>
            <a:r>
              <a:rPr lang="zh-TW" altLang="zh-TW" sz="2000" dirty="0"/>
              <a:t>很可能導致</a:t>
            </a:r>
            <a:r>
              <a:rPr lang="en-US" altLang="zh-TW" sz="2000" dirty="0"/>
              <a:t>a</a:t>
            </a:r>
            <a:r>
              <a:rPr lang="zh-TW" altLang="zh-TW" sz="2000" dirty="0"/>
              <a:t>繼承</a:t>
            </a:r>
            <a:r>
              <a:rPr lang="en-US" altLang="zh-TW" sz="2000" dirty="0"/>
              <a:t>b, b</a:t>
            </a:r>
            <a:r>
              <a:rPr lang="zh-TW" altLang="zh-TW" sz="2000" dirty="0"/>
              <a:t>繼承</a:t>
            </a:r>
            <a:r>
              <a:rPr lang="en-US" altLang="zh-TW" sz="2000" dirty="0"/>
              <a:t>c, .....</a:t>
            </a:r>
            <a:r>
              <a:rPr lang="zh-TW" altLang="zh-TW" sz="2000" dirty="0"/>
              <a:t>最後變很長很難維護</a:t>
            </a:r>
            <a:r>
              <a:rPr lang="en-US" altLang="zh-TW" sz="2000" dirty="0"/>
              <a:t>, </a:t>
            </a:r>
            <a:r>
              <a:rPr lang="zh-TW" altLang="zh-TW" sz="2000" dirty="0"/>
              <a:t>並有很多淺在的問題。此種寫法若</a:t>
            </a:r>
            <a:r>
              <a:rPr lang="en-US" altLang="zh-TW" sz="2000" dirty="0" err="1"/>
              <a:t>listContainer</a:t>
            </a:r>
            <a:r>
              <a:rPr lang="zh-TW" altLang="zh-TW" sz="2000" dirty="0"/>
              <a:t>被更改了</a:t>
            </a:r>
            <a:r>
              <a:rPr lang="en-US" altLang="zh-TW" sz="2000" dirty="0"/>
              <a:t>, </a:t>
            </a:r>
            <a:r>
              <a:rPr lang="zh-TW" altLang="zh-TW" sz="2000" dirty="0"/>
              <a:t>那麼</a:t>
            </a:r>
            <a:r>
              <a:rPr lang="en-US" altLang="zh-TW" sz="2000" dirty="0" err="1"/>
              <a:t>Employcensus</a:t>
            </a:r>
            <a:r>
              <a:rPr lang="zh-TW" altLang="zh-TW" sz="2000" dirty="0"/>
              <a:t>將受到嚴重的影響</a:t>
            </a:r>
            <a:r>
              <a:rPr lang="en-US" altLang="zh-TW" sz="2000" dirty="0"/>
              <a:t>, </a:t>
            </a:r>
            <a:r>
              <a:rPr lang="zh-TW" altLang="zh-TW" sz="2000" dirty="0"/>
              <a:t>所以在此使用合成的</a:t>
            </a:r>
            <a:r>
              <a:rPr lang="en-US" altLang="zh-TW" sz="2000" dirty="0"/>
              <a:t>has-a</a:t>
            </a:r>
            <a:r>
              <a:rPr lang="zh-TW" altLang="zh-TW" sz="2000" dirty="0"/>
              <a:t>關係會較恰當。像是我們先寫了一個冷氣的類別</a:t>
            </a:r>
            <a:r>
              <a:rPr lang="en-US" altLang="zh-TW" sz="2000" dirty="0"/>
              <a:t>, </a:t>
            </a:r>
            <a:r>
              <a:rPr lang="zh-TW" altLang="zh-TW" sz="2000" dirty="0"/>
              <a:t>接下來要做一個汽車的類別</a:t>
            </a:r>
            <a:r>
              <a:rPr lang="en-US" altLang="zh-TW" sz="2000" dirty="0"/>
              <a:t>, </a:t>
            </a:r>
            <a:r>
              <a:rPr lang="zh-TW" altLang="zh-TW" sz="2000" dirty="0"/>
              <a:t>我們不會因為汽車有冷氣</a:t>
            </a:r>
            <a:r>
              <a:rPr lang="en-US" altLang="zh-TW" sz="2000" dirty="0"/>
              <a:t>, </a:t>
            </a:r>
            <a:r>
              <a:rPr lang="zh-TW" altLang="zh-TW" sz="2000" dirty="0"/>
              <a:t>所以就繼承冷氣</a:t>
            </a:r>
            <a:r>
              <a:rPr lang="en-US" altLang="zh-TW" sz="2000" dirty="0"/>
              <a:t>, </a:t>
            </a:r>
            <a:r>
              <a:rPr lang="zh-TW" altLang="zh-TW" sz="2000" dirty="0"/>
              <a:t>而是使用合成較正確。</a:t>
            </a:r>
          </a:p>
          <a:p>
            <a:r>
              <a:rPr lang="en-US" altLang="zh-TW" sz="2000" dirty="0"/>
              <a:t>  </a:t>
            </a:r>
            <a:r>
              <a:rPr lang="en-US" altLang="zh-TW" sz="2000" dirty="0" err="1" smtClean="0"/>
              <a:t>EmployeeCensus</a:t>
            </a:r>
            <a:r>
              <a:rPr lang="zh-TW" altLang="zh-TW" sz="2000" dirty="0"/>
              <a:t>不應繼承</a:t>
            </a:r>
            <a:r>
              <a:rPr lang="en-US" altLang="zh-TW" sz="2000" dirty="0" err="1"/>
              <a:t>ListContainer</a:t>
            </a:r>
            <a:r>
              <a:rPr lang="zh-TW" altLang="zh-TW" sz="2000" dirty="0"/>
              <a:t>，因為</a:t>
            </a:r>
            <a:r>
              <a:rPr lang="en-US" altLang="zh-TW" sz="2000" dirty="0" err="1"/>
              <a:t>EmployeeCensus</a:t>
            </a:r>
            <a:r>
              <a:rPr lang="zh-TW" altLang="zh-TW" sz="2000" dirty="0"/>
              <a:t>不屬於</a:t>
            </a:r>
            <a:r>
              <a:rPr lang="en-US" altLang="zh-TW" sz="2000" dirty="0" err="1"/>
              <a:t>ListContainer</a:t>
            </a:r>
            <a:r>
              <a:rPr lang="zh-TW" altLang="zh-TW" sz="2000" dirty="0"/>
              <a:t>，不符合繼承的基本原則；這種寫法在程式執行上不會有問題，但是在程式碼的邏輯上則有很大的缺陷，會使其他人混淆</a:t>
            </a:r>
          </a:p>
          <a:p>
            <a:r>
              <a:rPr lang="en-US" altLang="zh-TW" sz="2000" dirty="0"/>
              <a:t> </a:t>
            </a:r>
            <a:r>
              <a:rPr lang="en-US" altLang="zh-TW" sz="2000" dirty="0" smtClean="0"/>
              <a:t>Employee</a:t>
            </a:r>
            <a:r>
              <a:rPr lang="zh-TW" altLang="zh-TW" sz="2000" dirty="0"/>
              <a:t>並不是</a:t>
            </a:r>
            <a:r>
              <a:rPr lang="en-US" altLang="zh-TW" sz="2000" dirty="0" err="1"/>
              <a:t>Listcontainer</a:t>
            </a:r>
            <a:r>
              <a:rPr lang="zh-TW" altLang="zh-TW" sz="2000" dirty="0"/>
              <a:t>所延伸出來的東西</a:t>
            </a:r>
            <a:r>
              <a:rPr lang="en-US" altLang="zh-TW" sz="2000" dirty="0"/>
              <a:t/>
            </a:r>
            <a:br>
              <a:rPr lang="en-US" altLang="zh-TW" sz="2000" dirty="0"/>
            </a:br>
            <a:r>
              <a:rPr lang="zh-TW" altLang="zh-TW" sz="2000" dirty="0"/>
              <a:t>所以不應該這樣使用</a:t>
            </a:r>
          </a:p>
          <a:p>
            <a:r>
              <a:rPr lang="en-US" altLang="zh-TW" sz="2000" dirty="0"/>
              <a:t> </a:t>
            </a:r>
            <a:r>
              <a:rPr lang="zh-TW" altLang="zh-TW" sz="2000" dirty="0" smtClean="0"/>
              <a:t>因為</a:t>
            </a:r>
            <a:r>
              <a:rPr lang="zh-TW" altLang="zh-TW" sz="2000" dirty="0"/>
              <a:t>我們之所以要用</a:t>
            </a:r>
            <a:r>
              <a:rPr lang="en-US" altLang="zh-TW" sz="2000" dirty="0"/>
              <a:t>OO</a:t>
            </a:r>
            <a:r>
              <a:rPr lang="zh-TW" altLang="zh-TW" sz="2000" dirty="0"/>
              <a:t>就是為了解決維護的問題，也就是日後會比較容易看得懂</a:t>
            </a:r>
            <a:r>
              <a:rPr lang="en-US" altLang="zh-TW" sz="2000" dirty="0"/>
              <a:t/>
            </a:r>
            <a:br>
              <a:rPr lang="en-US" altLang="zh-TW" sz="2000" dirty="0"/>
            </a:br>
            <a:r>
              <a:rPr lang="zh-TW" altLang="zh-TW" sz="2000" dirty="0"/>
              <a:t>把一個很複雜的問題，抽象化成好幾個小</a:t>
            </a:r>
            <a:r>
              <a:rPr lang="en-US" altLang="zh-TW" sz="2000" dirty="0"/>
              <a:t>class</a:t>
            </a:r>
            <a:r>
              <a:rPr lang="zh-TW" altLang="zh-TW" sz="2000" dirty="0"/>
              <a:t>，有點類似系統化的感覺</a:t>
            </a:r>
            <a:r>
              <a:rPr lang="en-US" altLang="zh-TW" sz="2000" dirty="0"/>
              <a:t/>
            </a:r>
            <a:br>
              <a:rPr lang="en-US" altLang="zh-TW" sz="2000" dirty="0"/>
            </a:br>
            <a:r>
              <a:rPr lang="zh-TW" altLang="zh-TW" sz="2000" dirty="0"/>
              <a:t>這樣的濫用卻會反而造成不易閱讀的混亂，這樣就違背了我們當初之所以要使用</a:t>
            </a:r>
            <a:r>
              <a:rPr lang="en-US" altLang="zh-TW" sz="2000" dirty="0"/>
              <a:t>OO</a:t>
            </a:r>
            <a:r>
              <a:rPr lang="zh-TW" altLang="zh-TW" sz="2000" dirty="0"/>
              <a:t>的初衷，如果只是單單要使用它，那大可用別的方式，</a:t>
            </a:r>
            <a:r>
              <a:rPr lang="en-US" altLang="zh-TW" sz="2000" dirty="0"/>
              <a:t>method, global function</a:t>
            </a:r>
            <a:r>
              <a:rPr lang="zh-TW" altLang="zh-TW" sz="2000" dirty="0"/>
              <a:t>之類的</a:t>
            </a:r>
          </a:p>
          <a:p>
            <a:r>
              <a:rPr lang="en-US" altLang="zh-TW" sz="2000" dirty="0"/>
              <a:t> </a:t>
            </a:r>
            <a:endParaRPr lang="zh-TW" altLang="en-US" sz="600" dirty="0"/>
          </a:p>
        </p:txBody>
      </p:sp>
    </p:spTree>
    <p:extLst>
      <p:ext uri="{BB962C8B-B14F-4D97-AF65-F5344CB8AC3E}">
        <p14:creationId xmlns:p14="http://schemas.microsoft.com/office/powerpoint/2010/main" val="33580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Answer of class 2019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>
            <a:noAutofit/>
          </a:bodyPr>
          <a:lstStyle/>
          <a:p>
            <a:r>
              <a:rPr lang="zh-TW" altLang="en-US" sz="1600" dirty="0"/>
              <a:t>這樣繼承</a:t>
            </a:r>
            <a:r>
              <a:rPr lang="en-US" altLang="zh-TW" sz="1600" dirty="0" err="1"/>
              <a:t>listcontainer</a:t>
            </a:r>
            <a:r>
              <a:rPr lang="en-US" altLang="zh-TW" sz="1600" dirty="0"/>
              <a:t/>
            </a:r>
            <a:br>
              <a:rPr lang="en-US" altLang="zh-TW" sz="1600" dirty="0"/>
            </a:br>
            <a:r>
              <a:rPr lang="en-US" altLang="zh-TW" sz="1600" dirty="0"/>
              <a:t>employee</a:t>
            </a:r>
            <a:r>
              <a:rPr lang="zh-TW" altLang="en-US" sz="1600" dirty="0"/>
              <a:t>並沒有使用到</a:t>
            </a:r>
            <a:r>
              <a:rPr lang="en-US" altLang="zh-TW" sz="1600" dirty="0" err="1"/>
              <a:t>listcontainer</a:t>
            </a:r>
            <a:r>
              <a:rPr lang="zh-TW" altLang="en-US" sz="1600" dirty="0"/>
              <a:t>原本的函數</a:t>
            </a:r>
            <a:br>
              <a:rPr lang="zh-TW" altLang="en-US" sz="1600" dirty="0"/>
            </a:br>
            <a:r>
              <a:rPr lang="zh-TW" altLang="en-US" sz="1600" dirty="0"/>
              <a:t>應該宣告一個</a:t>
            </a:r>
            <a:r>
              <a:rPr lang="en-US" altLang="zh-TW" sz="1600" dirty="0" err="1"/>
              <a:t>listcontainer</a:t>
            </a:r>
            <a:r>
              <a:rPr lang="zh-TW" altLang="en-US" sz="1600" dirty="0"/>
              <a:t>來存</a:t>
            </a:r>
            <a:r>
              <a:rPr lang="en-US" altLang="zh-TW" sz="1600" dirty="0"/>
              <a:t>employee</a:t>
            </a:r>
            <a:r>
              <a:rPr lang="zh-TW" altLang="en-US" sz="1600" dirty="0"/>
              <a:t>即可</a:t>
            </a:r>
          </a:p>
          <a:p>
            <a:r>
              <a:rPr lang="zh-TW" altLang="en-US" sz="1600" dirty="0"/>
              <a:t> 例子中的</a:t>
            </a:r>
            <a:r>
              <a:rPr lang="en-US" altLang="zh-TW" sz="1600" dirty="0"/>
              <a:t>Employee</a:t>
            </a:r>
            <a:r>
              <a:rPr lang="zh-TW" altLang="en-US" sz="1600" dirty="0"/>
              <a:t>並不是</a:t>
            </a:r>
            <a:r>
              <a:rPr lang="en-US" altLang="zh-TW" sz="1600" dirty="0" err="1"/>
              <a:t>ListContainer</a:t>
            </a:r>
            <a:r>
              <a:rPr lang="zh-TW" altLang="en-US" sz="1600" dirty="0"/>
              <a:t>的一種，所以想要使用</a:t>
            </a:r>
            <a:r>
              <a:rPr lang="en-US" altLang="zh-TW" sz="1600" dirty="0" err="1"/>
              <a:t>ListContianer</a:t>
            </a:r>
            <a:r>
              <a:rPr lang="zh-TW" altLang="en-US" sz="1600" dirty="0"/>
              <a:t>中的</a:t>
            </a:r>
            <a:r>
              <a:rPr lang="en-US" altLang="zh-TW" sz="1600" dirty="0"/>
              <a:t>method</a:t>
            </a:r>
            <a:r>
              <a:rPr lang="zh-TW" altLang="en-US" sz="1600" dirty="0"/>
              <a:t>，必須自己</a:t>
            </a:r>
            <a:r>
              <a:rPr lang="en-US" altLang="zh-TW" sz="1600" dirty="0"/>
              <a:t>create</a:t>
            </a:r>
            <a:r>
              <a:rPr lang="zh-TW" altLang="en-US" sz="1600" dirty="0"/>
              <a:t>一個</a:t>
            </a:r>
            <a:r>
              <a:rPr lang="en-US" altLang="zh-TW" sz="1600" dirty="0" err="1"/>
              <a:t>ListContainer</a:t>
            </a:r>
            <a:r>
              <a:rPr lang="zh-TW" altLang="en-US" sz="1600" dirty="0"/>
              <a:t>的</a:t>
            </a:r>
            <a:r>
              <a:rPr lang="en-US" altLang="zh-TW" sz="1600" dirty="0"/>
              <a:t>object</a:t>
            </a:r>
            <a:r>
              <a:rPr lang="zh-TW" altLang="en-US" sz="1600" dirty="0"/>
              <a:t>去使用那些</a:t>
            </a:r>
            <a:r>
              <a:rPr lang="en-US" altLang="zh-TW" sz="1600" dirty="0"/>
              <a:t>method</a:t>
            </a:r>
          </a:p>
          <a:p>
            <a:r>
              <a:rPr lang="en-US" altLang="zh-TW" sz="1600" dirty="0"/>
              <a:t> employee</a:t>
            </a:r>
            <a:r>
              <a:rPr lang="zh-TW" altLang="en-US" sz="1600" dirty="0"/>
              <a:t>繼承 </a:t>
            </a:r>
            <a:r>
              <a:rPr lang="en-US" altLang="zh-TW" sz="1600" dirty="0" err="1"/>
              <a:t>listcontainer</a:t>
            </a:r>
            <a:r>
              <a:rPr lang="en-US" altLang="zh-TW" sz="1600" dirty="0"/>
              <a:t> </a:t>
            </a:r>
            <a:r>
              <a:rPr lang="zh-TW" altLang="en-US" sz="1600" dirty="0"/>
              <a:t>但是沒有用到 </a:t>
            </a:r>
            <a:r>
              <a:rPr lang="en-US" altLang="zh-TW" sz="1600" dirty="0" err="1"/>
              <a:t>listcontainer</a:t>
            </a:r>
            <a:r>
              <a:rPr lang="en-US" altLang="zh-TW" sz="1600" dirty="0"/>
              <a:t> </a:t>
            </a:r>
            <a:r>
              <a:rPr lang="zh-TW" altLang="en-US" sz="1600" dirty="0"/>
              <a:t>的函數 卻還需要自己定義類似功能的</a:t>
            </a:r>
            <a:r>
              <a:rPr lang="en-US" altLang="zh-TW" sz="1600" dirty="0"/>
              <a:t>function </a:t>
            </a:r>
            <a:r>
              <a:rPr lang="zh-TW" altLang="en-US" sz="1600" dirty="0"/>
              <a:t>容易造成混淆</a:t>
            </a:r>
            <a:br>
              <a:rPr lang="zh-TW" altLang="en-US" sz="1600" dirty="0"/>
            </a:br>
            <a:r>
              <a:rPr lang="zh-TW" altLang="en-US" sz="1600" dirty="0"/>
              <a:t>而且會產生很多沒有用到的程式碼</a:t>
            </a:r>
            <a:r>
              <a:rPr lang="en-US" altLang="zh-TW" sz="1600" dirty="0"/>
              <a:t>, </a:t>
            </a:r>
            <a:r>
              <a:rPr lang="zh-TW" altLang="en-US" sz="1600" dirty="0"/>
              <a:t>在加上如果之後有其他類別繼承</a:t>
            </a:r>
            <a:r>
              <a:rPr lang="en-US" altLang="zh-TW" sz="1600" dirty="0"/>
              <a:t>employee </a:t>
            </a:r>
            <a:r>
              <a:rPr lang="zh-TW" altLang="en-US" sz="1600" dirty="0"/>
              <a:t>會使效能變得很差</a:t>
            </a:r>
          </a:p>
          <a:p>
            <a:r>
              <a:rPr lang="zh-TW" altLang="en-US" sz="1600" dirty="0"/>
              <a:t> 直接將</a:t>
            </a:r>
            <a:r>
              <a:rPr lang="en-US" altLang="zh-TW" sz="1600" dirty="0" err="1"/>
              <a:t>ListContainer</a:t>
            </a:r>
            <a:r>
              <a:rPr lang="zh-TW" altLang="en-US" sz="1600" dirty="0"/>
              <a:t>定義成</a:t>
            </a:r>
            <a:r>
              <a:rPr lang="en-US" altLang="zh-TW" sz="1600" dirty="0" err="1"/>
              <a:t>EmployCensus</a:t>
            </a:r>
            <a:r>
              <a:rPr lang="zh-TW" altLang="en-US" sz="1600" dirty="0"/>
              <a:t>的</a:t>
            </a:r>
            <a:r>
              <a:rPr lang="en-US" altLang="zh-TW" sz="1600" dirty="0"/>
              <a:t>member variable</a:t>
            </a:r>
            <a:r>
              <a:rPr lang="zh-TW" altLang="en-US" sz="1600" dirty="0"/>
              <a:t>。</a:t>
            </a:r>
            <a:br>
              <a:rPr lang="zh-TW" altLang="en-US" sz="1600" dirty="0"/>
            </a:br>
            <a:r>
              <a:rPr lang="en-US" altLang="zh-TW" sz="1600" dirty="0"/>
              <a:t>private:</a:t>
            </a:r>
            <a:br>
              <a:rPr lang="en-US" altLang="zh-TW" sz="1600" dirty="0"/>
            </a:br>
            <a:r>
              <a:rPr lang="en-US" altLang="zh-TW" sz="1600" dirty="0" err="1"/>
              <a:t>ListContainer</a:t>
            </a:r>
            <a:r>
              <a:rPr lang="en-US" altLang="zh-TW" sz="1600" dirty="0"/>
              <a:t> </a:t>
            </a:r>
            <a:r>
              <a:rPr lang="en-US" altLang="zh-TW" sz="1600" dirty="0" err="1"/>
              <a:t>lc</a:t>
            </a:r>
            <a:r>
              <a:rPr lang="en-US" altLang="zh-TW" sz="1600" dirty="0"/>
              <a:t>;</a:t>
            </a:r>
          </a:p>
          <a:p>
            <a:r>
              <a:rPr lang="en-US" altLang="zh-TW" sz="1600" dirty="0"/>
              <a:t> </a:t>
            </a:r>
            <a:r>
              <a:rPr lang="zh-TW" altLang="en-US" sz="1600" dirty="0"/>
              <a:t>不需要繼承</a:t>
            </a:r>
            <a:br>
              <a:rPr lang="zh-TW" altLang="en-US" sz="1600" dirty="0"/>
            </a:br>
            <a:r>
              <a:rPr lang="zh-TW" altLang="en-US" sz="1600" dirty="0"/>
              <a:t>只要在</a:t>
            </a:r>
            <a:r>
              <a:rPr lang="en-US" altLang="zh-TW" sz="1600" dirty="0"/>
              <a:t>class</a:t>
            </a:r>
            <a:r>
              <a:rPr lang="zh-TW" altLang="en-US" sz="1600" dirty="0"/>
              <a:t>內建立</a:t>
            </a:r>
            <a:r>
              <a:rPr lang="en-US" altLang="zh-TW" sz="1600" dirty="0"/>
              <a:t>Employee</a:t>
            </a:r>
            <a:r>
              <a:rPr lang="zh-TW" altLang="en-US" sz="1600" dirty="0"/>
              <a:t>的變數</a:t>
            </a:r>
            <a:br>
              <a:rPr lang="zh-TW" altLang="en-US" sz="1600" dirty="0"/>
            </a:br>
            <a:r>
              <a:rPr lang="zh-TW" altLang="en-US" sz="1600" dirty="0"/>
              <a:t>太多的繼承層次會使程式執行效能變慢</a:t>
            </a:r>
          </a:p>
          <a:p>
            <a:r>
              <a:rPr lang="zh-TW" altLang="en-US" sz="1600" dirty="0"/>
              <a:t> 會造成</a:t>
            </a:r>
            <a:r>
              <a:rPr lang="en-US" altLang="zh-TW" sz="1600" dirty="0" err="1"/>
              <a:t>programer</a:t>
            </a:r>
            <a:r>
              <a:rPr lang="zh-TW" altLang="en-US" sz="1600" dirty="0"/>
              <a:t>的混亂，之後要擴充或維護也不容易</a:t>
            </a:r>
          </a:p>
          <a:p>
            <a:r>
              <a:rPr lang="zh-TW" altLang="en-US" sz="1600" dirty="0"/>
              <a:t> 這段程式碼基本上只是做一個介面接上原本的物件，本質上並沒有僅減少多少代碼，反而減少程式碼的可讀性</a:t>
            </a:r>
          </a:p>
          <a:p>
            <a:r>
              <a:rPr lang="zh-TW" altLang="en-US" sz="1600" dirty="0"/>
              <a:t> 這樣會讓以後接手的人無法簡單明白這個</a:t>
            </a:r>
            <a:r>
              <a:rPr lang="en-US" altLang="zh-TW" sz="1600" dirty="0"/>
              <a:t>class</a:t>
            </a:r>
            <a:r>
              <a:rPr lang="zh-TW" altLang="en-US" sz="1600" dirty="0"/>
              <a:t>的作用 後續可能會濫用或誤用</a:t>
            </a:r>
          </a:p>
          <a:p>
            <a:r>
              <a:rPr lang="zh-TW" altLang="en-US" sz="1600" dirty="0"/>
              <a:t> 若是使用繼承的方式使用</a:t>
            </a:r>
            <a:r>
              <a:rPr lang="en-US" altLang="zh-TW" sz="1600" dirty="0"/>
              <a:t>list</a:t>
            </a:r>
            <a:r>
              <a:rPr lang="zh-TW" altLang="en-US" sz="1600" dirty="0"/>
              <a:t>，就會占用比較大的記憶體空間</a:t>
            </a:r>
          </a:p>
          <a:p>
            <a:r>
              <a:rPr lang="zh-TW" altLang="en-US" sz="1600" dirty="0"/>
              <a:t> 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4329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latin typeface="Arial Rounded MT Bold" panose="020F0704030504030204" pitchFamily="34" charset="0"/>
              </a:rPr>
              <a:t>The left is called inheritance, the right is called composition</a:t>
            </a:r>
            <a:endParaRPr lang="zh-TW" altLang="en-US" sz="3200" dirty="0">
              <a:latin typeface="Arial Rounded MT Bold" panose="020F07040305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79" y="2157276"/>
            <a:ext cx="11298097" cy="415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42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Bad 1: you inherit all the method and interfaces of vector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7613469" cy="4351338"/>
          </a:xfrm>
        </p:spPr>
        <p:txBody>
          <a:bodyPr/>
          <a:lstStyle/>
          <a:p>
            <a:r>
              <a:rPr lang="en-US" altLang="zh-TW" dirty="0" smtClean="0"/>
              <a:t>For example, vector has the following methods</a:t>
            </a:r>
          </a:p>
          <a:p>
            <a:r>
              <a:rPr lang="en-US" altLang="zh-TW" dirty="0" smtClean="0"/>
              <a:t>Can I override them?</a:t>
            </a:r>
          </a:p>
          <a:p>
            <a:r>
              <a:rPr lang="en-US" altLang="zh-TW" dirty="0" smtClean="0"/>
              <a:t>What if some stupid subclass overrides front carelessly?</a:t>
            </a:r>
          </a:p>
          <a:p>
            <a:r>
              <a:rPr lang="en-US" altLang="zh-TW" dirty="0" smtClean="0"/>
              <a:t>By the way, I can all ANY of the methods inherited from vector, </a:t>
            </a:r>
            <a:r>
              <a:rPr lang="en-US" altLang="zh-TW" dirty="0" smtClean="0">
                <a:solidFill>
                  <a:srgbClr val="FF0000"/>
                </a:solidFill>
              </a:rPr>
              <a:t>such as clear() to wipe out all the contents of the vector.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A class only carry the methods needed</a:t>
            </a:r>
          </a:p>
          <a:p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304" y="1271588"/>
            <a:ext cx="2200275" cy="49053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023" y="4741818"/>
            <a:ext cx="1593963" cy="176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30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Bad 2, polymorphism freedom can kick your ass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Vector *v = new </a:t>
            </a:r>
            <a:r>
              <a:rPr lang="en-US" altLang="zh-TW" dirty="0" err="1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employeecensus</a:t>
            </a:r>
            <a:r>
              <a:rPr lang="en-US" altLang="zh-TW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();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This is allowed !! And why do you want to do that?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261" y="1825625"/>
            <a:ext cx="38385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8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Remember: when you try to find answer for OOAD problem it is always about </a:t>
            </a:r>
            <a:r>
              <a:rPr lang="en-US" altLang="zh-TW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FUTURE</a:t>
            </a:r>
            <a:endParaRPr lang="zh-TW" altLang="en-US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786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Bad 3: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082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Bad 4: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74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275</Words>
  <Application>Microsoft Office PowerPoint</Application>
  <PresentationFormat>寬螢幕</PresentationFormat>
  <Paragraphs>33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Arial Rounded MT Bold</vt:lpstr>
      <vt:lpstr>Calibri</vt:lpstr>
      <vt:lpstr>Calibri Light</vt:lpstr>
      <vt:lpstr>Cooper Black</vt:lpstr>
      <vt:lpstr>Office 佈景主題</vt:lpstr>
      <vt:lpstr>Why you should not abuse inheritance over composition</vt:lpstr>
      <vt:lpstr>PowerPoint 簡報</vt:lpstr>
      <vt:lpstr>Answer of class 2019</vt:lpstr>
      <vt:lpstr>Answer of class 2019</vt:lpstr>
      <vt:lpstr>The left is called inheritance, the right is called composition</vt:lpstr>
      <vt:lpstr>Bad 1: you inherit all the method and interfaces of vector</vt:lpstr>
      <vt:lpstr>Bad 2, polymorphism freedom can kick your ass</vt:lpstr>
      <vt:lpstr>Remember: when you try to find answer for OOAD problem it is always about FUTURE</vt:lpstr>
      <vt:lpstr>Bad 3: </vt:lpstr>
      <vt:lpstr>Bad 4: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you should not abuse inheritance</dc:title>
  <dc:creator>ypc</dc:creator>
  <cp:lastModifiedBy>ypc</cp:lastModifiedBy>
  <cp:revision>5</cp:revision>
  <dcterms:created xsi:type="dcterms:W3CDTF">2019-03-25T09:55:01Z</dcterms:created>
  <dcterms:modified xsi:type="dcterms:W3CDTF">2019-03-27T13:27:41Z</dcterms:modified>
</cp:coreProperties>
</file>