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256" r:id="rId2"/>
    <p:sldId id="264" r:id="rId3"/>
    <p:sldId id="265" r:id="rId4"/>
    <p:sldId id="266" r:id="rId5"/>
    <p:sldId id="257" r:id="rId6"/>
    <p:sldId id="258" r:id="rId7"/>
    <p:sldId id="259" r:id="rId8"/>
    <p:sldId id="260" r:id="rId9"/>
    <p:sldId id="267" r:id="rId10"/>
    <p:sldId id="268" r:id="rId11"/>
    <p:sldId id="270" r:id="rId12"/>
    <p:sldId id="271" r:id="rId13"/>
    <p:sldId id="272" r:id="rId14"/>
    <p:sldId id="322" r:id="rId15"/>
    <p:sldId id="274" r:id="rId16"/>
    <p:sldId id="275" r:id="rId17"/>
    <p:sldId id="276" r:id="rId18"/>
    <p:sldId id="273" r:id="rId19"/>
    <p:sldId id="263" r:id="rId20"/>
    <p:sldId id="277" r:id="rId21"/>
    <p:sldId id="278" r:id="rId22"/>
    <p:sldId id="279" r:id="rId23"/>
    <p:sldId id="280" r:id="rId24"/>
    <p:sldId id="296" r:id="rId25"/>
    <p:sldId id="281" r:id="rId26"/>
    <p:sldId id="283" r:id="rId27"/>
    <p:sldId id="284" r:id="rId28"/>
    <p:sldId id="286" r:id="rId29"/>
    <p:sldId id="287" r:id="rId30"/>
    <p:sldId id="288" r:id="rId31"/>
    <p:sldId id="289" r:id="rId32"/>
    <p:sldId id="295" r:id="rId33"/>
    <p:sldId id="290" r:id="rId34"/>
    <p:sldId id="291" r:id="rId35"/>
    <p:sldId id="292" r:id="rId36"/>
    <p:sldId id="293" r:id="rId37"/>
    <p:sldId id="294" r:id="rId38"/>
    <p:sldId id="282" r:id="rId39"/>
    <p:sldId id="298" r:id="rId40"/>
    <p:sldId id="297"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7" r:id="rId59"/>
    <p:sldId id="316" r:id="rId60"/>
    <p:sldId id="318" r:id="rId61"/>
    <p:sldId id="319" r:id="rId62"/>
    <p:sldId id="320" r:id="rId63"/>
    <p:sldId id="321" r:id="rId6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778" y="-19"/>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6737CA-9972-4BC2-B504-1D864458C6AA}" type="datetimeFigureOut">
              <a:rPr lang="zh-TW" altLang="en-US" smtClean="0"/>
              <a:t>2012/4/5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1869A7-203C-4F9E-AC68-3C65BD350CBB}" type="slidenum">
              <a:rPr lang="zh-TW" altLang="en-US" smtClean="0"/>
              <a:t>‹#›</a:t>
            </a:fld>
            <a:endParaRPr lang="zh-TW" altLang="en-US"/>
          </a:p>
        </p:txBody>
      </p:sp>
    </p:spTree>
    <p:extLst>
      <p:ext uri="{BB962C8B-B14F-4D97-AF65-F5344CB8AC3E}">
        <p14:creationId xmlns:p14="http://schemas.microsoft.com/office/powerpoint/2010/main" val="2347011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7" name="Picture 6" descr="panels title.png"/>
          <p:cNvPicPr>
            <a:picLocks noChangeAspect="1"/>
          </p:cNvPicPr>
          <p:nvPr/>
        </p:nvPicPr>
        <p:blipFill>
          <a:blip r:embed="rId2" cstate="print"/>
          <a:srcRect t="579" b="965"/>
          <a:stretch>
            <a:fillRect/>
          </a:stretch>
        </p:blipFill>
        <p:spPr>
          <a:xfrm>
            <a:off x="0" y="0"/>
            <a:ext cx="4254612" cy="6858000"/>
          </a:xfrm>
          <a:prstGeom prst="rect">
            <a:avLst/>
          </a:prstGeom>
        </p:spPr>
      </p:pic>
      <p:sp>
        <p:nvSpPr>
          <p:cNvPr id="2" name="Title 1"/>
          <p:cNvSpPr>
            <a:spLocks noGrp="1"/>
          </p:cNvSpPr>
          <p:nvPr>
            <p:ph type="ctrTitle"/>
          </p:nvPr>
        </p:nvSpPr>
        <p:spPr>
          <a:xfrm>
            <a:off x="4572000" y="381000"/>
            <a:ext cx="4191000" cy="3067050"/>
          </a:xfrm>
        </p:spPr>
        <p:txBody>
          <a:bodyPr/>
          <a:lstStyle>
            <a:lvl1pPr>
              <a:defRPr sz="5400"/>
            </a:lvl1pPr>
          </a:lstStyle>
          <a:p>
            <a:r>
              <a:rPr lang="zh-TW" altLang="en-US" smtClean="0"/>
              <a:t>按一下以編輯母片標題樣式</a:t>
            </a:r>
            <a:endParaRPr/>
          </a:p>
        </p:txBody>
      </p:sp>
      <p:sp>
        <p:nvSpPr>
          <p:cNvPr id="3" name="Subtitle 2"/>
          <p:cNvSpPr>
            <a:spLocks noGrp="1"/>
          </p:cNvSpPr>
          <p:nvPr>
            <p:ph type="subTitle" idx="1"/>
          </p:nvPr>
        </p:nvSpPr>
        <p:spPr>
          <a:xfrm>
            <a:off x="4572000" y="3810000"/>
            <a:ext cx="4191000" cy="1143000"/>
          </a:xfrm>
        </p:spPr>
        <p:txBody>
          <a:bodyPr>
            <a:normAutofit/>
          </a:bodyPr>
          <a:lstStyle>
            <a:lvl1pPr marL="0" indent="0" algn="l">
              <a:buNone/>
              <a:defRPr sz="18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a:p>
        </p:txBody>
      </p:sp>
      <p:sp>
        <p:nvSpPr>
          <p:cNvPr id="4" name="Date Placeholder 3"/>
          <p:cNvSpPr>
            <a:spLocks noGrp="1"/>
          </p:cNvSpPr>
          <p:nvPr>
            <p:ph type="dt" sz="half" idx="10"/>
          </p:nvPr>
        </p:nvSpPr>
        <p:spPr/>
        <p:txBody>
          <a:bodyPr/>
          <a:lstStyle/>
          <a:p>
            <a:fld id="{CA1E54AC-D57E-47AF-A89D-59529BD2B841}" type="datetime1">
              <a:rPr lang="zh-TW" altLang="en-US" smtClean="0"/>
              <a:t>2012/4/5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8" name="Rectangle 7"/>
          <p:cNvSpPr/>
          <p:nvPr/>
        </p:nvSpPr>
        <p:spPr>
          <a:xfrm>
            <a:off x="4572000" y="3505200"/>
            <a:ext cx="4191000" cy="45719"/>
          </a:xfrm>
          <a:prstGeom prst="rect">
            <a:avLst/>
          </a:prstGeom>
          <a:gradFill flip="none" rotWithShape="1">
            <a:gsLst>
              <a:gs pos="0">
                <a:srgbClr val="FFFFFF">
                  <a:alpha val="0"/>
                </a:srgbClr>
              </a:gs>
              <a:gs pos="50000">
                <a:srgbClr val="FFFFFF">
                  <a:alpha val="10000"/>
                </a:srgbClr>
              </a:gs>
              <a:gs pos="100000">
                <a:srgbClr val="FFFFFF">
                  <a:alpha val="0"/>
                </a:srgbClr>
              </a:gs>
            </a:gsLst>
            <a:lin ang="0" scaled="1"/>
            <a:tileRect/>
          </a:gradFill>
          <a:ln>
            <a:noFill/>
          </a:ln>
          <a:effectLst>
            <a:innerShdw blurRad="114300">
              <a:srgbClr val="FFFFFF"/>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10"/>
          </p:nvPr>
        </p:nvSpPr>
        <p:spPr/>
        <p:txBody>
          <a:bodyPr/>
          <a:lstStyle/>
          <a:p>
            <a:fld id="{CBF65AEB-5290-4DA1-9A10-293F7425A806}" type="datetime1">
              <a:rPr lang="zh-TW" altLang="en-US" smtClean="0"/>
              <a:t>2012/4/5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vert="horz" lIns="91440" tIns="45720" rIns="91440" bIns="45720" rtlCol="0" anchor="ctr"/>
          <a:lstStyle>
            <a:lvl1pPr marL="0" algn="ctr" defTabSz="914400" rtl="0" eaLnBrk="1" latinLnBrk="0" hangingPunct="1">
              <a:defRPr sz="7200" b="1" kern="1200" spc="-200" baseline="0">
                <a:gradFill flip="none" rotWithShape="1">
                  <a:gsLst>
                    <a:gs pos="0">
                      <a:schemeClr val="tx1">
                        <a:alpha val="0"/>
                      </a:schemeClr>
                    </a:gs>
                    <a:gs pos="100000">
                      <a:schemeClr val="tx1">
                        <a:alpha val="50000"/>
                      </a:schemeClr>
                    </a:gs>
                  </a:gsLst>
                  <a:lin ang="10800000" scaled="1"/>
                  <a:tileRect/>
                </a:gradFill>
                <a:latin typeface="+mn-lt"/>
                <a:ea typeface="+mn-ea"/>
                <a:cs typeface="+mn-cs"/>
              </a:defRPr>
            </a:lvl1p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pic>
        <p:nvPicPr>
          <p:cNvPr id="7" name="Picture 6" descr="content 2.png"/>
          <p:cNvPicPr>
            <a:picLocks noChangeAspect="1"/>
          </p:cNvPicPr>
          <p:nvPr/>
        </p:nvPicPr>
        <p:blipFill>
          <a:blip r:embed="rId2" cstate="print"/>
          <a:srcRect l="70112" r="4801" b="2931"/>
          <a:stretch>
            <a:fillRect/>
          </a:stretch>
        </p:blipFill>
        <p:spPr>
          <a:xfrm flipH="1">
            <a:off x="-1" y="0"/>
            <a:ext cx="2409571" cy="6858000"/>
          </a:xfrm>
          <a:prstGeom prst="rect">
            <a:avLst/>
          </a:prstGeom>
        </p:spPr>
      </p:pic>
      <p:sp>
        <p:nvSpPr>
          <p:cNvPr id="2" name="Title 1"/>
          <p:cNvSpPr>
            <a:spLocks noGrp="1"/>
          </p:cNvSpPr>
          <p:nvPr>
            <p:ph type="title"/>
          </p:nvPr>
        </p:nvSpPr>
        <p:spPr>
          <a:xfrm>
            <a:off x="2590800" y="2308972"/>
            <a:ext cx="5943600" cy="2352675"/>
          </a:xfrm>
        </p:spPr>
        <p:txBody>
          <a:bodyPr vert="horz" lIns="91440" tIns="45720" rIns="91440" bIns="45720" rtlCol="0" anchor="ctr" anchorCtr="0">
            <a:noAutofit/>
          </a:bodyPr>
          <a:lstStyle>
            <a:lvl1pPr algn="l" defTabSz="914400" rtl="0" eaLnBrk="1" latinLnBrk="0" hangingPunct="1">
              <a:spcBef>
                <a:spcPct val="0"/>
              </a:spcBef>
              <a:buNone/>
              <a:defRPr sz="4400" kern="1200">
                <a:gradFill>
                  <a:gsLst>
                    <a:gs pos="0">
                      <a:schemeClr val="tx1"/>
                    </a:gs>
                    <a:gs pos="99000">
                      <a:schemeClr val="tx1">
                        <a:alpha val="85000"/>
                      </a:schemeClr>
                    </a:gs>
                    <a:gs pos="86000">
                      <a:schemeClr val="tx1">
                        <a:alpha val="70000"/>
                      </a:schemeClr>
                    </a:gs>
                  </a:gsLst>
                  <a:lin ang="5400000" scaled="0"/>
                </a:gradFill>
                <a:latin typeface="+mj-lt"/>
                <a:ea typeface="+mj-ea"/>
                <a:cs typeface="+mj-cs"/>
              </a:defRPr>
            </a:lvl1pPr>
          </a:lstStyle>
          <a:p>
            <a:r>
              <a:rPr lang="zh-TW" altLang="en-US" smtClean="0"/>
              <a:t>按一下以編輯母片標題樣式</a:t>
            </a:r>
            <a:endParaRPr/>
          </a:p>
        </p:txBody>
      </p:sp>
      <p:sp>
        <p:nvSpPr>
          <p:cNvPr id="3" name="Text Placeholder 2"/>
          <p:cNvSpPr>
            <a:spLocks noGrp="1"/>
          </p:cNvSpPr>
          <p:nvPr>
            <p:ph type="body" idx="1"/>
          </p:nvPr>
        </p:nvSpPr>
        <p:spPr>
          <a:xfrm>
            <a:off x="2590800" y="4684059"/>
            <a:ext cx="5943600" cy="1107141"/>
          </a:xfrm>
        </p:spPr>
        <p:txBody>
          <a:bodyPr vert="horz" lIns="91440" tIns="45720" rIns="91440" bIns="45720" rtlCol="0">
            <a:normAutofit/>
          </a:bodyPr>
          <a:lstStyle>
            <a:lvl1pPr marL="0" indent="0" algn="l" defTabSz="914400" rtl="0" eaLnBrk="1" latinLnBrk="0" hangingPunct="1">
              <a:spcBef>
                <a:spcPts val="1800"/>
              </a:spcBef>
              <a:buFont typeface="Wingdings" pitchFamily="2" charset="2"/>
              <a:buNone/>
              <a:defRPr sz="18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2AD92606-082D-4EFB-AEE9-57D7EF05AF37}" type="datetime1">
              <a:rPr lang="zh-TW" altLang="en-US" smtClean="0"/>
              <a:t>2012/4/5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a:xfrm>
            <a:off x="2514600" y="350838"/>
            <a:ext cx="6172200" cy="1143000"/>
          </a:xfrm>
        </p:spPr>
        <p:txBody>
          <a:bodyPr/>
          <a:lstStyle/>
          <a:p>
            <a:r>
              <a:rPr lang="zh-TW" altLang="en-US" smtClean="0"/>
              <a:t>按一下以編輯母片標題樣式</a:t>
            </a:r>
            <a:endParaRPr/>
          </a:p>
        </p:txBody>
      </p:sp>
      <p:sp>
        <p:nvSpPr>
          <p:cNvPr id="3" name="Content Placeholder 2"/>
          <p:cNvSpPr>
            <a:spLocks noGrp="1"/>
          </p:cNvSpPr>
          <p:nvPr>
            <p:ph sz="half" idx="1"/>
          </p:nvPr>
        </p:nvSpPr>
        <p:spPr>
          <a:xfrm>
            <a:off x="2819400" y="1981201"/>
            <a:ext cx="2743200" cy="4129088"/>
          </a:xfrm>
        </p:spPr>
        <p:txBody>
          <a:bodyPr>
            <a:normAutofit/>
          </a:bodyPr>
          <a:lstStyle>
            <a:lvl1pPr marL="228600" indent="-228600">
              <a:defRPr sz="1600"/>
            </a:lvl1pPr>
            <a:lvl2pPr marL="457200" indent="-228600">
              <a:defRPr sz="1600"/>
            </a:lvl2pPr>
            <a:lvl3pPr marL="685800" indent="-228600">
              <a:defRPr sz="1600"/>
            </a:lvl3pPr>
            <a:lvl4pPr marL="914400" indent="-228600">
              <a:defRPr sz="1600"/>
            </a:lvl4pPr>
            <a:lvl5pPr marL="1143000" indent="-228600">
              <a:defRPr sz="16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Content Placeholder 3"/>
          <p:cNvSpPr>
            <a:spLocks noGrp="1"/>
          </p:cNvSpPr>
          <p:nvPr>
            <p:ph sz="half" idx="2"/>
          </p:nvPr>
        </p:nvSpPr>
        <p:spPr>
          <a:xfrm>
            <a:off x="5943600" y="1981201"/>
            <a:ext cx="2743200" cy="4129088"/>
          </a:xfrm>
        </p:spPr>
        <p:txBody>
          <a:bodyPr>
            <a:normAutofit/>
          </a:bodyPr>
          <a:lstStyle>
            <a:lvl1pPr marL="228600" indent="-228600">
              <a:defRPr sz="1600"/>
            </a:lvl1pPr>
            <a:lvl2pPr marL="457200" indent="-228600">
              <a:defRPr sz="1600"/>
            </a:lvl2pPr>
            <a:lvl3pPr marL="685800" indent="-228600">
              <a:defRPr sz="1600"/>
            </a:lvl3pPr>
            <a:lvl4pPr marL="914400" indent="-228600">
              <a:defRPr sz="1600"/>
            </a:lvl4pPr>
            <a:lvl5pPr marL="1143000" indent="-228600">
              <a:defRPr sz="16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5" name="Date Placeholder 4"/>
          <p:cNvSpPr>
            <a:spLocks noGrp="1"/>
          </p:cNvSpPr>
          <p:nvPr>
            <p:ph type="dt" sz="half" idx="10"/>
          </p:nvPr>
        </p:nvSpPr>
        <p:spPr/>
        <p:txBody>
          <a:bodyPr/>
          <a:lstStyle/>
          <a:p>
            <a:fld id="{E7AC024C-FF45-458A-BA27-6278380742B3}" type="datetime1">
              <a:rPr lang="zh-TW" altLang="en-US" smtClean="0"/>
              <a:t>2012/4/5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2514600" y="350838"/>
            <a:ext cx="6172200" cy="1143000"/>
          </a:xfrm>
        </p:spPr>
        <p:txBody>
          <a:bodyPr/>
          <a:lstStyle>
            <a:lvl1pPr>
              <a:defRPr/>
            </a:lvl1pPr>
          </a:lstStyle>
          <a:p>
            <a:r>
              <a:rPr lang="zh-TW" altLang="en-US" smtClean="0"/>
              <a:t>按一下以編輯母片標題樣式</a:t>
            </a:r>
            <a:endParaRPr/>
          </a:p>
        </p:txBody>
      </p:sp>
      <p:sp>
        <p:nvSpPr>
          <p:cNvPr id="3" name="Text Placeholder 2"/>
          <p:cNvSpPr>
            <a:spLocks noGrp="1"/>
          </p:cNvSpPr>
          <p:nvPr>
            <p:ph type="body" idx="1"/>
          </p:nvPr>
        </p:nvSpPr>
        <p:spPr>
          <a:xfrm>
            <a:off x="2819400" y="1661318"/>
            <a:ext cx="2743200" cy="777081"/>
          </a:xfrm>
        </p:spPr>
        <p:txBody>
          <a:bodyPr anchor="ctr" anchorCtr="0"/>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2819400" y="2590800"/>
            <a:ext cx="2743200" cy="3494088"/>
          </a:xfrm>
        </p:spPr>
        <p:txBody>
          <a:bodyPr>
            <a:normAutofit/>
          </a:bodyPr>
          <a:lstStyle>
            <a:lvl1pPr marL="228600" indent="-228600">
              <a:defRPr sz="1600"/>
            </a:lvl1pPr>
            <a:lvl2pPr marL="457200" indent="-228600">
              <a:defRPr sz="1600"/>
            </a:lvl2pPr>
            <a:lvl3pPr marL="685800" indent="-228600">
              <a:defRPr sz="1600"/>
            </a:lvl3pPr>
            <a:lvl4pPr marL="914400" indent="-228600">
              <a:defRPr sz="1600"/>
            </a:lvl4pPr>
            <a:lvl5pPr marL="1143000" indent="-228600">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5" name="Text Placeholder 4"/>
          <p:cNvSpPr>
            <a:spLocks noGrp="1"/>
          </p:cNvSpPr>
          <p:nvPr>
            <p:ph type="body" sz="quarter" idx="3"/>
          </p:nvPr>
        </p:nvSpPr>
        <p:spPr>
          <a:xfrm>
            <a:off x="5943600" y="1661318"/>
            <a:ext cx="2743200" cy="777081"/>
          </a:xfrm>
        </p:spPr>
        <p:txBody>
          <a:bodyPr anchor="ctr" anchorCtr="0"/>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5943600" y="2590800"/>
            <a:ext cx="2743200" cy="3494088"/>
          </a:xfrm>
        </p:spPr>
        <p:txBody>
          <a:bodyPr>
            <a:normAutofit/>
          </a:bodyPr>
          <a:lstStyle>
            <a:lvl1pPr marL="228600" indent="-228600">
              <a:defRPr sz="1600"/>
            </a:lvl1pPr>
            <a:lvl2pPr marL="457200" indent="-228600">
              <a:defRPr sz="1600"/>
            </a:lvl2pPr>
            <a:lvl3pPr marL="685800" indent="-228600">
              <a:defRPr sz="1600"/>
            </a:lvl3pPr>
            <a:lvl4pPr marL="914400" indent="-228600">
              <a:defRPr sz="1600"/>
            </a:lvl4pPr>
            <a:lvl5pPr marL="1143000" indent="-228600">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7" name="Date Placeholder 6"/>
          <p:cNvSpPr>
            <a:spLocks noGrp="1"/>
          </p:cNvSpPr>
          <p:nvPr>
            <p:ph type="dt" sz="half" idx="10"/>
          </p:nvPr>
        </p:nvSpPr>
        <p:spPr/>
        <p:txBody>
          <a:bodyPr/>
          <a:lstStyle/>
          <a:p>
            <a:fld id="{9E84AA2D-B5B5-499C-9B36-40D3C958BACE}" type="datetime1">
              <a:rPr lang="zh-TW" altLang="en-US" smtClean="0"/>
              <a:t>2012/4/5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10" name="Rectangle 9"/>
          <p:cNvSpPr/>
          <p:nvPr/>
        </p:nvSpPr>
        <p:spPr>
          <a:xfrm>
            <a:off x="2819400" y="2468881"/>
            <a:ext cx="2743200" cy="45719"/>
          </a:xfrm>
          <a:prstGeom prst="rect">
            <a:avLst/>
          </a:prstGeom>
          <a:gradFill flip="none" rotWithShape="1">
            <a:gsLst>
              <a:gs pos="0">
                <a:srgbClr val="FFFFFF">
                  <a:alpha val="0"/>
                </a:srgbClr>
              </a:gs>
              <a:gs pos="50000">
                <a:srgbClr val="FFFFFF">
                  <a:alpha val="10000"/>
                </a:srgbClr>
              </a:gs>
              <a:gs pos="100000">
                <a:srgbClr val="FFFFFF">
                  <a:alpha val="0"/>
                </a:srgbClr>
              </a:gs>
            </a:gsLst>
            <a:lin ang="0" scaled="1"/>
            <a:tileRect/>
          </a:gradFill>
          <a:ln>
            <a:noFill/>
          </a:ln>
          <a:effectLst>
            <a:innerShdw blurRad="114300">
              <a:srgbClr val="FFFFFF"/>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5943600" y="2468881"/>
            <a:ext cx="2743200" cy="45719"/>
          </a:xfrm>
          <a:prstGeom prst="rect">
            <a:avLst/>
          </a:prstGeom>
          <a:gradFill flip="none" rotWithShape="1">
            <a:gsLst>
              <a:gs pos="0">
                <a:srgbClr val="FFFFFF">
                  <a:alpha val="0"/>
                </a:srgbClr>
              </a:gs>
              <a:gs pos="50000">
                <a:srgbClr val="FFFFFF">
                  <a:alpha val="10000"/>
                </a:srgbClr>
              </a:gs>
              <a:gs pos="100000">
                <a:srgbClr val="FFFFFF">
                  <a:alpha val="0"/>
                </a:srgbClr>
              </a:gs>
            </a:gsLst>
            <a:lin ang="0" scaled="1"/>
            <a:tileRect/>
          </a:gradFill>
          <a:ln>
            <a:noFill/>
          </a:ln>
          <a:effectLst>
            <a:innerShdw blurRad="114300">
              <a:srgbClr val="FFFFFF"/>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a:p>
        </p:txBody>
      </p:sp>
      <p:sp>
        <p:nvSpPr>
          <p:cNvPr id="3" name="Date Placeholder 2"/>
          <p:cNvSpPr>
            <a:spLocks noGrp="1"/>
          </p:cNvSpPr>
          <p:nvPr>
            <p:ph type="dt" sz="half" idx="10"/>
          </p:nvPr>
        </p:nvSpPr>
        <p:spPr/>
        <p:txBody>
          <a:bodyPr/>
          <a:lstStyle/>
          <a:p>
            <a:fld id="{8DD1E5A1-B0FB-4AD1-A2AE-87644099FB1A}" type="datetime1">
              <a:rPr lang="zh-TW" altLang="en-US" smtClean="0"/>
              <a:t>2012/4/5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FCCD2-C167-4278-82B0-E974B18208E4}" type="datetime1">
              <a:rPr lang="zh-TW" altLang="en-US" smtClean="0"/>
              <a:t>2012/4/5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2838450" y="3943350"/>
            <a:ext cx="5875338" cy="1162050"/>
          </a:xfrm>
        </p:spPr>
        <p:txBody>
          <a:bodyPr anchor="b"/>
          <a:lstStyle>
            <a:lvl1pPr algn="l">
              <a:defRPr sz="3200" b="0"/>
            </a:lvl1pPr>
          </a:lstStyle>
          <a:p>
            <a:r>
              <a:rPr lang="zh-TW" altLang="en-US" smtClean="0"/>
              <a:t>按一下以編輯母片標題樣式</a:t>
            </a:r>
            <a:endParaRPr/>
          </a:p>
        </p:txBody>
      </p:sp>
      <p:sp>
        <p:nvSpPr>
          <p:cNvPr id="3" name="Content Placeholder 2"/>
          <p:cNvSpPr>
            <a:spLocks noGrp="1"/>
          </p:cNvSpPr>
          <p:nvPr>
            <p:ph idx="1"/>
          </p:nvPr>
        </p:nvSpPr>
        <p:spPr>
          <a:xfrm>
            <a:off x="2514600" y="354106"/>
            <a:ext cx="6172200" cy="3200400"/>
          </a:xfrm>
        </p:spPr>
        <p:txBody>
          <a:bodyPr>
            <a:normAutofit/>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Text Placeholder 3"/>
          <p:cNvSpPr>
            <a:spLocks noGrp="1"/>
          </p:cNvSpPr>
          <p:nvPr>
            <p:ph type="body" sz="half" idx="2"/>
          </p:nvPr>
        </p:nvSpPr>
        <p:spPr>
          <a:xfrm>
            <a:off x="2838450" y="5105401"/>
            <a:ext cx="5875338" cy="1004888"/>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CA87E9A1-4D3B-4713-92EF-ED91D08E73B0}" type="datetime1">
              <a:rPr lang="zh-TW" altLang="en-US" smtClean="0"/>
              <a:t>2012/4/5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2834640" y="3941064"/>
            <a:ext cx="5879592" cy="1161288"/>
          </a:xfrm>
        </p:spPr>
        <p:txBody>
          <a:bodyPr vert="horz" lIns="91440" tIns="45720" rIns="91440" bIns="45720" rtlCol="0" anchor="b" anchorCtr="0">
            <a:noAutofit/>
          </a:bodyPr>
          <a:lstStyle>
            <a:lvl1pPr algn="l" defTabSz="914400" rtl="0" eaLnBrk="1" latinLnBrk="0" hangingPunct="1">
              <a:spcBef>
                <a:spcPct val="0"/>
              </a:spcBef>
              <a:buNone/>
              <a:defRPr sz="3200" b="0" kern="1200">
                <a:gradFill>
                  <a:gsLst>
                    <a:gs pos="0">
                      <a:schemeClr val="tx1"/>
                    </a:gs>
                    <a:gs pos="99000">
                      <a:schemeClr val="tx1">
                        <a:alpha val="85000"/>
                      </a:schemeClr>
                    </a:gs>
                    <a:gs pos="86000">
                      <a:schemeClr val="tx1">
                        <a:alpha val="70000"/>
                      </a:schemeClr>
                    </a:gs>
                  </a:gsLst>
                  <a:lin ang="5400000" scaled="0"/>
                </a:gradFill>
                <a:latin typeface="+mj-lt"/>
                <a:ea typeface="+mj-ea"/>
                <a:cs typeface="+mj-cs"/>
              </a:defRPr>
            </a:lvl1pPr>
          </a:lstStyle>
          <a:p>
            <a:r>
              <a:rPr lang="zh-TW" altLang="en-US" smtClean="0"/>
              <a:t>按一下以編輯母片標題樣式</a:t>
            </a:r>
            <a:endParaRPr/>
          </a:p>
        </p:txBody>
      </p:sp>
      <p:sp>
        <p:nvSpPr>
          <p:cNvPr id="3" name="Picture Placeholder 2"/>
          <p:cNvSpPr>
            <a:spLocks noGrp="1"/>
          </p:cNvSpPr>
          <p:nvPr>
            <p:ph type="pic" idx="1"/>
          </p:nvPr>
        </p:nvSpPr>
        <p:spPr>
          <a:xfrm>
            <a:off x="2514600" y="356616"/>
            <a:ext cx="6172200" cy="3200400"/>
          </a:xfrm>
          <a:prstGeom prst="roundRect">
            <a:avLst>
              <a:gd name="adj" fmla="val 12886"/>
            </a:avLst>
          </a:prstGeom>
          <a:effectLst>
            <a:reflection blurRad="6350" stA="50000" endA="275" endPos="40000" dist="101600" dir="5400000" sy="-100000" algn="bl" rotWithShape="0"/>
            <a:softEdge rad="63500"/>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a:p>
        </p:txBody>
      </p:sp>
      <p:sp>
        <p:nvSpPr>
          <p:cNvPr id="4" name="Text Placeholder 3"/>
          <p:cNvSpPr>
            <a:spLocks noGrp="1"/>
          </p:cNvSpPr>
          <p:nvPr>
            <p:ph type="body" sz="half" idx="2"/>
          </p:nvPr>
        </p:nvSpPr>
        <p:spPr>
          <a:xfrm>
            <a:off x="2834640" y="5102352"/>
            <a:ext cx="5879592" cy="1005840"/>
          </a:xfrm>
        </p:spPr>
        <p:txBody>
          <a:bodyPr vert="horz" lIns="91440" tIns="45720" rIns="91440" bIns="45720" rtlCol="0">
            <a:normAutofit/>
          </a:bodyPr>
          <a:lstStyle>
            <a:lvl1pPr marL="0" indent="0">
              <a:buNone/>
              <a:defRPr sz="14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1800"/>
              </a:spcBef>
              <a:buFont typeface="Wingdings" pitchFamily="2" charset="2"/>
              <a:buNone/>
            </a:pPr>
            <a:r>
              <a:rPr lang="zh-TW" altLang="en-US" smtClean="0"/>
              <a:t>按一下以編輯母片文字樣式</a:t>
            </a:r>
          </a:p>
        </p:txBody>
      </p:sp>
      <p:sp>
        <p:nvSpPr>
          <p:cNvPr id="5" name="Date Placeholder 4"/>
          <p:cNvSpPr>
            <a:spLocks noGrp="1"/>
          </p:cNvSpPr>
          <p:nvPr>
            <p:ph type="dt" sz="half" idx="10"/>
          </p:nvPr>
        </p:nvSpPr>
        <p:spPr/>
        <p:txBody>
          <a:bodyPr/>
          <a:lstStyle/>
          <a:p>
            <a:fld id="{2D8F4520-C402-4177-9AE1-C12DF2634867}" type="datetime1">
              <a:rPr lang="zh-TW" altLang="en-US" smtClean="0"/>
              <a:t>2012/4/5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10"/>
          </p:nvPr>
        </p:nvSpPr>
        <p:spPr/>
        <p:txBody>
          <a:bodyPr/>
          <a:lstStyle/>
          <a:p>
            <a:fld id="{6030A333-A2CF-4132-BBF1-96669DEDCDC2}" type="datetime1">
              <a:rPr lang="zh-TW" altLang="en-US" smtClean="0"/>
              <a:t>2012/4/5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800" y="368301"/>
            <a:ext cx="1143000" cy="5741988"/>
          </a:xfrm>
        </p:spPr>
        <p:txBody>
          <a:bodyPr vert="eaVert"/>
          <a:lstStyle/>
          <a:p>
            <a:r>
              <a:rPr lang="zh-TW" altLang="en-US" smtClean="0"/>
              <a:t>按一下以編輯母片標題樣式</a:t>
            </a:r>
            <a:endParaRPr/>
          </a:p>
        </p:txBody>
      </p:sp>
      <p:sp>
        <p:nvSpPr>
          <p:cNvPr id="3" name="Vertical Text Placeholder 2"/>
          <p:cNvSpPr>
            <a:spLocks noGrp="1"/>
          </p:cNvSpPr>
          <p:nvPr>
            <p:ph type="body" orient="vert" idx="1"/>
          </p:nvPr>
        </p:nvSpPr>
        <p:spPr>
          <a:xfrm>
            <a:off x="2514600" y="609599"/>
            <a:ext cx="4724400" cy="5500689"/>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10"/>
          </p:nvPr>
        </p:nvSpPr>
        <p:spPr/>
        <p:txBody>
          <a:bodyPr/>
          <a:lstStyle/>
          <a:p>
            <a:fld id="{DB5F17F3-B3D6-4676-8C9B-536D7089B357}" type="datetime1">
              <a:rPr lang="zh-TW" altLang="en-US" smtClean="0"/>
              <a:t>2012/4/5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25" name="Picture 24" descr="content 2.png"/>
          <p:cNvPicPr>
            <a:picLocks noChangeAspect="1"/>
          </p:cNvPicPr>
          <p:nvPr/>
        </p:nvPicPr>
        <p:blipFill>
          <a:blip r:embed="rId13" cstate="print"/>
          <a:srcRect r="4801" b="2931"/>
          <a:stretch>
            <a:fillRect/>
          </a:stretch>
        </p:blipFill>
        <p:spPr>
          <a:xfrm flipH="1">
            <a:off x="-1" y="0"/>
            <a:ext cx="9144000" cy="6858000"/>
          </a:xfrm>
          <a:prstGeom prst="rect">
            <a:avLst/>
          </a:prstGeom>
        </p:spPr>
      </p:pic>
      <p:sp>
        <p:nvSpPr>
          <p:cNvPr id="5" name="Footer Placeholder 4"/>
          <p:cNvSpPr>
            <a:spLocks noGrp="1"/>
          </p:cNvSpPr>
          <p:nvPr>
            <p:ph type="ftr" sz="quarter" idx="3"/>
          </p:nvPr>
        </p:nvSpPr>
        <p:spPr>
          <a:xfrm>
            <a:off x="2438400" y="6580094"/>
            <a:ext cx="2895600" cy="304800"/>
          </a:xfrm>
          <a:prstGeom prst="rect">
            <a:avLst/>
          </a:prstGeom>
        </p:spPr>
        <p:txBody>
          <a:bodyPr vert="horz" lIns="91440" tIns="45720" rIns="91440" bIns="45720" rtlCol="0" anchor="ctr"/>
          <a:lstStyle>
            <a:lvl1pPr algn="l">
              <a:defRPr sz="1000">
                <a:solidFill>
                  <a:schemeClr val="tx1">
                    <a:tint val="75000"/>
                    <a:alpha val="70000"/>
                  </a:schemeClr>
                </a:solidFill>
                <a:effectLst>
                  <a:outerShdw blurRad="63500" sx="102000" sy="102000" algn="ctr" rotWithShape="0">
                    <a:schemeClr val="tx1">
                      <a:alpha val="40000"/>
                    </a:schemeClr>
                  </a:outerShdw>
                </a:effectLst>
              </a:defRPr>
            </a:lvl1pPr>
          </a:lstStyle>
          <a:p>
            <a:endParaRPr lang="zh-TW" altLang="en-US"/>
          </a:p>
        </p:txBody>
      </p:sp>
      <p:sp>
        <p:nvSpPr>
          <p:cNvPr id="2" name="Title Placeholder 1"/>
          <p:cNvSpPr>
            <a:spLocks noGrp="1"/>
          </p:cNvSpPr>
          <p:nvPr>
            <p:ph type="title"/>
          </p:nvPr>
        </p:nvSpPr>
        <p:spPr>
          <a:xfrm>
            <a:off x="2514600" y="350838"/>
            <a:ext cx="6172200" cy="1143000"/>
          </a:xfrm>
          <a:prstGeom prst="rect">
            <a:avLst/>
          </a:prstGeom>
        </p:spPr>
        <p:txBody>
          <a:bodyPr vert="horz" lIns="91440" tIns="45720" rIns="91440" bIns="45720" rtlCol="0" anchor="b" anchorCtr="0">
            <a:noAutofit/>
          </a:bodyPr>
          <a:lstStyle/>
          <a:p>
            <a:r>
              <a:rPr lang="zh-TW" altLang="en-US" smtClean="0"/>
              <a:t>按一下以編輯母片標題樣式</a:t>
            </a:r>
            <a:endParaRPr/>
          </a:p>
        </p:txBody>
      </p:sp>
      <p:sp>
        <p:nvSpPr>
          <p:cNvPr id="3" name="Text Placeholder 2"/>
          <p:cNvSpPr>
            <a:spLocks noGrp="1"/>
          </p:cNvSpPr>
          <p:nvPr>
            <p:ph type="body" idx="1"/>
          </p:nvPr>
        </p:nvSpPr>
        <p:spPr>
          <a:xfrm>
            <a:off x="2819400" y="1981200"/>
            <a:ext cx="5867400" cy="4114799"/>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2"/>
          </p:nvPr>
        </p:nvSpPr>
        <p:spPr>
          <a:xfrm>
            <a:off x="6934200" y="6580094"/>
            <a:ext cx="2133600" cy="304800"/>
          </a:xfrm>
          <a:prstGeom prst="rect">
            <a:avLst/>
          </a:prstGeom>
        </p:spPr>
        <p:txBody>
          <a:bodyPr vert="horz" lIns="91440" tIns="45720" rIns="91440" bIns="45720" rtlCol="0" anchor="ctr"/>
          <a:lstStyle>
            <a:lvl1pPr algn="r">
              <a:defRPr sz="1000">
                <a:solidFill>
                  <a:schemeClr val="tx1">
                    <a:tint val="75000"/>
                    <a:alpha val="70000"/>
                  </a:schemeClr>
                </a:solidFill>
                <a:effectLst>
                  <a:outerShdw blurRad="63500" sx="102000" sy="102000" algn="ctr" rotWithShape="0">
                    <a:schemeClr val="tx1">
                      <a:alpha val="40000"/>
                    </a:schemeClr>
                  </a:outerShdw>
                </a:effectLst>
              </a:defRPr>
            </a:lvl1pPr>
          </a:lstStyle>
          <a:p>
            <a:fld id="{1C7031D5-FCCC-4201-B22A-A9B620B26080}" type="datetime1">
              <a:rPr lang="zh-TW" altLang="en-US" smtClean="0"/>
              <a:t>2012/4/5</a:t>
            </a:fld>
            <a:endParaRPr lang="zh-TW" altLang="en-US"/>
          </a:p>
        </p:txBody>
      </p:sp>
      <p:sp>
        <p:nvSpPr>
          <p:cNvPr id="6" name="Slide Number Placeholder 5"/>
          <p:cNvSpPr>
            <a:spLocks noGrp="1"/>
          </p:cNvSpPr>
          <p:nvPr>
            <p:ph type="sldNum" sz="quarter" idx="4"/>
          </p:nvPr>
        </p:nvSpPr>
        <p:spPr>
          <a:xfrm>
            <a:off x="22412" y="2693894"/>
            <a:ext cx="1452282" cy="1371600"/>
          </a:xfrm>
          <a:prstGeom prst="rect">
            <a:avLst/>
          </a:prstGeom>
        </p:spPr>
        <p:txBody>
          <a:bodyPr vert="horz" lIns="91440" tIns="45720" rIns="91440" bIns="45720" rtlCol="0" anchor="ctr"/>
          <a:lstStyle>
            <a:lvl1pPr algn="ctr">
              <a:defRPr sz="7200" b="1" spc="-200" baseline="0">
                <a:gradFill flip="none" rotWithShape="1">
                  <a:gsLst>
                    <a:gs pos="0">
                      <a:schemeClr val="tx1">
                        <a:alpha val="0"/>
                      </a:schemeClr>
                    </a:gs>
                    <a:gs pos="100000">
                      <a:schemeClr val="tx1">
                        <a:alpha val="50000"/>
                      </a:schemeClr>
                    </a:gs>
                  </a:gsLst>
                  <a:lin ang="10800000" scaled="1"/>
                  <a:tileRect/>
                </a:gradFill>
              </a:defRPr>
            </a:lvl1pPr>
          </a:lstStyle>
          <a:p>
            <a:fld id="{73DA0BB7-265A-403C-9275-D587AB510EDC}" type="slidenum">
              <a:rPr lang="zh-TW" altLang="en-US" smtClean="0"/>
              <a:pPr/>
              <a:t>‹#›</a:t>
            </a:fld>
            <a:endParaRPr lang="zh-TW"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3600" kern="1200">
          <a:gradFill>
            <a:gsLst>
              <a:gs pos="0">
                <a:schemeClr val="tx1"/>
              </a:gs>
              <a:gs pos="99000">
                <a:schemeClr val="tx1">
                  <a:alpha val="85000"/>
                </a:schemeClr>
              </a:gs>
              <a:gs pos="86000">
                <a:schemeClr val="tx1">
                  <a:alpha val="70000"/>
                </a:schemeClr>
              </a:gs>
            </a:gsLst>
            <a:lin ang="5400000" scaled="0"/>
          </a:gradFill>
          <a:latin typeface="+mj-lt"/>
          <a:ea typeface="+mj-ea"/>
          <a:cs typeface="+mj-cs"/>
        </a:defRPr>
      </a:lvl1pPr>
    </p:titleStyle>
    <p:bodyStyle>
      <a:lvl1pPr marL="342900" indent="-342900" algn="l" defTabSz="914400" rtl="0" eaLnBrk="1" latinLnBrk="0" hangingPunct="1">
        <a:spcBef>
          <a:spcPts val="1800"/>
        </a:spcBef>
        <a:buFont typeface="Wingdings" pitchFamily="2" charset="2"/>
        <a:buChar char=""/>
        <a:defRPr sz="20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1pPr>
      <a:lvl2pPr marL="742950" indent="-285750" algn="l" defTabSz="914400" rtl="0" eaLnBrk="1" latinLnBrk="0" hangingPunct="1">
        <a:spcBef>
          <a:spcPts val="1800"/>
        </a:spcBef>
        <a:buSzPct val="80000"/>
        <a:buFont typeface="Wingdings" pitchFamily="2" charset="2"/>
        <a:buChar char="q"/>
        <a:defRPr sz="16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2pPr>
      <a:lvl3pPr marL="1143000" indent="-228600" algn="l" defTabSz="914400" rtl="0" eaLnBrk="1" latinLnBrk="0" hangingPunct="1">
        <a:spcBef>
          <a:spcPts val="1800"/>
        </a:spcBef>
        <a:buFont typeface="Wingdings" pitchFamily="2" charset="2"/>
        <a:buChar char=""/>
        <a:defRPr sz="16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3pPr>
      <a:lvl4pPr marL="1600200" indent="-228600" algn="l" defTabSz="914400" rtl="0" eaLnBrk="1" latinLnBrk="0" hangingPunct="1">
        <a:spcBef>
          <a:spcPts val="1800"/>
        </a:spcBef>
        <a:buSzPct val="80000"/>
        <a:buFont typeface="Wingdings" pitchFamily="2" charset="2"/>
        <a:buChar char="q"/>
        <a:defRPr sz="16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4pPr>
      <a:lvl5pPr marL="2057400" indent="-228600" algn="l" defTabSz="914400" rtl="0" eaLnBrk="1" latinLnBrk="0" hangingPunct="1">
        <a:spcBef>
          <a:spcPts val="1800"/>
        </a:spcBef>
        <a:buFont typeface="Wingdings" pitchFamily="2" charset="2"/>
        <a:buChar char=""/>
        <a:defRPr sz="16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5pPr>
      <a:lvl6pPr marL="2514600" indent="-228600" algn="l" defTabSz="914400" rtl="0" eaLnBrk="1" latinLnBrk="0" hangingPunct="1">
        <a:spcBef>
          <a:spcPts val="1800"/>
        </a:spcBef>
        <a:buSzPct val="80000"/>
        <a:buFont typeface="Wingdings" pitchFamily="2" charset="2"/>
        <a:buChar char="q"/>
        <a:defRPr sz="1600" kern="120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6pPr>
      <a:lvl7pPr marL="2971800" indent="-228600" algn="l" defTabSz="914400" rtl="0" eaLnBrk="1" latinLnBrk="0" hangingPunct="1">
        <a:spcBef>
          <a:spcPts val="1800"/>
        </a:spcBef>
        <a:buSzPct val="100000"/>
        <a:buFont typeface="Wingdings" pitchFamily="2" charset="2"/>
        <a:buChar char="Ù"/>
        <a:defRPr sz="1600" kern="1200" baseline="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7pPr>
      <a:lvl8pPr marL="3429000" indent="-228600" algn="l" defTabSz="914400" rtl="0" eaLnBrk="1" latinLnBrk="0" hangingPunct="1">
        <a:spcBef>
          <a:spcPts val="1800"/>
        </a:spcBef>
        <a:buSzPct val="80000"/>
        <a:buFont typeface="Wingdings" pitchFamily="2" charset="2"/>
        <a:buChar char="q"/>
        <a:defRPr sz="1600" kern="1200" baseline="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8pPr>
      <a:lvl9pPr marL="3886200" indent="-228600" algn="l" defTabSz="914400" rtl="0" eaLnBrk="1" latinLnBrk="0" hangingPunct="1">
        <a:spcBef>
          <a:spcPts val="1800"/>
        </a:spcBef>
        <a:buSzPct val="100000"/>
        <a:buFont typeface="Wingdings" pitchFamily="2" charset="2"/>
        <a:buChar char="Ù"/>
        <a:defRPr sz="1600" kern="1200" baseline="0">
          <a:gradFill>
            <a:gsLst>
              <a:gs pos="0">
                <a:schemeClr val="tx1"/>
              </a:gs>
              <a:gs pos="99000">
                <a:schemeClr val="tx1">
                  <a:alpha val="85000"/>
                </a:schemeClr>
              </a:gs>
              <a:gs pos="86000">
                <a:schemeClr val="tx1">
                  <a:alpha val="70000"/>
                </a:schemeClr>
              </a:gs>
            </a:gsLst>
            <a:lin ang="5400000" scaled="0"/>
          </a:gra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youtube.com/watch?v=2cf9xo1S134"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jpeg"/><Relationship Id="rId4" Type="http://schemas.openxmlformats.org/officeDocument/2006/relationships/image" Target="../media/image37.jpeg"/></Relationships>
</file>

<file path=ppt/slides/_rels/slide4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4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sz="4000" dirty="0" smtClean="0"/>
              <a:t>Model View Control Architecture</a:t>
            </a:r>
            <a:endParaRPr lang="zh-TW" altLang="en-US" sz="4000" dirty="0"/>
          </a:p>
        </p:txBody>
      </p:sp>
      <p:sp>
        <p:nvSpPr>
          <p:cNvPr id="3" name="副標題 2"/>
          <p:cNvSpPr>
            <a:spLocks noGrp="1"/>
          </p:cNvSpPr>
          <p:nvPr>
            <p:ph type="subTitle"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a:t>
            </a:fld>
            <a:endParaRPr lang="zh-TW"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Happy Graduation</a:t>
            </a:r>
            <a:endParaRPr lang="zh-TW" altLang="en-US" dirty="0"/>
          </a:p>
        </p:txBody>
      </p:sp>
      <p:sp>
        <p:nvSpPr>
          <p:cNvPr id="3" name="內容版面配置區 2"/>
          <p:cNvSpPr>
            <a:spLocks noGrp="1"/>
          </p:cNvSpPr>
          <p:nvPr>
            <p:ph idx="1"/>
          </p:nvPr>
        </p:nvSpPr>
        <p:spPr/>
        <p:txBody>
          <a:bodyPr/>
          <a:lstStyle/>
          <a:p>
            <a:r>
              <a:rPr lang="en-US" altLang="zh-TW" dirty="0" smtClean="0"/>
              <a:t>It is the season of graduation !</a:t>
            </a:r>
            <a:endParaRPr lang="zh-TW" altLang="en-US" dirty="0"/>
          </a:p>
        </p:txBody>
      </p:sp>
      <p:pic>
        <p:nvPicPr>
          <p:cNvPr id="1026" name="Picture 2" descr="http://www.ttc.edu.tw/leisure/uploads/tadnews/image/980410.JPG"/>
          <p:cNvPicPr>
            <a:picLocks noChangeAspect="1" noChangeArrowheads="1"/>
          </p:cNvPicPr>
          <p:nvPr/>
        </p:nvPicPr>
        <p:blipFill>
          <a:blip r:embed="rId2" cstate="print"/>
          <a:srcRect/>
          <a:stretch>
            <a:fillRect/>
          </a:stretch>
        </p:blipFill>
        <p:spPr bwMode="auto">
          <a:xfrm>
            <a:off x="2411760" y="2564904"/>
            <a:ext cx="5880423" cy="3895088"/>
          </a:xfrm>
          <a:prstGeom prst="rect">
            <a:avLst/>
          </a:prstGeom>
          <a:noFill/>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畢業即失業</a:t>
            </a:r>
            <a:r>
              <a:rPr lang="en-US" altLang="zh-TW" dirty="0" smtClean="0"/>
              <a: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2530" name="Picture 2" descr="http://img.secretchina.com/dat/media/16/2009/02/15/20090215111727968.jpg"/>
          <p:cNvPicPr>
            <a:picLocks noChangeAspect="1" noChangeArrowheads="1"/>
          </p:cNvPicPr>
          <p:nvPr/>
        </p:nvPicPr>
        <p:blipFill>
          <a:blip r:embed="rId2" cstate="print"/>
          <a:srcRect/>
          <a:stretch>
            <a:fillRect/>
          </a:stretch>
        </p:blipFill>
        <p:spPr bwMode="auto">
          <a:xfrm>
            <a:off x="1619672" y="1484784"/>
            <a:ext cx="6984776" cy="5190741"/>
          </a:xfrm>
          <a:prstGeom prst="rect">
            <a:avLst/>
          </a:prstGeom>
          <a:noFill/>
        </p:spPr>
      </p:pic>
      <p:sp>
        <p:nvSpPr>
          <p:cNvPr id="5" name="文字方塊 4"/>
          <p:cNvSpPr txBox="1"/>
          <p:nvPr/>
        </p:nvSpPr>
        <p:spPr>
          <a:xfrm>
            <a:off x="3491880" y="4221088"/>
            <a:ext cx="2956259" cy="769441"/>
          </a:xfrm>
          <a:prstGeom prst="rect">
            <a:avLst/>
          </a:prstGeom>
          <a:noFill/>
        </p:spPr>
        <p:txBody>
          <a:bodyPr wrap="none" rtlCol="0">
            <a:spAutoFit/>
          </a:bodyPr>
          <a:lstStyle/>
          <a:p>
            <a:r>
              <a:rPr lang="en-US" altLang="zh-TW" sz="4400" b="1" dirty="0" smtClean="0">
                <a:solidFill>
                  <a:srgbClr val="FFFF00"/>
                </a:solidFill>
              </a:rPr>
              <a:t>I hope not</a:t>
            </a:r>
            <a:endParaRPr lang="zh-TW" altLang="en-US" sz="4400" b="1" dirty="0">
              <a:solidFill>
                <a:srgbClr val="FFFF00"/>
              </a:solidFill>
            </a:endParaRP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3</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Let’s take a look at tech Job Interview </a:t>
            </a:r>
            <a:endParaRPr lang="zh-TW" altLang="en-US" dirty="0"/>
          </a:p>
        </p:txBody>
      </p:sp>
      <p:sp>
        <p:nvSpPr>
          <p:cNvPr id="3" name="內容版面配置區 2"/>
          <p:cNvSpPr>
            <a:spLocks noGrp="1"/>
          </p:cNvSpPr>
          <p:nvPr>
            <p:ph idx="1"/>
          </p:nvPr>
        </p:nvSpPr>
        <p:spPr/>
        <p:txBody>
          <a:bodyPr/>
          <a:lstStyle/>
          <a:p>
            <a:r>
              <a:rPr lang="en-US" altLang="zh-TW" dirty="0" smtClean="0">
                <a:hlinkClick r:id="rId2"/>
              </a:rPr>
              <a:t>http://www.youtube.com/watch?v=2cf9xo1S134</a:t>
            </a:r>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4</a:t>
            </a:fld>
            <a:endParaRPr lang="zh-TW"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2800" dirty="0" smtClean="0"/>
              <a:t>My interview question:</a:t>
            </a:r>
            <a:br>
              <a:rPr lang="en-US" altLang="zh-TW" sz="2800" dirty="0" smtClean="0"/>
            </a:br>
            <a:r>
              <a:rPr lang="en-US" altLang="zh-TW" sz="2800" dirty="0" smtClean="0"/>
              <a:t>How do you plan to write an simple calculator</a:t>
            </a:r>
            <a:endParaRPr lang="zh-TW" altLang="en-US" sz="2800" dirty="0"/>
          </a:p>
        </p:txBody>
      </p:sp>
      <p:sp>
        <p:nvSpPr>
          <p:cNvPr id="3" name="內容版面配置區 2"/>
          <p:cNvSpPr>
            <a:spLocks noGrp="1"/>
          </p:cNvSpPr>
          <p:nvPr>
            <p:ph idx="1"/>
          </p:nvPr>
        </p:nvSpPr>
        <p:spPr/>
        <p:txBody>
          <a:bodyPr/>
          <a:lstStyle/>
          <a:p>
            <a:endParaRPr lang="zh-TW" altLang="en-US" dirty="0"/>
          </a:p>
        </p:txBody>
      </p:sp>
      <p:pic>
        <p:nvPicPr>
          <p:cNvPr id="1027" name="Picture 3"/>
          <p:cNvPicPr>
            <a:picLocks noChangeAspect="1" noChangeArrowheads="1"/>
          </p:cNvPicPr>
          <p:nvPr/>
        </p:nvPicPr>
        <p:blipFill>
          <a:blip r:embed="rId2" cstate="print"/>
          <a:srcRect/>
          <a:stretch>
            <a:fillRect/>
          </a:stretch>
        </p:blipFill>
        <p:spPr bwMode="auto">
          <a:xfrm>
            <a:off x="4295775" y="3257550"/>
            <a:ext cx="552450" cy="34290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4067944" y="2204864"/>
            <a:ext cx="2343150" cy="3152775"/>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73DA0BB7-265A-403C-9275-D587AB510EDC}" type="slidenum">
              <a:rPr lang="zh-TW" altLang="en-US" smtClean="0"/>
              <a:pPr/>
              <a:t>5</a:t>
            </a:fld>
            <a:endParaRPr lang="zh-TW"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cstate="print"/>
          <a:srcRect/>
          <a:stretch>
            <a:fillRect/>
          </a:stretch>
        </p:blipFill>
        <p:spPr bwMode="auto">
          <a:xfrm>
            <a:off x="1187624" y="0"/>
            <a:ext cx="6660232" cy="6912241"/>
          </a:xfrm>
          <a:prstGeom prst="rect">
            <a:avLst/>
          </a:prstGeom>
          <a:noFill/>
          <a:ln w="9525">
            <a:noFill/>
            <a:miter lim="800000"/>
            <a:headEnd/>
            <a:tailEnd/>
          </a:ln>
        </p:spPr>
      </p:pic>
      <p:sp>
        <p:nvSpPr>
          <p:cNvPr id="2" name="標題 1"/>
          <p:cNvSpPr>
            <a:spLocks noGrp="1"/>
          </p:cNvSpPr>
          <p:nvPr>
            <p:ph type="title"/>
          </p:nvPr>
        </p:nvSpPr>
        <p:spPr>
          <a:xfrm>
            <a:off x="5148064" y="1916832"/>
            <a:ext cx="3785592" cy="1143000"/>
          </a:xfrm>
        </p:spPr>
        <p:txBody>
          <a:bodyPr/>
          <a:lstStyle/>
          <a:p>
            <a:r>
              <a:rPr lang="en-US" altLang="zh-TW" dirty="0" smtClean="0">
                <a:solidFill>
                  <a:srgbClr val="FF0000"/>
                </a:solidFill>
              </a:rPr>
              <a:t/>
            </a:r>
            <a:br>
              <a:rPr lang="en-US" altLang="zh-TW" dirty="0" smtClean="0">
                <a:solidFill>
                  <a:srgbClr val="FF0000"/>
                </a:solidFill>
              </a:rPr>
            </a:br>
            <a:r>
              <a:rPr lang="en-US" altLang="zh-TW" b="1" dirty="0" smtClean="0">
                <a:solidFill>
                  <a:srgbClr val="FF0000"/>
                </a:solidFill>
              </a:rPr>
              <a:t>First</a:t>
            </a:r>
            <a:br>
              <a:rPr lang="en-US" altLang="zh-TW" b="1" dirty="0" smtClean="0">
                <a:solidFill>
                  <a:srgbClr val="FF0000"/>
                </a:solidFill>
              </a:rPr>
            </a:br>
            <a:r>
              <a:rPr lang="en-US" altLang="zh-TW" b="1" dirty="0" smtClean="0">
                <a:solidFill>
                  <a:srgbClr val="FF0000"/>
                </a:solidFill>
              </a:rPr>
              <a:t>Intuitive Implementation in C#</a:t>
            </a:r>
            <a:endParaRPr lang="zh-TW" altLang="en-US" b="1" dirty="0">
              <a:solidFill>
                <a:srgbClr val="FF0000"/>
              </a:solidFill>
            </a:endParaRPr>
          </a:p>
        </p:txBody>
      </p:sp>
      <p:sp>
        <p:nvSpPr>
          <p:cNvPr id="6" name="雲朵形圖說文字 5"/>
          <p:cNvSpPr/>
          <p:nvPr/>
        </p:nvSpPr>
        <p:spPr>
          <a:xfrm>
            <a:off x="5220072" y="4293096"/>
            <a:ext cx="2664296" cy="1368152"/>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Directly manipulate GUI output</a:t>
            </a:r>
            <a:endParaRPr lang="zh-TW" altLang="en-US" dirty="0"/>
          </a:p>
        </p:txBody>
      </p:sp>
      <p:sp>
        <p:nvSpPr>
          <p:cNvPr id="7" name="手繪多邊形 6"/>
          <p:cNvSpPr/>
          <p:nvPr/>
        </p:nvSpPr>
        <p:spPr>
          <a:xfrm>
            <a:off x="4401879" y="5550195"/>
            <a:ext cx="1244009" cy="442496"/>
          </a:xfrm>
          <a:custGeom>
            <a:avLst/>
            <a:gdLst>
              <a:gd name="connsiteX0" fmla="*/ 1244009 w 1244009"/>
              <a:gd name="connsiteY0" fmla="*/ 0 h 442496"/>
              <a:gd name="connsiteX1" fmla="*/ 1222744 w 1244009"/>
              <a:gd name="connsiteY1" fmla="*/ 53163 h 442496"/>
              <a:gd name="connsiteX2" fmla="*/ 1201479 w 1244009"/>
              <a:gd name="connsiteY2" fmla="*/ 191386 h 442496"/>
              <a:gd name="connsiteX3" fmla="*/ 1190847 w 1244009"/>
              <a:gd name="connsiteY3" fmla="*/ 233917 h 442496"/>
              <a:gd name="connsiteX4" fmla="*/ 1148316 w 1244009"/>
              <a:gd name="connsiteY4" fmla="*/ 329610 h 442496"/>
              <a:gd name="connsiteX5" fmla="*/ 1105786 w 1244009"/>
              <a:gd name="connsiteY5" fmla="*/ 372140 h 442496"/>
              <a:gd name="connsiteX6" fmla="*/ 1063256 w 1244009"/>
              <a:gd name="connsiteY6" fmla="*/ 393405 h 442496"/>
              <a:gd name="connsiteX7" fmla="*/ 946298 w 1244009"/>
              <a:gd name="connsiteY7" fmla="*/ 425303 h 442496"/>
              <a:gd name="connsiteX8" fmla="*/ 478465 w 1244009"/>
              <a:gd name="connsiteY8" fmla="*/ 414670 h 442496"/>
              <a:gd name="connsiteX9" fmla="*/ 425302 w 1244009"/>
              <a:gd name="connsiteY9" fmla="*/ 404038 h 442496"/>
              <a:gd name="connsiteX10" fmla="*/ 255181 w 1244009"/>
              <a:gd name="connsiteY10" fmla="*/ 414670 h 442496"/>
              <a:gd name="connsiteX11" fmla="*/ 0 w 1244009"/>
              <a:gd name="connsiteY11" fmla="*/ 425303 h 442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4009" h="442496">
                <a:moveTo>
                  <a:pt x="1244009" y="0"/>
                </a:moveTo>
                <a:cubicBezTo>
                  <a:pt x="1236921" y="17721"/>
                  <a:pt x="1228228" y="34882"/>
                  <a:pt x="1222744" y="53163"/>
                </a:cubicBezTo>
                <a:cubicBezTo>
                  <a:pt x="1210551" y="93807"/>
                  <a:pt x="1207962" y="152490"/>
                  <a:pt x="1201479" y="191386"/>
                </a:cubicBezTo>
                <a:cubicBezTo>
                  <a:pt x="1199077" y="205800"/>
                  <a:pt x="1195046" y="219920"/>
                  <a:pt x="1190847" y="233917"/>
                </a:cubicBezTo>
                <a:cubicBezTo>
                  <a:pt x="1178529" y="274976"/>
                  <a:pt x="1174610" y="298934"/>
                  <a:pt x="1148316" y="329610"/>
                </a:cubicBezTo>
                <a:cubicBezTo>
                  <a:pt x="1135268" y="344832"/>
                  <a:pt x="1121825" y="360111"/>
                  <a:pt x="1105786" y="372140"/>
                </a:cubicBezTo>
                <a:cubicBezTo>
                  <a:pt x="1093106" y="381650"/>
                  <a:pt x="1077740" y="386968"/>
                  <a:pt x="1063256" y="393405"/>
                </a:cubicBezTo>
                <a:cubicBezTo>
                  <a:pt x="1001786" y="420725"/>
                  <a:pt x="1015693" y="413737"/>
                  <a:pt x="946298" y="425303"/>
                </a:cubicBezTo>
                <a:lnTo>
                  <a:pt x="478465" y="414670"/>
                </a:lnTo>
                <a:cubicBezTo>
                  <a:pt x="460408" y="413933"/>
                  <a:pt x="443374" y="404038"/>
                  <a:pt x="425302" y="404038"/>
                </a:cubicBezTo>
                <a:cubicBezTo>
                  <a:pt x="368484" y="404038"/>
                  <a:pt x="311888" y="411126"/>
                  <a:pt x="255181" y="414670"/>
                </a:cubicBezTo>
                <a:cubicBezTo>
                  <a:pt x="143884" y="442496"/>
                  <a:pt x="227264" y="425303"/>
                  <a:pt x="0" y="425303"/>
                </a:cubicBezTo>
              </a:path>
            </a:pathLst>
          </a:custGeom>
          <a:ln w="38100">
            <a:solidFill>
              <a:srgbClr val="FF0000">
                <a:alpha val="8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9" name="直線單箭頭接點 8"/>
          <p:cNvCxnSpPr/>
          <p:nvPr/>
        </p:nvCxnSpPr>
        <p:spPr>
          <a:xfrm rot="10800000">
            <a:off x="3995936" y="3284984"/>
            <a:ext cx="1440160" cy="1152128"/>
          </a:xfrm>
          <a:prstGeom prst="straightConnector1">
            <a:avLst/>
          </a:prstGeom>
          <a:ln w="28575">
            <a:solidFill>
              <a:srgbClr val="FF0000">
                <a:alpha val="8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rot="10800000">
            <a:off x="4067944" y="4005064"/>
            <a:ext cx="1224136" cy="576064"/>
          </a:xfrm>
          <a:prstGeom prst="straightConnector1">
            <a:avLst/>
          </a:prstGeom>
          <a:ln w="28575">
            <a:solidFill>
              <a:srgbClr val="FF0000">
                <a:alpha val="80000"/>
              </a:srgbClr>
            </a:solidFill>
            <a:tailEnd type="arrow"/>
          </a:ln>
        </p:spPr>
        <p:style>
          <a:lnRef idx="1">
            <a:schemeClr val="accent1"/>
          </a:lnRef>
          <a:fillRef idx="0">
            <a:schemeClr val="accent1"/>
          </a:fillRef>
          <a:effectRef idx="0">
            <a:schemeClr val="accent1"/>
          </a:effectRef>
          <a:fontRef idx="minor">
            <a:schemeClr val="tx1"/>
          </a:fontRef>
        </p:style>
      </p:cxnSp>
      <p:sp>
        <p:nvSpPr>
          <p:cNvPr id="8" name="投影片編號版面配置區 7"/>
          <p:cNvSpPr>
            <a:spLocks noGrp="1"/>
          </p:cNvSpPr>
          <p:nvPr>
            <p:ph type="sldNum" sz="quarter" idx="12"/>
          </p:nvPr>
        </p:nvSpPr>
        <p:spPr/>
        <p:txBody>
          <a:bodyPr/>
          <a:lstStyle/>
          <a:p>
            <a:fld id="{73DA0BB7-265A-403C-9275-D587AB510EDC}" type="slidenum">
              <a:rPr lang="zh-TW" altLang="en-US" smtClean="0"/>
              <a:pPr/>
              <a:t>6</a:t>
            </a:fld>
            <a:endParaRPr lang="zh-TW"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GUI Changes</a:t>
            </a:r>
            <a:endParaRPr lang="zh-TW" altLang="en-US" b="1" dirty="0"/>
          </a:p>
        </p:txBody>
      </p:sp>
      <p:sp>
        <p:nvSpPr>
          <p:cNvPr id="3" name="內容版面配置區 2"/>
          <p:cNvSpPr>
            <a:spLocks noGrp="1"/>
          </p:cNvSpPr>
          <p:nvPr>
            <p:ph idx="1"/>
          </p:nvPr>
        </p:nvSpPr>
        <p:spPr/>
        <p:txBody>
          <a:bodyPr/>
          <a:lstStyle/>
          <a:p>
            <a:r>
              <a:rPr lang="en-US" altLang="zh-TW" dirty="0" smtClean="0"/>
              <a:t>GUI is the most unstable components in software</a:t>
            </a:r>
            <a:endParaRPr lang="zh-TW" altLang="en-US" dirty="0"/>
          </a:p>
        </p:txBody>
      </p:sp>
      <p:pic>
        <p:nvPicPr>
          <p:cNvPr id="1026" name="Picture 2" descr="http://blog.shanger.net/uploads/200901/21_174045_0101.jpg"/>
          <p:cNvPicPr>
            <a:picLocks noChangeAspect="1" noChangeArrowheads="1"/>
          </p:cNvPicPr>
          <p:nvPr/>
        </p:nvPicPr>
        <p:blipFill>
          <a:blip r:embed="rId2" cstate="print"/>
          <a:srcRect/>
          <a:stretch>
            <a:fillRect/>
          </a:stretch>
        </p:blipFill>
        <p:spPr bwMode="auto">
          <a:xfrm>
            <a:off x="251520" y="3284984"/>
            <a:ext cx="2971800" cy="2952751"/>
          </a:xfrm>
          <a:prstGeom prst="rect">
            <a:avLst/>
          </a:prstGeom>
          <a:noFill/>
        </p:spPr>
      </p:pic>
      <p:sp>
        <p:nvSpPr>
          <p:cNvPr id="5" name="雲朵形圖說文字 4"/>
          <p:cNvSpPr/>
          <p:nvPr/>
        </p:nvSpPr>
        <p:spPr>
          <a:xfrm>
            <a:off x="5004048" y="2924944"/>
            <a:ext cx="3456384" cy="2808312"/>
          </a:xfrm>
          <a:prstGeom prst="cloudCallout">
            <a:avLst>
              <a:gd name="adj1" fmla="val -98969"/>
              <a:gd name="adj2" fmla="val 200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Hey, give me a console calculator</a:t>
            </a:r>
          </a:p>
          <a:p>
            <a:pPr algn="ctr"/>
            <a:r>
              <a:rPr lang="en-US" altLang="zh-TW" dirty="0" smtClean="0"/>
              <a:t>I don’t like using mouse to click button</a:t>
            </a:r>
            <a:endParaRPr lang="zh-TW" altLang="en-US" dirty="0"/>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7</a:t>
            </a:fld>
            <a:endParaRPr lang="zh-TW"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GUI Changes (Your beautiful OL colleague )</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7410" name="Picture 2" descr="http://img.022net.com/ImgFile/200901/13/61/13572635363337971053.jpg"/>
          <p:cNvPicPr>
            <a:picLocks noChangeAspect="1" noChangeArrowheads="1"/>
          </p:cNvPicPr>
          <p:nvPr/>
        </p:nvPicPr>
        <p:blipFill>
          <a:blip r:embed="rId2" cstate="print"/>
          <a:srcRect/>
          <a:stretch>
            <a:fillRect/>
          </a:stretch>
        </p:blipFill>
        <p:spPr bwMode="auto">
          <a:xfrm>
            <a:off x="467544" y="1700808"/>
            <a:ext cx="3528392" cy="4934814"/>
          </a:xfrm>
          <a:prstGeom prst="rect">
            <a:avLst/>
          </a:prstGeom>
          <a:noFill/>
        </p:spPr>
      </p:pic>
      <p:sp>
        <p:nvSpPr>
          <p:cNvPr id="5" name="雲朵形圖說文字 4"/>
          <p:cNvSpPr/>
          <p:nvPr/>
        </p:nvSpPr>
        <p:spPr>
          <a:xfrm>
            <a:off x="5004048" y="2204864"/>
            <a:ext cx="3312368" cy="3384376"/>
          </a:xfrm>
          <a:prstGeom prst="cloudCallout">
            <a:avLst>
              <a:gd name="adj1" fmla="val -101268"/>
              <a:gd name="adj2" fmla="val -412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人家每天都要處理很多數字的運算</a:t>
            </a:r>
            <a:endParaRPr lang="en-US" altLang="zh-TW" dirty="0" smtClean="0"/>
          </a:p>
          <a:p>
            <a:pPr algn="ctr"/>
            <a:r>
              <a:rPr lang="en-US" altLang="zh-TW" dirty="0" smtClean="0"/>
              <a:t>GUI</a:t>
            </a:r>
            <a:r>
              <a:rPr lang="zh-TW" altLang="en-US" dirty="0" smtClean="0"/>
              <a:t> 的計算機不好用啦</a:t>
            </a:r>
            <a:r>
              <a:rPr lang="en-US" altLang="zh-TW" dirty="0" smtClean="0"/>
              <a:t>!~~~~</a:t>
            </a:r>
          </a:p>
          <a:p>
            <a:pPr algn="ctr"/>
            <a:r>
              <a:rPr lang="zh-TW" altLang="en-US" dirty="0" smtClean="0"/>
              <a:t>請你設計一個善用右邊鍵盤的程式</a:t>
            </a:r>
            <a:endParaRPr lang="en-US" altLang="zh-TW" dirty="0" smtClean="0"/>
          </a:p>
          <a:p>
            <a:pPr algn="ctr"/>
            <a:r>
              <a:rPr lang="zh-TW" altLang="en-US" dirty="0" smtClean="0"/>
              <a:t>下班陪你吃飯喔</a:t>
            </a:r>
            <a:r>
              <a:rPr lang="en-US" altLang="zh-TW" dirty="0" smtClean="0"/>
              <a:t>!</a:t>
            </a:r>
            <a:r>
              <a:rPr lang="zh-TW" altLang="en-US" dirty="0" smtClean="0"/>
              <a:t> </a:t>
            </a:r>
            <a:endParaRPr lang="en-US" altLang="zh-TW" dirty="0" smtClean="0"/>
          </a:p>
          <a:p>
            <a:pPr algn="ctr"/>
            <a:endParaRPr lang="zh-TW" altLang="en-US" dirty="0"/>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8</a:t>
            </a:fld>
            <a:endParaRPr lang="zh-TW"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Sometimes, requirement change!!</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3555" name="Picture 3"/>
          <p:cNvPicPr>
            <a:picLocks noChangeAspect="1" noChangeArrowheads="1"/>
          </p:cNvPicPr>
          <p:nvPr/>
        </p:nvPicPr>
        <p:blipFill>
          <a:blip r:embed="rId2" cstate="print"/>
          <a:srcRect/>
          <a:stretch>
            <a:fillRect/>
          </a:stretch>
        </p:blipFill>
        <p:spPr bwMode="auto">
          <a:xfrm>
            <a:off x="4427984" y="1844824"/>
            <a:ext cx="4293667" cy="4494647"/>
          </a:xfrm>
          <a:prstGeom prst="rect">
            <a:avLst/>
          </a:prstGeom>
          <a:noFill/>
          <a:ln w="9525">
            <a:noFill/>
            <a:miter lim="800000"/>
            <a:headEnd/>
            <a:tailEnd/>
          </a:ln>
        </p:spPr>
      </p:pic>
      <p:sp>
        <p:nvSpPr>
          <p:cNvPr id="6" name="雲朵形圖說文字 5"/>
          <p:cNvSpPr/>
          <p:nvPr/>
        </p:nvSpPr>
        <p:spPr>
          <a:xfrm>
            <a:off x="1187624" y="2420888"/>
            <a:ext cx="3312368" cy="3384376"/>
          </a:xfrm>
          <a:prstGeom prst="cloudCallout">
            <a:avLst>
              <a:gd name="adj1" fmla="val 82770"/>
              <a:gd name="adj2" fmla="val -4603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Hey ! Rookie </a:t>
            </a:r>
          </a:p>
          <a:p>
            <a:pPr algn="ctr"/>
            <a:r>
              <a:rPr lang="en-US" altLang="zh-TW" dirty="0" smtClean="0"/>
              <a:t>Your calc is too simple. I want to extend it to engineering usage with floating point </a:t>
            </a:r>
            <a:endParaRPr lang="zh-TW" altLang="en-US" dirty="0"/>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9</a:t>
            </a:fld>
            <a:endParaRPr lang="zh-TW"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What’s wrong with your code?</a:t>
            </a:r>
            <a:endParaRPr lang="zh-TW" altLang="en-US" dirty="0"/>
          </a:p>
        </p:txBody>
      </p:sp>
      <p:sp>
        <p:nvSpPr>
          <p:cNvPr id="3" name="內容版面配置區 2"/>
          <p:cNvSpPr>
            <a:spLocks noGrp="1"/>
          </p:cNvSpPr>
          <p:nvPr>
            <p:ph idx="1"/>
          </p:nvPr>
        </p:nvSpPr>
        <p:spPr/>
        <p:txBody>
          <a:bodyPr/>
          <a:lstStyle/>
          <a:p>
            <a:r>
              <a:rPr lang="en-US" altLang="zh-TW" dirty="0" smtClean="0"/>
              <a:t>Computation logic is mixed with UI code</a:t>
            </a:r>
          </a:p>
          <a:p>
            <a:pPr lvl="1"/>
            <a:r>
              <a:rPr lang="en-US" altLang="zh-TW" dirty="0" smtClean="0"/>
              <a:t>You UI code depends on your kernel code and vice versa</a:t>
            </a:r>
          </a:p>
          <a:p>
            <a:r>
              <a:rPr lang="en-US" altLang="zh-TW" dirty="0" smtClean="0"/>
              <a:t>When UI changes, you need to open your whole program and modify it. It violates the </a:t>
            </a:r>
            <a:r>
              <a:rPr lang="en-US" altLang="zh-TW" b="1" dirty="0" smtClean="0">
                <a:solidFill>
                  <a:srgbClr val="FFFF00"/>
                </a:solidFill>
              </a:rPr>
              <a:t>open for extension and closed for modification principle.</a:t>
            </a:r>
          </a:p>
          <a:p>
            <a:endParaRPr lang="zh-TW" altLang="en-US" b="1" dirty="0">
              <a:solidFill>
                <a:srgbClr val="FFFF00"/>
              </a:solidFill>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10</a:t>
            </a:fld>
            <a:endParaRPr lang="zh-TW"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OK</a:t>
            </a:r>
            <a:endParaRPr lang="zh-TW" altLang="en-US" dirty="0"/>
          </a:p>
        </p:txBody>
      </p:sp>
      <p:sp>
        <p:nvSpPr>
          <p:cNvPr id="3" name="內容版面配置區 2"/>
          <p:cNvSpPr>
            <a:spLocks noGrp="1"/>
          </p:cNvSpPr>
          <p:nvPr>
            <p:ph idx="1"/>
          </p:nvPr>
        </p:nvSpPr>
        <p:spPr/>
        <p:txBody>
          <a:bodyPr/>
          <a:lstStyle/>
          <a:p>
            <a:r>
              <a:rPr lang="en-US" altLang="zh-TW" dirty="0" smtClean="0"/>
              <a:t>Before I give the answer directly</a:t>
            </a:r>
          </a:p>
          <a:p>
            <a:r>
              <a:rPr lang="en-US" altLang="zh-TW" dirty="0" smtClean="0"/>
              <a:t>Let’s discuss how you attempt to address the problem using all the knowledge you have learned in this class. </a:t>
            </a:r>
          </a:p>
          <a:p>
            <a:r>
              <a:rPr lang="en-US" altLang="zh-TW" dirty="0" smtClean="0"/>
              <a:t>Let’s think </a:t>
            </a:r>
          </a:p>
          <a:p>
            <a:r>
              <a:rPr lang="en-US" altLang="zh-TW" dirty="0" smtClean="0"/>
              <a:t>and discuss</a:t>
            </a:r>
            <a:endParaRPr lang="zh-TW" altLang="en-US" dirty="0"/>
          </a:p>
        </p:txBody>
      </p:sp>
      <p:pic>
        <p:nvPicPr>
          <p:cNvPr id="26626" name="Picture 2" descr="http://parthshah.files.wordpress.com/2007/08/20070207think.jpg"/>
          <p:cNvPicPr>
            <a:picLocks noChangeAspect="1" noChangeArrowheads="1"/>
          </p:cNvPicPr>
          <p:nvPr/>
        </p:nvPicPr>
        <p:blipFill>
          <a:blip r:embed="rId2" cstate="print"/>
          <a:srcRect/>
          <a:stretch>
            <a:fillRect/>
          </a:stretch>
        </p:blipFill>
        <p:spPr bwMode="auto">
          <a:xfrm>
            <a:off x="5220072" y="3717032"/>
            <a:ext cx="3563888" cy="2475141"/>
          </a:xfrm>
          <a:prstGeom prst="rect">
            <a:avLst/>
          </a:prstGeom>
          <a:noFill/>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11</a:t>
            </a:fld>
            <a:endParaRPr lang="zh-TW"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Instead of teaching by my own, I want </a:t>
            </a:r>
            <a:endParaRPr lang="zh-TW" altLang="en-US" dirty="0"/>
          </a:p>
        </p:txBody>
      </p:sp>
      <p:sp>
        <p:nvSpPr>
          <p:cNvPr id="3" name="內容版面配置區 2"/>
          <p:cNvSpPr>
            <a:spLocks noGrp="1"/>
          </p:cNvSpPr>
          <p:nvPr>
            <p:ph idx="1"/>
          </p:nvPr>
        </p:nvSpPr>
        <p:spPr/>
        <p:txBody>
          <a:bodyPr/>
          <a:lstStyle/>
          <a:p>
            <a:r>
              <a:rPr lang="en-US" altLang="zh-TW" dirty="0" smtClean="0"/>
              <a:t>You guys divided into groups</a:t>
            </a:r>
          </a:p>
          <a:p>
            <a:r>
              <a:rPr lang="en-US" altLang="zh-TW" dirty="0" smtClean="0"/>
              <a:t>Let’s hear proposal from each group</a:t>
            </a:r>
          </a:p>
          <a:p>
            <a:r>
              <a:rPr lang="en-US" altLang="zh-TW" dirty="0" smtClean="0"/>
              <a:t>                          Let’s see if we can come up </a:t>
            </a:r>
          </a:p>
          <a:p>
            <a:r>
              <a:rPr lang="en-US" altLang="zh-TW" dirty="0" smtClean="0"/>
              <a:t>                           a close solution from your </a:t>
            </a:r>
          </a:p>
          <a:p>
            <a:r>
              <a:rPr lang="en-US" altLang="zh-TW" dirty="0" smtClean="0"/>
              <a:t>                           wisdom using what you </a:t>
            </a:r>
          </a:p>
          <a:p>
            <a:r>
              <a:rPr lang="en-US" altLang="zh-TW" dirty="0" smtClean="0"/>
              <a:t>                           have learn in class. (hint. </a:t>
            </a:r>
            <a:br>
              <a:rPr lang="en-US" altLang="zh-TW" dirty="0" smtClean="0"/>
            </a:br>
            <a:r>
              <a:rPr lang="en-US" altLang="zh-TW" dirty="0" smtClean="0"/>
              <a:t>                            The abstract technique)</a:t>
            </a:r>
          </a:p>
          <a:p>
            <a:endParaRPr lang="zh-TW" altLang="en-US" dirty="0"/>
          </a:p>
        </p:txBody>
      </p:sp>
      <p:pic>
        <p:nvPicPr>
          <p:cNvPr id="28674" name="Picture 2" descr="http://www.web07.cn/uploads/Shejituku/c101201/1291163391260-24Y0.jpg"/>
          <p:cNvPicPr>
            <a:picLocks noChangeAspect="1" noChangeArrowheads="1"/>
          </p:cNvPicPr>
          <p:nvPr/>
        </p:nvPicPr>
        <p:blipFill>
          <a:blip r:embed="rId2" cstate="print"/>
          <a:srcRect/>
          <a:stretch>
            <a:fillRect/>
          </a:stretch>
        </p:blipFill>
        <p:spPr bwMode="auto">
          <a:xfrm>
            <a:off x="467544" y="2996952"/>
            <a:ext cx="4464496" cy="3348372"/>
          </a:xfrm>
          <a:prstGeom prst="rect">
            <a:avLst/>
          </a:prstGeom>
          <a:noFill/>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12</a:t>
            </a:fld>
            <a:endParaRPr lang="zh-TW"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MVC – model view control</a:t>
            </a:r>
            <a:endParaRPr lang="zh-TW" altLang="en-US" dirty="0"/>
          </a:p>
        </p:txBody>
      </p:sp>
      <p:sp>
        <p:nvSpPr>
          <p:cNvPr id="3" name="內容版面配置區 2"/>
          <p:cNvSpPr>
            <a:spLocks noGrp="1"/>
          </p:cNvSpPr>
          <p:nvPr>
            <p:ph idx="1"/>
          </p:nvPr>
        </p:nvSpPr>
        <p:spPr/>
        <p:txBody>
          <a:bodyPr/>
          <a:lstStyle/>
          <a:p>
            <a:r>
              <a:rPr lang="en-US" altLang="zh-TW" dirty="0" smtClean="0"/>
              <a:t>The king pattern (paradigm, or architecture) </a:t>
            </a:r>
          </a:p>
          <a:p>
            <a:r>
              <a:rPr lang="en-US" altLang="zh-TW" dirty="0" smtClean="0">
                <a:solidFill>
                  <a:srgbClr val="FFFF00"/>
                </a:solidFill>
              </a:rPr>
              <a:t>Model</a:t>
            </a:r>
            <a:r>
              <a:rPr lang="en-US" altLang="zh-TW" dirty="0" smtClean="0"/>
              <a:t> – the computation model (computation logic handler) </a:t>
            </a:r>
          </a:p>
          <a:p>
            <a:r>
              <a:rPr lang="en-US" altLang="zh-TW" dirty="0" smtClean="0">
                <a:solidFill>
                  <a:srgbClr val="FFFF00"/>
                </a:solidFill>
              </a:rPr>
              <a:t>View</a:t>
            </a:r>
            <a:r>
              <a:rPr lang="en-US" altLang="zh-TW" dirty="0" smtClean="0"/>
              <a:t> – the entity that render the data into visualization objects.</a:t>
            </a:r>
          </a:p>
          <a:p>
            <a:r>
              <a:rPr lang="en-US" altLang="zh-TW" dirty="0" smtClean="0">
                <a:solidFill>
                  <a:srgbClr val="FFFF00"/>
                </a:solidFill>
              </a:rPr>
              <a:t>Controller</a:t>
            </a:r>
            <a:r>
              <a:rPr lang="en-US" altLang="zh-TW" dirty="0" smtClean="0"/>
              <a:t> – the entity that deals with user events – interpret  user’s actions and decide how to interact with model </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13</a:t>
            </a:fld>
            <a:endParaRPr lang="zh-TW"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solidFill>
                  <a:srgbClr val="FFFF00"/>
                </a:solidFill>
              </a:rPr>
              <a:t>What the heck is a “</a:t>
            </a:r>
            <a:r>
              <a:rPr lang="en-US" altLang="zh-TW" b="1" dirty="0" smtClean="0">
                <a:solidFill>
                  <a:srgbClr val="FFFF00"/>
                </a:solidFill>
              </a:rPr>
              <a:t>MODEL”</a:t>
            </a:r>
            <a:r>
              <a:rPr lang="en-US" altLang="zh-TW" dirty="0" smtClean="0">
                <a:solidFill>
                  <a:srgbClr val="FFFF00"/>
                </a:solidFill>
              </a:rPr>
              <a:t>?</a:t>
            </a:r>
            <a:endParaRPr lang="zh-TW" altLang="en-US" dirty="0">
              <a:solidFill>
                <a:srgbClr val="FFFF00"/>
              </a:solidFill>
            </a:endParaRPr>
          </a:p>
        </p:txBody>
      </p:sp>
      <p:sp>
        <p:nvSpPr>
          <p:cNvPr id="3" name="內容版面配置區 2"/>
          <p:cNvSpPr>
            <a:spLocks noGrp="1"/>
          </p:cNvSpPr>
          <p:nvPr>
            <p:ph idx="1"/>
          </p:nvPr>
        </p:nvSpPr>
        <p:spPr/>
        <p:txBody>
          <a:bodyPr/>
          <a:lstStyle/>
          <a:p>
            <a:r>
              <a:rPr lang="en-US" altLang="zh-TW" dirty="0" smtClean="0"/>
              <a:t>Recall the data object in the weather forecast app in Observer design pattern?</a:t>
            </a:r>
          </a:p>
          <a:p>
            <a:r>
              <a:rPr lang="en-US" altLang="zh-TW" dirty="0" smtClean="0"/>
              <a:t>Not a very precise term. Often has specific meaning depending on the domain </a:t>
            </a:r>
            <a:r>
              <a:rPr lang="en-US" altLang="zh-TW" smtClean="0"/>
              <a:t>and context.</a:t>
            </a:r>
            <a:endParaRPr lang="en-US" altLang="zh-TW" dirty="0" smtClean="0"/>
          </a:p>
          <a:p>
            <a:r>
              <a:rPr lang="en-US" altLang="zh-TW" dirty="0" smtClean="0"/>
              <a:t>Let’s look at what is a “data model” in visualization in Visualization research.</a:t>
            </a:r>
          </a:p>
          <a:p>
            <a:r>
              <a:rPr lang="en-US" altLang="zh-TW" dirty="0" smtClean="0"/>
              <a:t>The model here include additional methods to change and control the set of </a:t>
            </a:r>
            <a:r>
              <a:rPr lang="en-US" altLang="zh-TW" dirty="0" err="1" smtClean="0"/>
              <a:t>of</a:t>
            </a:r>
            <a:r>
              <a:rPr lang="en-US" altLang="zh-TW" dirty="0" smtClean="0"/>
              <a:t> the data.</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14</a:t>
            </a:fld>
            <a:endParaRPr lang="zh-TW" altLang="en-US"/>
          </a:p>
        </p:txBody>
      </p:sp>
    </p:spTree>
    <p:extLst>
      <p:ext uri="{BB962C8B-B14F-4D97-AF65-F5344CB8AC3E}">
        <p14:creationId xmlns:p14="http://schemas.microsoft.com/office/powerpoint/2010/main" val="2592561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5602" name="Picture 2"/>
          <p:cNvPicPr>
            <a:picLocks noChangeAspect="1" noChangeArrowheads="1"/>
          </p:cNvPicPr>
          <p:nvPr/>
        </p:nvPicPr>
        <p:blipFill>
          <a:blip r:embed="rId2" cstate="print"/>
          <a:srcRect/>
          <a:stretch>
            <a:fillRect/>
          </a:stretch>
        </p:blipFill>
        <p:spPr bwMode="auto">
          <a:xfrm>
            <a:off x="0" y="9525"/>
            <a:ext cx="9686925" cy="683895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15</a:t>
            </a:fld>
            <a:endParaRPr lang="zh-TW"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8434" name="Picture 2"/>
          <p:cNvPicPr>
            <a:picLocks noChangeAspect="1" noChangeArrowheads="1"/>
          </p:cNvPicPr>
          <p:nvPr/>
        </p:nvPicPr>
        <p:blipFill>
          <a:blip r:embed="rId2" cstate="print"/>
          <a:srcRect/>
          <a:stretch>
            <a:fillRect/>
          </a:stretch>
        </p:blipFill>
        <p:spPr bwMode="auto">
          <a:xfrm>
            <a:off x="-1" y="0"/>
            <a:ext cx="9174695" cy="685800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16</a:t>
            </a:fld>
            <a:endParaRPr lang="zh-TW"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9458" name="Picture 2"/>
          <p:cNvPicPr>
            <a:picLocks noChangeAspect="1" noChangeArrowheads="1"/>
          </p:cNvPicPr>
          <p:nvPr/>
        </p:nvPicPr>
        <p:blipFill>
          <a:blip r:embed="rId2" cstate="print"/>
          <a:srcRect/>
          <a:stretch>
            <a:fillRect/>
          </a:stretch>
        </p:blipFill>
        <p:spPr bwMode="auto">
          <a:xfrm>
            <a:off x="-1" y="0"/>
            <a:ext cx="9278567" cy="685800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17</a:t>
            </a:fld>
            <a:endParaRPr lang="zh-TW"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9698" name="Picture 2"/>
          <p:cNvPicPr>
            <a:picLocks noChangeAspect="1" noChangeArrowheads="1"/>
          </p:cNvPicPr>
          <p:nvPr/>
        </p:nvPicPr>
        <p:blipFill>
          <a:blip r:embed="rId2" cstate="print"/>
          <a:srcRect/>
          <a:stretch>
            <a:fillRect/>
          </a:stretch>
        </p:blipFill>
        <p:spPr bwMode="auto">
          <a:xfrm>
            <a:off x="0" y="0"/>
            <a:ext cx="9144000" cy="684451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18</a:t>
            </a:fld>
            <a:endParaRPr lang="zh-TW"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049" name="Picture 1"/>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19</a:t>
            </a:fld>
            <a:endParaRPr lang="zh-TW"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30722" name="Picture 2"/>
          <p:cNvPicPr>
            <a:picLocks noChangeAspect="1" noChangeArrowheads="1"/>
          </p:cNvPicPr>
          <p:nvPr/>
        </p:nvPicPr>
        <p:blipFill>
          <a:blip r:embed="rId2" cstate="print"/>
          <a:srcRect/>
          <a:stretch>
            <a:fillRect/>
          </a:stretch>
        </p:blipFill>
        <p:spPr bwMode="auto">
          <a:xfrm>
            <a:off x="539552" y="1556792"/>
            <a:ext cx="8208912" cy="5043896"/>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20</a:t>
            </a:fld>
            <a:endParaRPr lang="zh-TW"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31746"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21</a:t>
            </a:fld>
            <a:endParaRPr lang="zh-TW"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More detailed explanation</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2770" name="Picture 2"/>
          <p:cNvPicPr>
            <a:picLocks noChangeAspect="1" noChangeArrowheads="1"/>
          </p:cNvPicPr>
          <p:nvPr/>
        </p:nvPicPr>
        <p:blipFill>
          <a:blip r:embed="rId2" cstate="print"/>
          <a:srcRect/>
          <a:stretch>
            <a:fillRect/>
          </a:stretch>
        </p:blipFill>
        <p:spPr bwMode="auto">
          <a:xfrm>
            <a:off x="611560" y="1700808"/>
            <a:ext cx="8118902" cy="396044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22</a:t>
            </a:fld>
            <a:endParaRPr lang="zh-TW"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2800" dirty="0" smtClean="0"/>
              <a:t>Controller interprets the GUI events, which can be changed</a:t>
            </a:r>
            <a:endParaRPr lang="zh-TW" altLang="en-US" sz="2800" dirty="0"/>
          </a:p>
        </p:txBody>
      </p:sp>
      <p:sp>
        <p:nvSpPr>
          <p:cNvPr id="3" name="內容版面配置區 2"/>
          <p:cNvSpPr>
            <a:spLocks noGrp="1"/>
          </p:cNvSpPr>
          <p:nvPr>
            <p:ph idx="1"/>
          </p:nvPr>
        </p:nvSpPr>
        <p:spPr/>
        <p:txBody>
          <a:bodyPr/>
          <a:lstStyle/>
          <a:p>
            <a:endParaRPr lang="zh-TW" altLang="en-US"/>
          </a:p>
        </p:txBody>
      </p:sp>
      <p:pic>
        <p:nvPicPr>
          <p:cNvPr id="33794" name="Picture 2"/>
          <p:cNvPicPr>
            <a:picLocks noChangeAspect="1" noChangeArrowheads="1"/>
          </p:cNvPicPr>
          <p:nvPr/>
        </p:nvPicPr>
        <p:blipFill>
          <a:blip r:embed="rId2" cstate="print"/>
          <a:srcRect/>
          <a:stretch>
            <a:fillRect/>
          </a:stretch>
        </p:blipFill>
        <p:spPr bwMode="auto">
          <a:xfrm>
            <a:off x="395536" y="1988840"/>
            <a:ext cx="8355645" cy="360040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23</a:t>
            </a:fld>
            <a:endParaRPr lang="zh-TW"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View is responsible for painting the view</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9938" name="Picture 2"/>
          <p:cNvPicPr>
            <a:picLocks noChangeAspect="1" noChangeArrowheads="1"/>
          </p:cNvPicPr>
          <p:nvPr/>
        </p:nvPicPr>
        <p:blipFill>
          <a:blip r:embed="rId2" cstate="print"/>
          <a:srcRect/>
          <a:stretch>
            <a:fillRect/>
          </a:stretch>
        </p:blipFill>
        <p:spPr bwMode="auto">
          <a:xfrm>
            <a:off x="374908" y="2420888"/>
            <a:ext cx="7869500" cy="2808312"/>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24</a:t>
            </a:fld>
            <a:endParaRPr lang="zh-TW"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When do you want to change a controller?</a:t>
            </a:r>
            <a:endParaRPr lang="zh-TW" altLang="en-US" dirty="0"/>
          </a:p>
        </p:txBody>
      </p:sp>
      <p:sp>
        <p:nvSpPr>
          <p:cNvPr id="3" name="內容版面配置區 2"/>
          <p:cNvSpPr>
            <a:spLocks noGrp="1"/>
          </p:cNvSpPr>
          <p:nvPr>
            <p:ph idx="1"/>
          </p:nvPr>
        </p:nvSpPr>
        <p:spPr>
          <a:xfrm>
            <a:off x="5220072" y="1981200"/>
            <a:ext cx="3466728" cy="4114799"/>
          </a:xfrm>
        </p:spPr>
        <p:txBody>
          <a:bodyPr>
            <a:normAutofit fontScale="92500" lnSpcReduction="20000"/>
          </a:bodyPr>
          <a:lstStyle/>
          <a:p>
            <a:r>
              <a:rPr lang="en-US" altLang="zh-TW" dirty="0" smtClean="0"/>
              <a:t>Example 1:</a:t>
            </a:r>
          </a:p>
          <a:p>
            <a:pPr>
              <a:buNone/>
            </a:pPr>
            <a:r>
              <a:rPr lang="en-US" altLang="zh-TW" dirty="0" smtClean="0"/>
              <a:t>	When you drag the mouse with right mouse button, the camera is rotate by the difference you drag.</a:t>
            </a:r>
          </a:p>
          <a:p>
            <a:pPr>
              <a:buNone/>
            </a:pPr>
            <a:r>
              <a:rPr lang="en-US" altLang="zh-TW" dirty="0" smtClean="0"/>
              <a:t>However, after </a:t>
            </a:r>
            <a:r>
              <a:rPr lang="en-US" altLang="zh-TW" b="1" dirty="0" smtClean="0">
                <a:solidFill>
                  <a:srgbClr val="FFFF00"/>
                </a:solidFill>
              </a:rPr>
              <a:t>usability test</a:t>
            </a:r>
            <a:r>
              <a:rPr lang="en-US" altLang="zh-TW" dirty="0" smtClean="0"/>
              <a:t>, You found users are usually not good at right button and mouse scroll button. They found it difficult to use</a:t>
            </a:r>
          </a:p>
          <a:p>
            <a:pPr>
              <a:buNone/>
            </a:pPr>
            <a:r>
              <a:rPr lang="en-US" altLang="zh-TW" dirty="0" smtClean="0"/>
              <a:t>      </a:t>
            </a:r>
            <a:endParaRPr lang="zh-TW" altLang="en-US" dirty="0"/>
          </a:p>
        </p:txBody>
      </p:sp>
      <p:pic>
        <p:nvPicPr>
          <p:cNvPr id="34818" name="Picture 2" descr="http://download.chip.asia/ii/217267871_4ac181295c.jpg"/>
          <p:cNvPicPr>
            <a:picLocks noChangeAspect="1" noChangeArrowheads="1"/>
          </p:cNvPicPr>
          <p:nvPr/>
        </p:nvPicPr>
        <p:blipFill>
          <a:blip r:embed="rId2" cstate="print"/>
          <a:srcRect/>
          <a:stretch>
            <a:fillRect/>
          </a:stretch>
        </p:blipFill>
        <p:spPr bwMode="auto">
          <a:xfrm>
            <a:off x="251520" y="2276872"/>
            <a:ext cx="4655840" cy="3491880"/>
          </a:xfrm>
          <a:prstGeom prst="rect">
            <a:avLst/>
          </a:prstGeom>
          <a:noFill/>
        </p:spPr>
      </p:pic>
      <p:sp>
        <p:nvSpPr>
          <p:cNvPr id="5" name="文字方塊 4"/>
          <p:cNvSpPr txBox="1"/>
          <p:nvPr/>
        </p:nvSpPr>
        <p:spPr>
          <a:xfrm>
            <a:off x="1475656" y="1988840"/>
            <a:ext cx="1491114" cy="369332"/>
          </a:xfrm>
          <a:prstGeom prst="rect">
            <a:avLst/>
          </a:prstGeom>
          <a:noFill/>
        </p:spPr>
        <p:txBody>
          <a:bodyPr wrap="none" rtlCol="0">
            <a:spAutoFit/>
          </a:bodyPr>
          <a:lstStyle/>
          <a:p>
            <a:r>
              <a:rPr lang="en-US" altLang="zh-TW" b="1" dirty="0" smtClean="0">
                <a:solidFill>
                  <a:srgbClr val="FFFF00"/>
                </a:solidFill>
              </a:rPr>
              <a:t>Second Life</a:t>
            </a:r>
            <a:endParaRPr lang="zh-TW" altLang="en-US" b="1" dirty="0">
              <a:solidFill>
                <a:srgbClr val="FFFF00"/>
              </a:solidFill>
            </a:endParaRP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25</a:t>
            </a:fld>
            <a:endParaRPr lang="zh-TW"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It’s time to change controller</a:t>
            </a:r>
            <a:endParaRPr lang="zh-TW" altLang="en-US" dirty="0"/>
          </a:p>
        </p:txBody>
      </p:sp>
      <p:sp>
        <p:nvSpPr>
          <p:cNvPr id="3" name="內容版面配置區 2"/>
          <p:cNvSpPr>
            <a:spLocks noGrp="1"/>
          </p:cNvSpPr>
          <p:nvPr>
            <p:ph idx="1"/>
          </p:nvPr>
        </p:nvSpPr>
        <p:spPr>
          <a:xfrm>
            <a:off x="5364088" y="1981200"/>
            <a:ext cx="3322712" cy="4114799"/>
          </a:xfrm>
        </p:spPr>
        <p:txBody>
          <a:bodyPr/>
          <a:lstStyle/>
          <a:p>
            <a:r>
              <a:rPr lang="en-US" altLang="zh-TW" dirty="0" smtClean="0"/>
              <a:t>So, your UI need to redesign</a:t>
            </a:r>
          </a:p>
          <a:p>
            <a:pPr lvl="1"/>
            <a:r>
              <a:rPr lang="en-US" altLang="zh-TW" dirty="0" smtClean="0"/>
              <a:t>you want to get rid of right mouse button</a:t>
            </a:r>
          </a:p>
          <a:p>
            <a:pPr lvl="1">
              <a:buNone/>
            </a:pPr>
            <a:endParaRPr lang="zh-TW" altLang="en-US" dirty="0"/>
          </a:p>
        </p:txBody>
      </p:sp>
      <p:pic>
        <p:nvPicPr>
          <p:cNvPr id="1026" name="Picture 2" descr="http://www.goldicq.com/up_files/image/Article/2011/02/17/76271121.jpg"/>
          <p:cNvPicPr>
            <a:picLocks noChangeAspect="1" noChangeArrowheads="1"/>
          </p:cNvPicPr>
          <p:nvPr/>
        </p:nvPicPr>
        <p:blipFill>
          <a:blip r:embed="rId2" cstate="print"/>
          <a:srcRect/>
          <a:stretch>
            <a:fillRect/>
          </a:stretch>
        </p:blipFill>
        <p:spPr bwMode="auto">
          <a:xfrm>
            <a:off x="179512" y="1916833"/>
            <a:ext cx="5111838" cy="4104456"/>
          </a:xfrm>
          <a:prstGeom prst="rect">
            <a:avLst/>
          </a:prstGeom>
          <a:noFill/>
        </p:spPr>
      </p:pic>
      <p:sp>
        <p:nvSpPr>
          <p:cNvPr id="5" name="文字方塊 4"/>
          <p:cNvSpPr txBox="1"/>
          <p:nvPr/>
        </p:nvSpPr>
        <p:spPr>
          <a:xfrm>
            <a:off x="1403648" y="1556792"/>
            <a:ext cx="1491114" cy="369332"/>
          </a:xfrm>
          <a:prstGeom prst="rect">
            <a:avLst/>
          </a:prstGeom>
          <a:noFill/>
        </p:spPr>
        <p:txBody>
          <a:bodyPr wrap="none" rtlCol="0">
            <a:spAutoFit/>
          </a:bodyPr>
          <a:lstStyle/>
          <a:p>
            <a:r>
              <a:rPr lang="en-US" altLang="zh-TW" b="1" dirty="0" smtClean="0">
                <a:solidFill>
                  <a:srgbClr val="FFFF00"/>
                </a:solidFill>
              </a:rPr>
              <a:t>Second Life</a:t>
            </a:r>
            <a:endParaRPr lang="zh-TW" altLang="en-US" b="1" dirty="0">
              <a:solidFill>
                <a:srgbClr val="FFFF00"/>
              </a:solidFill>
            </a:endParaRPr>
          </a:p>
        </p:txBody>
      </p:sp>
      <p:pic>
        <p:nvPicPr>
          <p:cNvPr id="18434" name="Picture 2" descr="http://dreamha.com/secondlife/scene/7_00211.PNG"/>
          <p:cNvPicPr>
            <a:picLocks noChangeAspect="1" noChangeArrowheads="1"/>
          </p:cNvPicPr>
          <p:nvPr/>
        </p:nvPicPr>
        <p:blipFill>
          <a:blip r:embed="rId3" cstate="print"/>
          <a:srcRect/>
          <a:stretch>
            <a:fillRect/>
          </a:stretch>
        </p:blipFill>
        <p:spPr bwMode="auto">
          <a:xfrm>
            <a:off x="179512" y="2348880"/>
            <a:ext cx="5184576" cy="3958209"/>
          </a:xfrm>
          <a:prstGeom prst="rect">
            <a:avLst/>
          </a:prstGeom>
          <a:noFill/>
        </p:spPr>
      </p:pic>
      <p:sp>
        <p:nvSpPr>
          <p:cNvPr id="7" name="投影片編號版面配置區 6"/>
          <p:cNvSpPr>
            <a:spLocks noGrp="1"/>
          </p:cNvSpPr>
          <p:nvPr>
            <p:ph type="sldNum" sz="quarter" idx="12"/>
          </p:nvPr>
        </p:nvSpPr>
        <p:spPr/>
        <p:txBody>
          <a:bodyPr/>
          <a:lstStyle/>
          <a:p>
            <a:fld id="{73DA0BB7-265A-403C-9275-D587AB510EDC}" type="slidenum">
              <a:rPr lang="zh-TW" altLang="en-US" smtClean="0"/>
              <a:pPr/>
              <a:t>26</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2000"/>
                                        <p:tgtEl>
                                          <p:spTgt spid="18434"/>
                                        </p:tgtEl>
                                      </p:cBhvr>
                                    </p:animEffect>
                                    <p:anim calcmode="lin" valueType="num">
                                      <p:cBhvr>
                                        <p:cTn id="8" dur="2000" fill="hold"/>
                                        <p:tgtEl>
                                          <p:spTgt spid="18434"/>
                                        </p:tgtEl>
                                        <p:attrNameLst>
                                          <p:attrName>style.rotation</p:attrName>
                                        </p:attrNameLst>
                                      </p:cBhvr>
                                      <p:tavLst>
                                        <p:tav tm="0">
                                          <p:val>
                                            <p:fltVal val="720"/>
                                          </p:val>
                                        </p:tav>
                                        <p:tav tm="100000">
                                          <p:val>
                                            <p:fltVal val="0"/>
                                          </p:val>
                                        </p:tav>
                                      </p:tavLst>
                                    </p:anim>
                                    <p:anim calcmode="lin" valueType="num">
                                      <p:cBhvr>
                                        <p:cTn id="9" dur="2000" fill="hold"/>
                                        <p:tgtEl>
                                          <p:spTgt spid="18434"/>
                                        </p:tgtEl>
                                        <p:attrNameLst>
                                          <p:attrName>ppt_h</p:attrName>
                                        </p:attrNameLst>
                                      </p:cBhvr>
                                      <p:tavLst>
                                        <p:tav tm="0">
                                          <p:val>
                                            <p:fltVal val="0"/>
                                          </p:val>
                                        </p:tav>
                                        <p:tav tm="100000">
                                          <p:val>
                                            <p:strVal val="#ppt_h"/>
                                          </p:val>
                                        </p:tav>
                                      </p:tavLst>
                                    </p:anim>
                                    <p:anim calcmode="lin" valueType="num">
                                      <p:cBhvr>
                                        <p:cTn id="10" dur="2000" fill="hold"/>
                                        <p:tgtEl>
                                          <p:spTgt spid="1843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ctrTitle" sz="quarter"/>
          </p:nvPr>
        </p:nvSpPr>
        <p:spPr/>
        <p:txBody>
          <a:bodyPr/>
          <a:lstStyle/>
          <a:p>
            <a:pPr eaLnBrk="1" hangingPunct="1">
              <a:defRPr/>
            </a:pPr>
            <a:r>
              <a:rPr lang="en-US" altLang="zh-TW" dirty="0" smtClean="0"/>
              <a:t>What is Usability Test ?</a:t>
            </a:r>
            <a:endParaRPr lang="zh-TW" altLang="en-US" dirty="0" smtClean="0"/>
          </a:p>
        </p:txBody>
      </p:sp>
      <p:sp>
        <p:nvSpPr>
          <p:cNvPr id="6" name="副標題 5"/>
          <p:cNvSpPr>
            <a:spLocks noGrp="1"/>
          </p:cNvSpPr>
          <p:nvPr>
            <p:ph type="subTitle" sz="quarter" idx="1"/>
          </p:nvPr>
        </p:nvSpPr>
        <p:spPr/>
        <p:txBody>
          <a:bodyPr/>
          <a:lstStyle/>
          <a:p>
            <a:pPr eaLnBrk="1" hangingPunct="1">
              <a:defRPr/>
            </a:pPr>
            <a:endParaRPr lang="zh-TW" altLang="en-US" smtClean="0"/>
          </a:p>
        </p:txBody>
      </p:sp>
      <p:sp>
        <p:nvSpPr>
          <p:cNvPr id="4" name="投影片編號版面配置區 3"/>
          <p:cNvSpPr>
            <a:spLocks noGrp="1"/>
          </p:cNvSpPr>
          <p:nvPr>
            <p:ph type="sldNum" sz="quarter" idx="12"/>
          </p:nvPr>
        </p:nvSpPr>
        <p:spPr/>
        <p:txBody>
          <a:bodyPr/>
          <a:lstStyle/>
          <a:p>
            <a:pPr>
              <a:defRPr/>
            </a:pPr>
            <a:fld id="{47B1F09C-8F43-4748-9FF1-11E36BEBA578}" type="slidenum">
              <a:rPr lang="en-US" altLang="zh-TW"/>
              <a:pPr>
                <a:defRPr/>
              </a:pPr>
              <a:t>27</a:t>
            </a:fld>
            <a:endParaRPr lang="en-US" altLang="zh-TW"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699792" y="188640"/>
            <a:ext cx="6172200" cy="1143000"/>
          </a:xfrm>
        </p:spPr>
        <p:txBody>
          <a:bodyPr/>
          <a:lstStyle/>
          <a:p>
            <a:pPr eaLnBrk="1" hangingPunct="1">
              <a:defRPr/>
            </a:pPr>
            <a:r>
              <a:rPr lang="en-US" altLang="zh-TW" dirty="0" smtClean="0"/>
              <a:t>Some facts</a:t>
            </a:r>
            <a:endParaRPr lang="zh-TW" altLang="en-US" dirty="0" smtClean="0"/>
          </a:p>
        </p:txBody>
      </p:sp>
      <p:sp>
        <p:nvSpPr>
          <p:cNvPr id="3" name="內容版面配置區 2"/>
          <p:cNvSpPr>
            <a:spLocks noGrp="1"/>
          </p:cNvSpPr>
          <p:nvPr>
            <p:ph idx="1"/>
          </p:nvPr>
        </p:nvSpPr>
        <p:spPr>
          <a:xfrm>
            <a:off x="457200" y="1371600"/>
            <a:ext cx="8229600" cy="4530725"/>
          </a:xfrm>
        </p:spPr>
        <p:txBody>
          <a:bodyPr>
            <a:normAutofit fontScale="92500" lnSpcReduction="10000"/>
          </a:bodyPr>
          <a:lstStyle/>
          <a:p>
            <a:pPr eaLnBrk="1" hangingPunct="1">
              <a:defRPr/>
            </a:pPr>
            <a:r>
              <a:rPr lang="en-US" altLang="zh-TW" sz="2800" dirty="0" smtClean="0"/>
              <a:t>Most  programmers do not possess the knowledge in UI design</a:t>
            </a:r>
          </a:p>
          <a:p>
            <a:pPr eaLnBrk="1" hangingPunct="1">
              <a:defRPr/>
            </a:pPr>
            <a:r>
              <a:rPr lang="en-US" altLang="zh-TW" sz="2800" dirty="0" smtClean="0"/>
              <a:t>Programmers often think UI is not a difficult part, which is wrong in practice, especially in commercial products</a:t>
            </a:r>
          </a:p>
          <a:p>
            <a:pPr eaLnBrk="1" hangingPunct="1">
              <a:defRPr/>
            </a:pPr>
            <a:r>
              <a:rPr lang="en-US" altLang="zh-TW" sz="2800" dirty="0" smtClean="0"/>
              <a:t>Change UI design (e.g., making UI more friendly) often means writing a lot more code, which is not expected.</a:t>
            </a:r>
          </a:p>
          <a:p>
            <a:pPr eaLnBrk="1" hangingPunct="1">
              <a:defRPr/>
            </a:pPr>
            <a:r>
              <a:rPr lang="en-US" altLang="zh-TW" sz="2800" dirty="0" smtClean="0"/>
              <a:t>Programming tasks are often </a:t>
            </a:r>
            <a:r>
              <a:rPr lang="en-US" altLang="zh-TW" sz="2800" dirty="0" smtClean="0">
                <a:solidFill>
                  <a:srgbClr val="FFC000"/>
                </a:solidFill>
              </a:rPr>
              <a:t>spec-oriented</a:t>
            </a:r>
            <a:r>
              <a:rPr lang="en-US" altLang="zh-TW" sz="2800" dirty="0" smtClean="0"/>
              <a:t>, not user oriented.</a:t>
            </a:r>
          </a:p>
          <a:p>
            <a:pPr eaLnBrk="1" hangingPunct="1">
              <a:defRPr/>
            </a:pPr>
            <a:endParaRPr lang="en-US" altLang="zh-TW" sz="2800" dirty="0" smtClean="0"/>
          </a:p>
          <a:p>
            <a:pPr eaLnBrk="1" hangingPunct="1">
              <a:defRPr/>
            </a:pPr>
            <a:endParaRPr lang="en-US" altLang="zh-TW" sz="2800" dirty="0" smtClean="0"/>
          </a:p>
          <a:p>
            <a:pPr eaLnBrk="1" hangingPunct="1">
              <a:defRPr/>
            </a:pPr>
            <a:endParaRPr lang="en-US" altLang="zh-TW" sz="2800" dirty="0" smtClean="0"/>
          </a:p>
          <a:p>
            <a:pPr eaLnBrk="1" hangingPunct="1">
              <a:defRPr/>
            </a:pPr>
            <a:endParaRPr lang="zh-TW" altLang="en-US" sz="2800" dirty="0" smtClean="0"/>
          </a:p>
        </p:txBody>
      </p:sp>
      <p:sp>
        <p:nvSpPr>
          <p:cNvPr id="4" name="投影片編號版面配置區 3"/>
          <p:cNvSpPr>
            <a:spLocks noGrp="1"/>
          </p:cNvSpPr>
          <p:nvPr>
            <p:ph type="sldNum" sz="quarter" idx="11"/>
          </p:nvPr>
        </p:nvSpPr>
        <p:spPr/>
        <p:txBody>
          <a:bodyPr/>
          <a:lstStyle/>
          <a:p>
            <a:pPr>
              <a:defRPr/>
            </a:pPr>
            <a:fld id="{056335A2-C3DC-4A8E-886E-F3A796770762}" type="slidenum">
              <a:rPr lang="en-US" altLang="zh-TW"/>
              <a:pPr>
                <a:defRPr/>
              </a:pPr>
              <a:t>28</a:t>
            </a:fld>
            <a:endParaRPr lang="en-US" altLang="zh-TW"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hangingPunct="1">
              <a:defRPr/>
            </a:pPr>
            <a:endParaRPr lang="zh-TW" altLang="en-US" dirty="0" smtClean="0"/>
          </a:p>
        </p:txBody>
      </p:sp>
      <p:sp>
        <p:nvSpPr>
          <p:cNvPr id="3" name="內容版面配置區 2"/>
          <p:cNvSpPr>
            <a:spLocks noGrp="1"/>
          </p:cNvSpPr>
          <p:nvPr>
            <p:ph idx="1"/>
          </p:nvPr>
        </p:nvSpPr>
        <p:spPr/>
        <p:txBody>
          <a:bodyPr/>
          <a:lstStyle/>
          <a:p>
            <a:pPr eaLnBrk="1" hangingPunct="1">
              <a:defRPr/>
            </a:pPr>
            <a:endParaRPr lang="zh-TW" altLang="en-US" smtClean="0"/>
          </a:p>
        </p:txBody>
      </p:sp>
      <p:sp>
        <p:nvSpPr>
          <p:cNvPr id="4" name="投影片編號版面配置區 3"/>
          <p:cNvSpPr>
            <a:spLocks noGrp="1"/>
          </p:cNvSpPr>
          <p:nvPr>
            <p:ph type="sldNum" sz="quarter" idx="11"/>
          </p:nvPr>
        </p:nvSpPr>
        <p:spPr/>
        <p:txBody>
          <a:bodyPr/>
          <a:lstStyle/>
          <a:p>
            <a:pPr>
              <a:defRPr/>
            </a:pPr>
            <a:fld id="{33DBC650-6396-464C-8FA0-C6FB76862EF4}" type="slidenum">
              <a:rPr lang="en-US" altLang="zh-TW"/>
              <a:pPr>
                <a:defRPr/>
              </a:pPr>
              <a:t>29</a:t>
            </a:fld>
            <a:endParaRPr lang="en-US" altLang="zh-TW"/>
          </a:p>
        </p:txBody>
      </p:sp>
      <p:pic>
        <p:nvPicPr>
          <p:cNvPr id="44037" name="Picture 2" descr="http://www.berryreview.com/wp-content/uploads/2007/09/iphone.gif"/>
          <p:cNvPicPr>
            <a:picLocks noChangeAspect="1" noChangeArrowheads="1"/>
          </p:cNvPicPr>
          <p:nvPr/>
        </p:nvPicPr>
        <p:blipFill>
          <a:blip r:embed="rId2" cstate="print"/>
          <a:srcRect/>
          <a:stretch>
            <a:fillRect/>
          </a:stretch>
        </p:blipFill>
        <p:spPr bwMode="auto">
          <a:xfrm>
            <a:off x="152400" y="1524000"/>
            <a:ext cx="8662988" cy="502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339752" y="0"/>
            <a:ext cx="6172200" cy="1143000"/>
          </a:xfrm>
        </p:spPr>
        <p:txBody>
          <a:bodyPr/>
          <a:lstStyle/>
          <a:p>
            <a:pPr eaLnBrk="1" hangingPunct="1">
              <a:defRPr/>
            </a:pPr>
            <a:r>
              <a:rPr lang="en-US" altLang="zh-TW" dirty="0" smtClean="0"/>
              <a:t>The failed story</a:t>
            </a:r>
            <a:endParaRPr lang="zh-TW" altLang="en-US" dirty="0" smtClean="0"/>
          </a:p>
        </p:txBody>
      </p:sp>
      <p:sp>
        <p:nvSpPr>
          <p:cNvPr id="3" name="內容版面配置區 2"/>
          <p:cNvSpPr>
            <a:spLocks noGrp="1"/>
          </p:cNvSpPr>
          <p:nvPr>
            <p:ph idx="1"/>
          </p:nvPr>
        </p:nvSpPr>
        <p:spPr/>
        <p:txBody>
          <a:bodyPr/>
          <a:lstStyle/>
          <a:p>
            <a:pPr eaLnBrk="1" hangingPunct="1">
              <a:defRPr/>
            </a:pPr>
            <a:endParaRPr lang="zh-TW" altLang="en-US" smtClean="0"/>
          </a:p>
        </p:txBody>
      </p:sp>
      <p:sp>
        <p:nvSpPr>
          <p:cNvPr id="4" name="投影片編號版面配置區 3"/>
          <p:cNvSpPr>
            <a:spLocks noGrp="1"/>
          </p:cNvSpPr>
          <p:nvPr>
            <p:ph type="sldNum" sz="quarter" idx="11"/>
          </p:nvPr>
        </p:nvSpPr>
        <p:spPr/>
        <p:txBody>
          <a:bodyPr/>
          <a:lstStyle/>
          <a:p>
            <a:pPr>
              <a:defRPr/>
            </a:pPr>
            <a:fld id="{F8AC9BFE-9D84-44F9-A5AD-4DD819A1D7A7}" type="slidenum">
              <a:rPr lang="en-US" altLang="zh-TW"/>
              <a:pPr>
                <a:defRPr/>
              </a:pPr>
              <a:t>30</a:t>
            </a:fld>
            <a:endParaRPr lang="en-US" altLang="zh-TW"/>
          </a:p>
        </p:txBody>
      </p:sp>
      <p:pic>
        <p:nvPicPr>
          <p:cNvPr id="45061" name="Picture 2" descr="http://img.eprice.com.tw/img/news/4329/1.jpg"/>
          <p:cNvPicPr>
            <a:picLocks noChangeAspect="1" noChangeArrowheads="1"/>
          </p:cNvPicPr>
          <p:nvPr/>
        </p:nvPicPr>
        <p:blipFill>
          <a:blip r:embed="rId2" cstate="print"/>
          <a:srcRect/>
          <a:stretch>
            <a:fillRect/>
          </a:stretch>
        </p:blipFill>
        <p:spPr bwMode="auto">
          <a:xfrm>
            <a:off x="228600" y="1371600"/>
            <a:ext cx="8458200" cy="5262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hangingPunct="1">
              <a:defRPr/>
            </a:pPr>
            <a:r>
              <a:rPr lang="en-US" altLang="zh-TW" dirty="0" smtClean="0"/>
              <a:t>Why Microsoft lost its markets?</a:t>
            </a:r>
            <a:endParaRPr lang="zh-TW" altLang="en-US" dirty="0" smtClean="0"/>
          </a:p>
        </p:txBody>
      </p:sp>
      <p:sp>
        <p:nvSpPr>
          <p:cNvPr id="3" name="內容版面配置區 2"/>
          <p:cNvSpPr>
            <a:spLocks noGrp="1"/>
          </p:cNvSpPr>
          <p:nvPr>
            <p:ph idx="1"/>
          </p:nvPr>
        </p:nvSpPr>
        <p:spPr/>
        <p:txBody>
          <a:bodyPr/>
          <a:lstStyle/>
          <a:p>
            <a:pPr eaLnBrk="1" hangingPunct="1">
              <a:defRPr/>
            </a:pPr>
            <a:r>
              <a:rPr lang="en-US" altLang="zh-TW" dirty="0" smtClean="0"/>
              <a:t>UI</a:t>
            </a:r>
          </a:p>
          <a:p>
            <a:pPr eaLnBrk="1" hangingPunct="1">
              <a:defRPr/>
            </a:pPr>
            <a:r>
              <a:rPr lang="en-US" altLang="zh-TW" dirty="0" smtClean="0"/>
              <a:t>UI</a:t>
            </a:r>
          </a:p>
          <a:p>
            <a:pPr eaLnBrk="1" hangingPunct="1">
              <a:defRPr/>
            </a:pPr>
            <a:r>
              <a:rPr lang="en-US" altLang="zh-TW" dirty="0" smtClean="0"/>
              <a:t>UI</a:t>
            </a:r>
          </a:p>
          <a:p>
            <a:pPr eaLnBrk="1" hangingPunct="1">
              <a:defRPr/>
            </a:pPr>
            <a:r>
              <a:rPr lang="en-US" altLang="zh-TW" dirty="0" smtClean="0"/>
              <a:t>UI</a:t>
            </a:r>
          </a:p>
          <a:p>
            <a:pPr eaLnBrk="1" hangingPunct="1">
              <a:defRPr/>
            </a:pPr>
            <a:r>
              <a:rPr lang="en-US" altLang="zh-TW" dirty="0" smtClean="0"/>
              <a:t>…..</a:t>
            </a:r>
            <a:endParaRPr lang="zh-TW" altLang="en-US" dirty="0" smtClean="0"/>
          </a:p>
        </p:txBody>
      </p:sp>
      <p:sp>
        <p:nvSpPr>
          <p:cNvPr id="4" name="投影片編號版面配置區 3"/>
          <p:cNvSpPr>
            <a:spLocks noGrp="1"/>
          </p:cNvSpPr>
          <p:nvPr>
            <p:ph type="sldNum" sz="quarter" idx="11"/>
          </p:nvPr>
        </p:nvSpPr>
        <p:spPr/>
        <p:txBody>
          <a:bodyPr/>
          <a:lstStyle/>
          <a:p>
            <a:pPr>
              <a:defRPr/>
            </a:pPr>
            <a:fld id="{C22F432F-F4D4-415B-992D-382F723F259C}" type="slidenum">
              <a:rPr lang="en-US" altLang="zh-TW"/>
              <a:pPr>
                <a:defRPr/>
              </a:pPr>
              <a:t>31</a:t>
            </a:fld>
            <a:endParaRPr lang="en-US" altLang="zh-TW"/>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55776" y="0"/>
            <a:ext cx="6172200" cy="1143000"/>
          </a:xfrm>
        </p:spPr>
        <p:txBody>
          <a:bodyPr/>
          <a:lstStyle/>
          <a:p>
            <a:r>
              <a:rPr lang="en-US" altLang="zh-TW" dirty="0" smtClean="0"/>
              <a:t>Powerful tools made for Geeks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8914" name="Picture 2"/>
          <p:cNvPicPr>
            <a:picLocks noChangeAspect="1" noChangeArrowheads="1"/>
          </p:cNvPicPr>
          <p:nvPr/>
        </p:nvPicPr>
        <p:blipFill>
          <a:blip r:embed="rId2" cstate="print"/>
          <a:srcRect/>
          <a:stretch>
            <a:fillRect/>
          </a:stretch>
        </p:blipFill>
        <p:spPr bwMode="auto">
          <a:xfrm>
            <a:off x="755576" y="1268760"/>
            <a:ext cx="4871193" cy="5249391"/>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32</a:t>
            </a:fld>
            <a:endParaRPr lang="zh-TW"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hangingPunct="1">
              <a:defRPr/>
            </a:pPr>
            <a:r>
              <a:rPr lang="en-US" altLang="zh-TW" dirty="0" smtClean="0"/>
              <a:t>Goals of usability tests</a:t>
            </a:r>
            <a:endParaRPr lang="zh-TW" altLang="en-US" dirty="0" smtClean="0"/>
          </a:p>
        </p:txBody>
      </p:sp>
      <p:sp>
        <p:nvSpPr>
          <p:cNvPr id="3" name="內容版面配置區 2"/>
          <p:cNvSpPr>
            <a:spLocks noGrp="1"/>
          </p:cNvSpPr>
          <p:nvPr>
            <p:ph idx="1"/>
          </p:nvPr>
        </p:nvSpPr>
        <p:spPr/>
        <p:txBody>
          <a:bodyPr>
            <a:normAutofit fontScale="70000" lnSpcReduction="20000"/>
          </a:bodyPr>
          <a:lstStyle/>
          <a:p>
            <a:pPr eaLnBrk="1" hangingPunct="1">
              <a:defRPr/>
            </a:pPr>
            <a:r>
              <a:rPr lang="en-US" altLang="zh-TW" sz="2400" i="1" dirty="0" smtClean="0">
                <a:solidFill>
                  <a:srgbClr val="FFC000"/>
                </a:solidFill>
              </a:rPr>
              <a:t>Performance</a:t>
            </a:r>
            <a:r>
              <a:rPr lang="en-US" altLang="zh-TW" sz="2400" dirty="0" smtClean="0"/>
              <a:t> -- How much time, and how many steps, are required for people to complete basic tasks? (For example, find something to buy, create a new account, and order the item.)</a:t>
            </a:r>
          </a:p>
          <a:p>
            <a:pPr eaLnBrk="1" hangingPunct="1">
              <a:defRPr/>
            </a:pPr>
            <a:r>
              <a:rPr lang="en-US" altLang="zh-TW" sz="2400" i="1" dirty="0" smtClean="0">
                <a:solidFill>
                  <a:srgbClr val="FFC000"/>
                </a:solidFill>
              </a:rPr>
              <a:t>Accuracy</a:t>
            </a:r>
            <a:r>
              <a:rPr lang="en-US" altLang="zh-TW" sz="2400" dirty="0" smtClean="0"/>
              <a:t> -- How many mistakes did people make? (And were they fatal or recoverable with the right information?)</a:t>
            </a:r>
          </a:p>
          <a:p>
            <a:pPr eaLnBrk="1" hangingPunct="1">
              <a:defRPr/>
            </a:pPr>
            <a:r>
              <a:rPr lang="en-US" altLang="zh-TW" sz="2400" i="1" dirty="0" smtClean="0">
                <a:solidFill>
                  <a:srgbClr val="FFC000"/>
                </a:solidFill>
              </a:rPr>
              <a:t>Recall</a:t>
            </a:r>
            <a:r>
              <a:rPr lang="en-US" altLang="zh-TW" sz="2400" dirty="0" smtClean="0"/>
              <a:t> -- How much does the person remember afterwards or after periods of non-use?</a:t>
            </a:r>
          </a:p>
          <a:p>
            <a:pPr eaLnBrk="1" hangingPunct="1">
              <a:defRPr/>
            </a:pPr>
            <a:r>
              <a:rPr lang="en-US" altLang="zh-TW" sz="2400" i="1" dirty="0" smtClean="0">
                <a:solidFill>
                  <a:srgbClr val="FFC000"/>
                </a:solidFill>
              </a:rPr>
              <a:t>Emotional response</a:t>
            </a:r>
            <a:r>
              <a:rPr lang="en-US" altLang="zh-TW" sz="2400" dirty="0" smtClean="0">
                <a:solidFill>
                  <a:srgbClr val="FFC000"/>
                </a:solidFill>
              </a:rPr>
              <a:t> </a:t>
            </a:r>
            <a:r>
              <a:rPr lang="en-US" altLang="zh-TW" sz="2400" dirty="0" smtClean="0"/>
              <a:t>-- How does the person feel about the tasks completed? Is the person confident, stressed? Would the user recommend this system to a friend?</a:t>
            </a:r>
          </a:p>
          <a:p>
            <a:pPr eaLnBrk="1" hangingPunct="1">
              <a:defRPr/>
            </a:pPr>
            <a:endParaRPr lang="zh-TW" altLang="en-US" sz="2400" dirty="0" smtClean="0"/>
          </a:p>
        </p:txBody>
      </p:sp>
      <p:sp>
        <p:nvSpPr>
          <p:cNvPr id="4" name="投影片編號版面配置區 3"/>
          <p:cNvSpPr>
            <a:spLocks noGrp="1"/>
          </p:cNvSpPr>
          <p:nvPr>
            <p:ph type="sldNum" sz="quarter" idx="11"/>
          </p:nvPr>
        </p:nvSpPr>
        <p:spPr/>
        <p:txBody>
          <a:bodyPr/>
          <a:lstStyle/>
          <a:p>
            <a:pPr>
              <a:defRPr/>
            </a:pPr>
            <a:fld id="{9C65805C-82DF-4021-9715-B914C7D0AB1C}" type="slidenum">
              <a:rPr lang="en-US" altLang="zh-TW"/>
              <a:pPr>
                <a:defRPr/>
              </a:pPr>
              <a:t>33</a:t>
            </a:fld>
            <a:endParaRPr lang="en-US" altLang="zh-TW"/>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hangingPunct="1">
              <a:defRPr/>
            </a:pPr>
            <a:r>
              <a:rPr lang="en-US" altLang="zh-TW" dirty="0" smtClean="0"/>
              <a:t>Some usability test method</a:t>
            </a:r>
            <a:endParaRPr lang="zh-TW" altLang="en-US" dirty="0" smtClean="0"/>
          </a:p>
        </p:txBody>
      </p:sp>
      <p:sp>
        <p:nvSpPr>
          <p:cNvPr id="3" name="內容版面配置區 2"/>
          <p:cNvSpPr>
            <a:spLocks noGrp="1"/>
          </p:cNvSpPr>
          <p:nvPr>
            <p:ph idx="1"/>
          </p:nvPr>
        </p:nvSpPr>
        <p:spPr/>
        <p:txBody>
          <a:bodyPr>
            <a:normAutofit fontScale="70000" lnSpcReduction="20000"/>
          </a:bodyPr>
          <a:lstStyle/>
          <a:p>
            <a:pPr eaLnBrk="1" hangingPunct="1">
              <a:defRPr/>
            </a:pPr>
            <a:r>
              <a:rPr lang="en-US" altLang="zh-TW" sz="4000" dirty="0" smtClean="0">
                <a:solidFill>
                  <a:srgbClr val="FFC000"/>
                </a:solidFill>
              </a:rPr>
              <a:t>Think aloud protocols </a:t>
            </a:r>
            <a:endParaRPr lang="en-US" altLang="zh-TW" sz="4000" dirty="0" smtClean="0"/>
          </a:p>
          <a:p>
            <a:pPr lvl="1" eaLnBrk="1" hangingPunct="1">
              <a:defRPr/>
            </a:pPr>
            <a:r>
              <a:rPr lang="en-US" altLang="zh-TW" sz="2400" dirty="0" smtClean="0"/>
              <a:t>Users are asked to say whatever they are looking at, thinking, doing, and feeling, as they go about their task. </a:t>
            </a:r>
          </a:p>
          <a:p>
            <a:pPr lvl="1" eaLnBrk="1" hangingPunct="1">
              <a:defRPr/>
            </a:pPr>
            <a:r>
              <a:rPr lang="en-US" altLang="zh-TW" sz="2400" dirty="0" smtClean="0"/>
              <a:t>Observers at such a test are asked to objectively take notes of everything that users say, without attempting to interpret their actions and words. </a:t>
            </a:r>
          </a:p>
          <a:p>
            <a:pPr lvl="1" eaLnBrk="1" hangingPunct="1">
              <a:defRPr/>
            </a:pPr>
            <a:r>
              <a:rPr lang="en-US" altLang="zh-TW" sz="2400" dirty="0" smtClean="0"/>
              <a:t>Test sessions are often audio and video taped so that developers can go back and refer to what participants did, and how they reacted. The purpose of this method is to make explicit what is implicitly present in subjects who are able to perform a specific task</a:t>
            </a:r>
            <a:endParaRPr lang="zh-TW" altLang="en-US" sz="2400" dirty="0" smtClean="0"/>
          </a:p>
        </p:txBody>
      </p:sp>
      <p:sp>
        <p:nvSpPr>
          <p:cNvPr id="4" name="投影片編號版面配置區 3"/>
          <p:cNvSpPr>
            <a:spLocks noGrp="1"/>
          </p:cNvSpPr>
          <p:nvPr>
            <p:ph type="sldNum" sz="quarter" idx="11"/>
          </p:nvPr>
        </p:nvSpPr>
        <p:spPr/>
        <p:txBody>
          <a:bodyPr/>
          <a:lstStyle/>
          <a:p>
            <a:pPr>
              <a:defRPr/>
            </a:pPr>
            <a:fld id="{4B534494-CBE6-4E3A-8033-7A458D9334A9}" type="slidenum">
              <a:rPr lang="en-US" altLang="zh-TW"/>
              <a:pPr>
                <a:defRPr/>
              </a:pPr>
              <a:t>34</a:t>
            </a:fld>
            <a:endParaRPr lang="en-US" altLang="zh-TW"/>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55776" y="0"/>
            <a:ext cx="6172200" cy="1143000"/>
          </a:xfrm>
        </p:spPr>
        <p:txBody>
          <a:bodyPr/>
          <a:lstStyle/>
          <a:p>
            <a:pPr eaLnBrk="1" hangingPunct="1">
              <a:defRPr/>
            </a:pPr>
            <a:r>
              <a:rPr lang="en-US" altLang="zh-TW" dirty="0" smtClean="0"/>
              <a:t>Eye tracking </a:t>
            </a:r>
            <a:endParaRPr lang="zh-TW" altLang="en-US" dirty="0" smtClean="0"/>
          </a:p>
        </p:txBody>
      </p:sp>
      <p:sp>
        <p:nvSpPr>
          <p:cNvPr id="3" name="內容版面配置區 2"/>
          <p:cNvSpPr>
            <a:spLocks noGrp="1"/>
          </p:cNvSpPr>
          <p:nvPr>
            <p:ph idx="1"/>
          </p:nvPr>
        </p:nvSpPr>
        <p:spPr/>
        <p:txBody>
          <a:bodyPr/>
          <a:lstStyle/>
          <a:p>
            <a:pPr eaLnBrk="1" hangingPunct="1">
              <a:defRPr/>
            </a:pPr>
            <a:endParaRPr lang="zh-TW" altLang="en-US" smtClean="0"/>
          </a:p>
        </p:txBody>
      </p:sp>
      <p:sp>
        <p:nvSpPr>
          <p:cNvPr id="4" name="投影片編號版面配置區 3"/>
          <p:cNvSpPr>
            <a:spLocks noGrp="1"/>
          </p:cNvSpPr>
          <p:nvPr>
            <p:ph type="sldNum" sz="quarter" idx="11"/>
          </p:nvPr>
        </p:nvSpPr>
        <p:spPr/>
        <p:txBody>
          <a:bodyPr/>
          <a:lstStyle/>
          <a:p>
            <a:pPr>
              <a:defRPr/>
            </a:pPr>
            <a:fld id="{C1D16CE4-39A1-4AA0-8B57-A998F364FF66}" type="slidenum">
              <a:rPr lang="en-US" altLang="zh-TW"/>
              <a:pPr>
                <a:defRPr/>
              </a:pPr>
              <a:t>35</a:t>
            </a:fld>
            <a:endParaRPr lang="en-US" altLang="zh-TW"/>
          </a:p>
        </p:txBody>
      </p:sp>
      <p:pic>
        <p:nvPicPr>
          <p:cNvPr id="49157" name="Picture 2" descr="Tobii usability lab set up"/>
          <p:cNvPicPr>
            <a:picLocks noChangeAspect="1" noChangeArrowheads="1"/>
          </p:cNvPicPr>
          <p:nvPr/>
        </p:nvPicPr>
        <p:blipFill>
          <a:blip r:embed="rId2" cstate="print"/>
          <a:srcRect/>
          <a:stretch>
            <a:fillRect/>
          </a:stretch>
        </p:blipFill>
        <p:spPr bwMode="auto">
          <a:xfrm>
            <a:off x="1691680" y="1268760"/>
            <a:ext cx="5791200" cy="510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267744" y="0"/>
            <a:ext cx="6172200" cy="1143000"/>
          </a:xfrm>
        </p:spPr>
        <p:txBody>
          <a:bodyPr/>
          <a:lstStyle/>
          <a:p>
            <a:pPr eaLnBrk="1" hangingPunct="1">
              <a:defRPr/>
            </a:pPr>
            <a:r>
              <a:rPr lang="en-US" altLang="zh-TW" dirty="0" smtClean="0"/>
              <a:t>Eye tracking pattern</a:t>
            </a:r>
            <a:endParaRPr lang="zh-TW" altLang="en-US" dirty="0" smtClean="0"/>
          </a:p>
        </p:txBody>
      </p:sp>
      <p:sp>
        <p:nvSpPr>
          <p:cNvPr id="3" name="內容版面配置區 2"/>
          <p:cNvSpPr>
            <a:spLocks noGrp="1"/>
          </p:cNvSpPr>
          <p:nvPr>
            <p:ph idx="1"/>
          </p:nvPr>
        </p:nvSpPr>
        <p:spPr/>
        <p:txBody>
          <a:bodyPr/>
          <a:lstStyle/>
          <a:p>
            <a:pPr eaLnBrk="1" hangingPunct="1">
              <a:defRPr/>
            </a:pPr>
            <a:endParaRPr lang="zh-TW" altLang="en-US" dirty="0" smtClean="0"/>
          </a:p>
        </p:txBody>
      </p:sp>
      <p:sp>
        <p:nvSpPr>
          <p:cNvPr id="4" name="投影片編號版面配置區 3"/>
          <p:cNvSpPr>
            <a:spLocks noGrp="1"/>
          </p:cNvSpPr>
          <p:nvPr>
            <p:ph type="sldNum" sz="quarter" idx="11"/>
          </p:nvPr>
        </p:nvSpPr>
        <p:spPr/>
        <p:txBody>
          <a:bodyPr/>
          <a:lstStyle/>
          <a:p>
            <a:pPr>
              <a:defRPr/>
            </a:pPr>
            <a:fld id="{386AE5CF-1105-45D5-AEA4-0A4C0AE1F31A}" type="slidenum">
              <a:rPr lang="en-US" altLang="zh-TW"/>
              <a:pPr>
                <a:defRPr/>
              </a:pPr>
              <a:t>36</a:t>
            </a:fld>
            <a:endParaRPr lang="en-US" altLang="zh-TW"/>
          </a:p>
        </p:txBody>
      </p:sp>
      <p:pic>
        <p:nvPicPr>
          <p:cNvPr id="50181" name="Picture 4" descr="http://uxmag.com/uploads/breezeeyetracking/3_Asthma_heatmap.png"/>
          <p:cNvPicPr>
            <a:picLocks noChangeAspect="1" noChangeArrowheads="1"/>
          </p:cNvPicPr>
          <p:nvPr/>
        </p:nvPicPr>
        <p:blipFill>
          <a:blip r:embed="rId2" cstate="print"/>
          <a:srcRect/>
          <a:stretch>
            <a:fillRect/>
          </a:stretch>
        </p:blipFill>
        <p:spPr bwMode="auto">
          <a:xfrm>
            <a:off x="228600" y="1200150"/>
            <a:ext cx="5257800" cy="5657850"/>
          </a:xfrm>
          <a:prstGeom prst="rect">
            <a:avLst/>
          </a:prstGeom>
          <a:noFill/>
          <a:ln w="9525">
            <a:noFill/>
            <a:miter lim="800000"/>
            <a:headEnd/>
            <a:tailEnd/>
          </a:ln>
        </p:spPr>
      </p:pic>
      <p:pic>
        <p:nvPicPr>
          <p:cNvPr id="50182" name="Picture 2" descr="http://www.interactivevideo.com/images/heatmap2.jpg"/>
          <p:cNvPicPr>
            <a:picLocks noChangeAspect="1" noChangeArrowheads="1"/>
          </p:cNvPicPr>
          <p:nvPr/>
        </p:nvPicPr>
        <p:blipFill>
          <a:blip r:embed="rId3" cstate="print"/>
          <a:srcRect/>
          <a:stretch>
            <a:fillRect/>
          </a:stretch>
        </p:blipFill>
        <p:spPr bwMode="auto">
          <a:xfrm>
            <a:off x="5410200" y="1219200"/>
            <a:ext cx="3733800" cy="3346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42" name="Picture 6" descr="http://www.laurasmith.info/UsabilityTest.jpg"/>
          <p:cNvPicPr>
            <a:picLocks noChangeAspect="1" noChangeArrowheads="1"/>
          </p:cNvPicPr>
          <p:nvPr/>
        </p:nvPicPr>
        <p:blipFill>
          <a:blip r:embed="rId2" cstate="print"/>
          <a:srcRect/>
          <a:stretch>
            <a:fillRect/>
          </a:stretch>
        </p:blipFill>
        <p:spPr bwMode="auto">
          <a:xfrm>
            <a:off x="990600" y="1219200"/>
            <a:ext cx="7162800" cy="5411788"/>
          </a:xfrm>
          <a:prstGeom prst="rect">
            <a:avLst/>
          </a:prstGeom>
          <a:noFill/>
          <a:ln w="9525">
            <a:noFill/>
            <a:miter lim="800000"/>
            <a:headEnd/>
            <a:tailEnd/>
          </a:ln>
        </p:spPr>
      </p:pic>
      <p:sp>
        <p:nvSpPr>
          <p:cNvPr id="2" name="標題 1"/>
          <p:cNvSpPr>
            <a:spLocks noGrp="1"/>
          </p:cNvSpPr>
          <p:nvPr>
            <p:ph type="title"/>
          </p:nvPr>
        </p:nvSpPr>
        <p:spPr>
          <a:xfrm>
            <a:off x="2555776" y="0"/>
            <a:ext cx="6172200" cy="1143000"/>
          </a:xfrm>
        </p:spPr>
        <p:txBody>
          <a:bodyPr/>
          <a:lstStyle/>
          <a:p>
            <a:pPr eaLnBrk="1" hangingPunct="1">
              <a:defRPr/>
            </a:pPr>
            <a:r>
              <a:rPr lang="en-US" altLang="zh-TW" dirty="0" smtClean="0"/>
              <a:t>Investigation room</a:t>
            </a:r>
            <a:endParaRPr lang="zh-TW" altLang="en-US" dirty="0" smtClean="0"/>
          </a:p>
        </p:txBody>
      </p:sp>
      <p:sp>
        <p:nvSpPr>
          <p:cNvPr id="3" name="內容版面配置區 2"/>
          <p:cNvSpPr>
            <a:spLocks noGrp="1"/>
          </p:cNvSpPr>
          <p:nvPr>
            <p:ph idx="1"/>
          </p:nvPr>
        </p:nvSpPr>
        <p:spPr/>
        <p:txBody>
          <a:bodyPr/>
          <a:lstStyle/>
          <a:p>
            <a:pPr eaLnBrk="1" hangingPunct="1">
              <a:defRPr/>
            </a:pPr>
            <a:endParaRPr lang="zh-TW" altLang="en-US" dirty="0" smtClean="0"/>
          </a:p>
        </p:txBody>
      </p:sp>
      <p:sp>
        <p:nvSpPr>
          <p:cNvPr id="4" name="投影片編號版面配置區 3"/>
          <p:cNvSpPr>
            <a:spLocks noGrp="1"/>
          </p:cNvSpPr>
          <p:nvPr>
            <p:ph type="sldNum" sz="quarter" idx="11"/>
          </p:nvPr>
        </p:nvSpPr>
        <p:spPr/>
        <p:txBody>
          <a:bodyPr/>
          <a:lstStyle/>
          <a:p>
            <a:pPr>
              <a:defRPr/>
            </a:pPr>
            <a:fld id="{D519F560-8C62-46C6-A3D5-A7B9A73974F0}" type="slidenum">
              <a:rPr lang="en-US" altLang="zh-TW"/>
              <a:pPr>
                <a:defRPr/>
              </a:pPr>
              <a:t>37</a:t>
            </a:fld>
            <a:endParaRPr lang="en-US" altLang="zh-TW"/>
          </a:p>
        </p:txBody>
      </p:sp>
      <p:pic>
        <p:nvPicPr>
          <p:cNvPr id="91138" name="Picture 2" descr="http://www.bugbash.net/strips/bug-bash20050704.gif"/>
          <p:cNvPicPr>
            <a:picLocks noChangeAspect="1" noChangeArrowheads="1"/>
          </p:cNvPicPr>
          <p:nvPr/>
        </p:nvPicPr>
        <p:blipFill>
          <a:blip r:embed="rId3" cstate="print"/>
          <a:srcRect/>
          <a:stretch>
            <a:fillRect/>
          </a:stretch>
        </p:blipFill>
        <p:spPr bwMode="auto">
          <a:xfrm>
            <a:off x="228600" y="2057400"/>
            <a:ext cx="8686800" cy="2973388"/>
          </a:xfrm>
          <a:prstGeom prst="rect">
            <a:avLst/>
          </a:prstGeom>
          <a:noFill/>
          <a:ln w="9525">
            <a:noFill/>
            <a:miter lim="800000"/>
            <a:headEnd/>
            <a:tailEnd/>
          </a:ln>
        </p:spPr>
      </p:pic>
      <p:pic>
        <p:nvPicPr>
          <p:cNvPr id="91140" name="Picture 4" descr="http://t0.gstatic.com/images?q=tbn:ANd9GcTw5iJvVNXmNNkitRMVdEKgZhT34s2iQ25a8GvYyzEB26CRuaeWYQ"/>
          <p:cNvPicPr>
            <a:picLocks noChangeAspect="1" noChangeArrowheads="1"/>
          </p:cNvPicPr>
          <p:nvPr/>
        </p:nvPicPr>
        <p:blipFill>
          <a:blip r:embed="rId4" cstate="print"/>
          <a:srcRect/>
          <a:stretch>
            <a:fillRect/>
          </a:stretch>
        </p:blipFill>
        <p:spPr bwMode="auto">
          <a:xfrm>
            <a:off x="685800" y="1371600"/>
            <a:ext cx="7654925" cy="5029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142"/>
                                        </p:tgtEl>
                                        <p:attrNameLst>
                                          <p:attrName>style.visibility</p:attrName>
                                        </p:attrNameLst>
                                      </p:cBhvr>
                                      <p:to>
                                        <p:strVal val="visible"/>
                                      </p:to>
                                    </p:set>
                                    <p:anim calcmode="lin" valueType="num">
                                      <p:cBhvr additive="base">
                                        <p:cTn id="7" dur="500" fill="hold"/>
                                        <p:tgtEl>
                                          <p:spTgt spid="91142"/>
                                        </p:tgtEl>
                                        <p:attrNameLst>
                                          <p:attrName>ppt_x</p:attrName>
                                        </p:attrNameLst>
                                      </p:cBhvr>
                                      <p:tavLst>
                                        <p:tav tm="0">
                                          <p:val>
                                            <p:strVal val="#ppt_x"/>
                                          </p:val>
                                        </p:tav>
                                        <p:tav tm="100000">
                                          <p:val>
                                            <p:strVal val="#ppt_x"/>
                                          </p:val>
                                        </p:tav>
                                      </p:tavLst>
                                    </p:anim>
                                    <p:anim calcmode="lin" valueType="num">
                                      <p:cBhvr additive="base">
                                        <p:cTn id="8" dur="500" fill="hold"/>
                                        <p:tgtEl>
                                          <p:spTgt spid="911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1138"/>
                                        </p:tgtEl>
                                        <p:attrNameLst>
                                          <p:attrName>style.visibility</p:attrName>
                                        </p:attrNameLst>
                                      </p:cBhvr>
                                      <p:to>
                                        <p:strVal val="visible"/>
                                      </p:to>
                                    </p:set>
                                    <p:anim calcmode="lin" valueType="num">
                                      <p:cBhvr additive="base">
                                        <p:cTn id="13" dur="500" fill="hold"/>
                                        <p:tgtEl>
                                          <p:spTgt spid="91138"/>
                                        </p:tgtEl>
                                        <p:attrNameLst>
                                          <p:attrName>ppt_x</p:attrName>
                                        </p:attrNameLst>
                                      </p:cBhvr>
                                      <p:tavLst>
                                        <p:tav tm="0">
                                          <p:val>
                                            <p:strVal val="#ppt_x"/>
                                          </p:val>
                                        </p:tav>
                                        <p:tav tm="100000">
                                          <p:val>
                                            <p:strVal val="#ppt_x"/>
                                          </p:val>
                                        </p:tav>
                                      </p:tavLst>
                                    </p:anim>
                                    <p:anim calcmode="lin" valueType="num">
                                      <p:cBhvr additive="base">
                                        <p:cTn id="14" dur="500" fill="hold"/>
                                        <p:tgtEl>
                                          <p:spTgt spid="9113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1140"/>
                                        </p:tgtEl>
                                        <p:attrNameLst>
                                          <p:attrName>style.visibility</p:attrName>
                                        </p:attrNameLst>
                                      </p:cBhvr>
                                      <p:to>
                                        <p:strVal val="visible"/>
                                      </p:to>
                                    </p:set>
                                    <p:anim calcmode="lin" valueType="num">
                                      <p:cBhvr additive="base">
                                        <p:cTn id="19" dur="500" fill="hold"/>
                                        <p:tgtEl>
                                          <p:spTgt spid="91140"/>
                                        </p:tgtEl>
                                        <p:attrNameLst>
                                          <p:attrName>ppt_x</p:attrName>
                                        </p:attrNameLst>
                                      </p:cBhvr>
                                      <p:tavLst>
                                        <p:tav tm="0">
                                          <p:val>
                                            <p:strVal val="#ppt_x"/>
                                          </p:val>
                                        </p:tav>
                                        <p:tav tm="100000">
                                          <p:val>
                                            <p:strVal val="#ppt_x"/>
                                          </p:val>
                                        </p:tav>
                                      </p:tavLst>
                                    </p:anim>
                                    <p:anim calcmode="lin" valueType="num">
                                      <p:cBhvr additive="base">
                                        <p:cTn id="20" dur="500" fill="hold"/>
                                        <p:tgtEl>
                                          <p:spTgt spid="911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Why you want to change view </a:t>
            </a:r>
            <a:endParaRPr lang="zh-TW" altLang="en-US" dirty="0"/>
          </a:p>
        </p:txBody>
      </p:sp>
      <p:sp>
        <p:nvSpPr>
          <p:cNvPr id="3" name="內容版面配置區 2"/>
          <p:cNvSpPr>
            <a:spLocks noGrp="1"/>
          </p:cNvSpPr>
          <p:nvPr>
            <p:ph idx="1"/>
          </p:nvPr>
        </p:nvSpPr>
        <p:spPr/>
        <p:txBody>
          <a:bodyPr/>
          <a:lstStyle/>
          <a:p>
            <a:r>
              <a:rPr lang="en-US" altLang="zh-TW" dirty="0" smtClean="0"/>
              <a:t>In nowadays, typical platform you need to support may include</a:t>
            </a:r>
          </a:p>
          <a:p>
            <a:pPr lvl="1"/>
            <a:r>
              <a:rPr lang="en-US" altLang="zh-TW" dirty="0" smtClean="0"/>
              <a:t>Window 7, XP</a:t>
            </a:r>
          </a:p>
          <a:p>
            <a:pPr lvl="1"/>
            <a:r>
              <a:rPr lang="en-US" altLang="zh-TW" dirty="0" smtClean="0"/>
              <a:t>Mac OS</a:t>
            </a:r>
          </a:p>
          <a:p>
            <a:pPr lvl="1"/>
            <a:r>
              <a:rPr lang="en-US" altLang="zh-TW" dirty="0" smtClean="0"/>
              <a:t>Linux</a:t>
            </a:r>
          </a:p>
          <a:p>
            <a:pPr lvl="1"/>
            <a:r>
              <a:rPr lang="en-US" altLang="zh-TW" dirty="0" err="1" smtClean="0"/>
              <a:t>Chrom</a:t>
            </a:r>
            <a:r>
              <a:rPr lang="en-US" altLang="zh-TW" dirty="0" smtClean="0"/>
              <a:t> OS (in the air)</a:t>
            </a:r>
          </a:p>
          <a:p>
            <a:r>
              <a:rPr lang="en-US" altLang="zh-TW" dirty="0" smtClean="0"/>
              <a:t>The real world is never  being easy and kind to programmers</a:t>
            </a:r>
          </a:p>
          <a:p>
            <a:pPr lvl="1"/>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38</a:t>
            </a:fld>
            <a:endParaRPr lang="zh-TW"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View May changes </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39938" name="Picture 2"/>
          <p:cNvPicPr>
            <a:picLocks noChangeAspect="1" noChangeArrowheads="1"/>
          </p:cNvPicPr>
          <p:nvPr/>
        </p:nvPicPr>
        <p:blipFill>
          <a:blip r:embed="rId2" cstate="print"/>
          <a:srcRect/>
          <a:stretch>
            <a:fillRect/>
          </a:stretch>
        </p:blipFill>
        <p:spPr bwMode="auto">
          <a:xfrm>
            <a:off x="323528" y="1844824"/>
            <a:ext cx="7869500" cy="2808312"/>
          </a:xfrm>
          <a:prstGeom prst="rect">
            <a:avLst/>
          </a:prstGeom>
          <a:noFill/>
          <a:ln w="9525">
            <a:noFill/>
            <a:miter lim="800000"/>
            <a:headEnd/>
            <a:tailEnd/>
          </a:ln>
        </p:spPr>
      </p:pic>
      <p:pic>
        <p:nvPicPr>
          <p:cNvPr id="40962" name="Picture 2" descr="http://epx.com.br/ctb/hp12g.jpg"/>
          <p:cNvPicPr>
            <a:picLocks noChangeAspect="1" noChangeArrowheads="1"/>
          </p:cNvPicPr>
          <p:nvPr/>
        </p:nvPicPr>
        <p:blipFill>
          <a:blip r:embed="rId3" cstate="print"/>
          <a:srcRect/>
          <a:stretch>
            <a:fillRect/>
          </a:stretch>
        </p:blipFill>
        <p:spPr bwMode="auto">
          <a:xfrm>
            <a:off x="2987824" y="1988840"/>
            <a:ext cx="5688632" cy="4334737"/>
          </a:xfrm>
          <a:prstGeom prst="rect">
            <a:avLst/>
          </a:prstGeom>
          <a:noFill/>
        </p:spPr>
      </p:pic>
      <p:sp>
        <p:nvSpPr>
          <p:cNvPr id="6" name="文字方塊 5"/>
          <p:cNvSpPr txBox="1"/>
          <p:nvPr/>
        </p:nvSpPr>
        <p:spPr>
          <a:xfrm>
            <a:off x="4788024" y="1412776"/>
            <a:ext cx="3687228" cy="707886"/>
          </a:xfrm>
          <a:prstGeom prst="rect">
            <a:avLst/>
          </a:prstGeom>
          <a:noFill/>
        </p:spPr>
        <p:txBody>
          <a:bodyPr wrap="none" rtlCol="0">
            <a:spAutoFit/>
          </a:bodyPr>
          <a:lstStyle/>
          <a:p>
            <a:r>
              <a:rPr lang="en-US" altLang="zh-TW" sz="4000" b="1" dirty="0" smtClean="0">
                <a:solidFill>
                  <a:srgbClr val="FFFF00"/>
                </a:solidFill>
              </a:rPr>
              <a:t>Its Window 7 !!</a:t>
            </a:r>
            <a:endParaRPr lang="zh-TW" altLang="en-US" sz="4000" b="1" dirty="0">
              <a:solidFill>
                <a:srgbClr val="FFFF00"/>
              </a:solidFill>
            </a:endParaRPr>
          </a:p>
        </p:txBody>
      </p:sp>
      <p:pic>
        <p:nvPicPr>
          <p:cNvPr id="40964" name="Picture 4" descr="http://www.pexus.com/ScreenShots/multipleMwm.jpg"/>
          <p:cNvPicPr>
            <a:picLocks noChangeAspect="1" noChangeArrowheads="1"/>
          </p:cNvPicPr>
          <p:nvPr/>
        </p:nvPicPr>
        <p:blipFill>
          <a:blip r:embed="rId4" cstate="print"/>
          <a:srcRect/>
          <a:stretch>
            <a:fillRect/>
          </a:stretch>
        </p:blipFill>
        <p:spPr bwMode="auto">
          <a:xfrm>
            <a:off x="2843808" y="1916832"/>
            <a:ext cx="6096000" cy="4572000"/>
          </a:xfrm>
          <a:prstGeom prst="rect">
            <a:avLst/>
          </a:prstGeom>
          <a:noFill/>
        </p:spPr>
      </p:pic>
      <p:sp>
        <p:nvSpPr>
          <p:cNvPr id="8" name="文字方塊 7"/>
          <p:cNvSpPr txBox="1"/>
          <p:nvPr/>
        </p:nvSpPr>
        <p:spPr>
          <a:xfrm>
            <a:off x="3635896" y="2132856"/>
            <a:ext cx="5197257" cy="1323439"/>
          </a:xfrm>
          <a:prstGeom prst="rect">
            <a:avLst/>
          </a:prstGeom>
          <a:noFill/>
        </p:spPr>
        <p:txBody>
          <a:bodyPr wrap="none" rtlCol="0">
            <a:spAutoFit/>
          </a:bodyPr>
          <a:lstStyle/>
          <a:p>
            <a:r>
              <a:rPr lang="en-US" altLang="zh-TW" sz="4000" b="1" dirty="0" smtClean="0">
                <a:solidFill>
                  <a:srgbClr val="FFFF00"/>
                </a:solidFill>
              </a:rPr>
              <a:t>WOW Its X window !!</a:t>
            </a:r>
          </a:p>
          <a:p>
            <a:r>
              <a:rPr lang="en-US" altLang="zh-TW" sz="4000" b="1" dirty="0" smtClean="0">
                <a:solidFill>
                  <a:srgbClr val="FFFF00"/>
                </a:solidFill>
              </a:rPr>
              <a:t>for GEEK</a:t>
            </a:r>
            <a:endParaRPr lang="zh-TW" altLang="en-US" sz="4000" b="1" dirty="0">
              <a:solidFill>
                <a:srgbClr val="FFFF00"/>
              </a:solidFill>
            </a:endParaRPr>
          </a:p>
        </p:txBody>
      </p:sp>
      <p:pic>
        <p:nvPicPr>
          <p:cNvPr id="40966" name="Picture 6" descr="http://www.wallpaperpimper.com/wallpaper/Computer/Apple/Mac-OS-By-Makrivag-1-TY0FOYQH29-1024x768.jpg"/>
          <p:cNvPicPr>
            <a:picLocks noChangeAspect="1" noChangeArrowheads="1"/>
          </p:cNvPicPr>
          <p:nvPr/>
        </p:nvPicPr>
        <p:blipFill>
          <a:blip r:embed="rId5" cstate="print"/>
          <a:srcRect/>
          <a:stretch>
            <a:fillRect/>
          </a:stretch>
        </p:blipFill>
        <p:spPr bwMode="auto">
          <a:xfrm>
            <a:off x="2483768" y="1772816"/>
            <a:ext cx="6096000" cy="4572000"/>
          </a:xfrm>
          <a:prstGeom prst="rect">
            <a:avLst/>
          </a:prstGeom>
          <a:noFill/>
        </p:spPr>
      </p:pic>
      <p:sp>
        <p:nvSpPr>
          <p:cNvPr id="10" name="文字方塊 9"/>
          <p:cNvSpPr txBox="1"/>
          <p:nvPr/>
        </p:nvSpPr>
        <p:spPr>
          <a:xfrm>
            <a:off x="3563888" y="1700808"/>
            <a:ext cx="4724370" cy="707886"/>
          </a:xfrm>
          <a:prstGeom prst="rect">
            <a:avLst/>
          </a:prstGeom>
          <a:noFill/>
        </p:spPr>
        <p:txBody>
          <a:bodyPr wrap="none" rtlCol="0">
            <a:spAutoFit/>
          </a:bodyPr>
          <a:lstStyle/>
          <a:p>
            <a:r>
              <a:rPr lang="en-US" altLang="zh-TW" sz="4000" b="1" dirty="0" smtClean="0">
                <a:solidFill>
                  <a:srgbClr val="FFFF00"/>
                </a:solidFill>
              </a:rPr>
              <a:t>WOW Its MAC OS!!</a:t>
            </a:r>
            <a:endParaRPr lang="zh-TW" altLang="en-US" sz="4000" b="1" dirty="0">
              <a:solidFill>
                <a:srgbClr val="FFFF00"/>
              </a:solidFill>
            </a:endParaRPr>
          </a:p>
        </p:txBody>
      </p:sp>
      <p:pic>
        <p:nvPicPr>
          <p:cNvPr id="40968" name="Picture 8" descr="http://blog.farmostwood.net/image/2010/ipad_browsing.png"/>
          <p:cNvPicPr>
            <a:picLocks noChangeAspect="1" noChangeArrowheads="1"/>
          </p:cNvPicPr>
          <p:nvPr/>
        </p:nvPicPr>
        <p:blipFill>
          <a:blip r:embed="rId6" cstate="print"/>
          <a:srcRect/>
          <a:stretch>
            <a:fillRect/>
          </a:stretch>
        </p:blipFill>
        <p:spPr bwMode="auto">
          <a:xfrm>
            <a:off x="2627784" y="2420888"/>
            <a:ext cx="6137452" cy="3960440"/>
          </a:xfrm>
          <a:prstGeom prst="rect">
            <a:avLst/>
          </a:prstGeom>
          <a:noFill/>
        </p:spPr>
      </p:pic>
      <p:sp>
        <p:nvSpPr>
          <p:cNvPr id="12" name="文字方塊 11"/>
          <p:cNvSpPr txBox="1"/>
          <p:nvPr/>
        </p:nvSpPr>
        <p:spPr>
          <a:xfrm>
            <a:off x="1259632" y="4941168"/>
            <a:ext cx="6107762" cy="1384995"/>
          </a:xfrm>
          <a:prstGeom prst="rect">
            <a:avLst/>
          </a:prstGeom>
          <a:noFill/>
        </p:spPr>
        <p:txBody>
          <a:bodyPr wrap="none" rtlCol="0">
            <a:spAutoFit/>
          </a:bodyPr>
          <a:lstStyle/>
          <a:p>
            <a:r>
              <a:rPr lang="en-US" altLang="zh-TW" sz="2800" b="1" dirty="0" smtClean="0">
                <a:solidFill>
                  <a:srgbClr val="FFFF00"/>
                </a:solidFill>
              </a:rPr>
              <a:t>What? Pad with </a:t>
            </a:r>
          </a:p>
          <a:p>
            <a:r>
              <a:rPr lang="en-US" altLang="zh-TW" sz="2800" b="1" dirty="0" smtClean="0">
                <a:solidFill>
                  <a:srgbClr val="FFFF00"/>
                </a:solidFill>
              </a:rPr>
              <a:t>multi-touch? If you don’t support it</a:t>
            </a:r>
          </a:p>
          <a:p>
            <a:r>
              <a:rPr lang="en-US" altLang="zh-TW" sz="2800" b="1" dirty="0" smtClean="0">
                <a:solidFill>
                  <a:srgbClr val="FFFF00"/>
                </a:solidFill>
              </a:rPr>
              <a:t>You are </a:t>
            </a:r>
            <a:r>
              <a:rPr lang="zh-TW" altLang="en-US" sz="2800" b="1" dirty="0" smtClean="0">
                <a:solidFill>
                  <a:srgbClr val="FFFF00"/>
                </a:solidFill>
              </a:rPr>
              <a:t>落伍了</a:t>
            </a:r>
            <a:endParaRPr lang="zh-TW" altLang="en-US" sz="2800" b="1" dirty="0">
              <a:solidFill>
                <a:srgbClr val="FFFF00"/>
              </a:solidFill>
            </a:endParaRPr>
          </a:p>
        </p:txBody>
      </p:sp>
      <p:pic>
        <p:nvPicPr>
          <p:cNvPr id="40970" name="Picture 10" descr="http://news.brothersoft.com/wp-content/uploads/2010/07/Frist-Android-Pad-to-launch.jpg"/>
          <p:cNvPicPr>
            <a:picLocks noChangeAspect="1" noChangeArrowheads="1"/>
          </p:cNvPicPr>
          <p:nvPr/>
        </p:nvPicPr>
        <p:blipFill>
          <a:blip r:embed="rId7" cstate="print"/>
          <a:srcRect/>
          <a:stretch>
            <a:fillRect/>
          </a:stretch>
        </p:blipFill>
        <p:spPr bwMode="auto">
          <a:xfrm>
            <a:off x="2267744" y="1556792"/>
            <a:ext cx="6503946" cy="4032448"/>
          </a:xfrm>
          <a:prstGeom prst="rect">
            <a:avLst/>
          </a:prstGeom>
          <a:noFill/>
        </p:spPr>
      </p:pic>
      <p:sp>
        <p:nvSpPr>
          <p:cNvPr id="14" name="文字方塊 13"/>
          <p:cNvSpPr txBox="1"/>
          <p:nvPr/>
        </p:nvSpPr>
        <p:spPr>
          <a:xfrm>
            <a:off x="2627784" y="0"/>
            <a:ext cx="3881191" cy="954107"/>
          </a:xfrm>
          <a:prstGeom prst="rect">
            <a:avLst/>
          </a:prstGeom>
          <a:noFill/>
        </p:spPr>
        <p:txBody>
          <a:bodyPr wrap="none" rtlCol="0">
            <a:spAutoFit/>
          </a:bodyPr>
          <a:lstStyle/>
          <a:p>
            <a:r>
              <a:rPr lang="en-US" altLang="zh-TW" sz="2800" b="1" dirty="0" smtClean="0">
                <a:solidFill>
                  <a:srgbClr val="FFFF00"/>
                </a:solidFill>
              </a:rPr>
              <a:t>OK</a:t>
            </a:r>
            <a:r>
              <a:rPr lang="zh-TW" altLang="en-US" sz="2800" b="1" dirty="0" smtClean="0">
                <a:solidFill>
                  <a:srgbClr val="FFFF00"/>
                </a:solidFill>
              </a:rPr>
              <a:t>  </a:t>
            </a:r>
            <a:r>
              <a:rPr lang="en-US" altLang="zh-TW" sz="2800" b="1" dirty="0" smtClean="0">
                <a:solidFill>
                  <a:srgbClr val="FFFF00"/>
                </a:solidFill>
              </a:rPr>
              <a:t>unending torture.</a:t>
            </a:r>
          </a:p>
          <a:p>
            <a:r>
              <a:rPr lang="en-US" altLang="zh-TW" sz="2800" b="1" dirty="0" smtClean="0">
                <a:solidFill>
                  <a:srgbClr val="FFFF00"/>
                </a:solidFill>
              </a:rPr>
              <a:t>now Android Pad !!</a:t>
            </a:r>
            <a:endParaRPr lang="zh-TW" altLang="en-US" sz="2800" b="1" dirty="0">
              <a:solidFill>
                <a:srgbClr val="FFFF00"/>
              </a:solidFill>
            </a:endParaRPr>
          </a:p>
        </p:txBody>
      </p:sp>
      <p:sp>
        <p:nvSpPr>
          <p:cNvPr id="15" name="投影片編號版面配置區 14"/>
          <p:cNvSpPr>
            <a:spLocks noGrp="1"/>
          </p:cNvSpPr>
          <p:nvPr>
            <p:ph type="sldNum" sz="quarter" idx="12"/>
          </p:nvPr>
        </p:nvSpPr>
        <p:spPr/>
        <p:txBody>
          <a:bodyPr/>
          <a:lstStyle/>
          <a:p>
            <a:fld id="{73DA0BB7-265A-403C-9275-D587AB510EDC}" type="slidenum">
              <a:rPr lang="zh-TW" altLang="en-US" smtClean="0"/>
              <a:pPr/>
              <a:t>39</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p:cTn id="7" dur="500" fill="hold"/>
                                        <p:tgtEl>
                                          <p:spTgt spid="40962"/>
                                        </p:tgtEl>
                                        <p:attrNameLst>
                                          <p:attrName>ppt_w</p:attrName>
                                        </p:attrNameLst>
                                      </p:cBhvr>
                                      <p:tavLst>
                                        <p:tav tm="0">
                                          <p:val>
                                            <p:fltVal val="0"/>
                                          </p:val>
                                        </p:tav>
                                        <p:tav tm="100000">
                                          <p:val>
                                            <p:strVal val="#ppt_w"/>
                                          </p:val>
                                        </p:tav>
                                      </p:tavLst>
                                    </p:anim>
                                    <p:anim calcmode="lin" valueType="num">
                                      <p:cBhvr>
                                        <p:cTn id="8" dur="500" fill="hold"/>
                                        <p:tgtEl>
                                          <p:spTgt spid="40962"/>
                                        </p:tgtEl>
                                        <p:attrNameLst>
                                          <p:attrName>ppt_h</p:attrName>
                                        </p:attrNameLst>
                                      </p:cBhvr>
                                      <p:tavLst>
                                        <p:tav tm="0">
                                          <p:val>
                                            <p:fltVal val="0"/>
                                          </p:val>
                                        </p:tav>
                                        <p:tav tm="100000">
                                          <p:val>
                                            <p:strVal val="#ppt_h"/>
                                          </p:val>
                                        </p:tav>
                                      </p:tavLst>
                                    </p:anim>
                                    <p:anim calcmode="lin" valueType="num">
                                      <p:cBhvr>
                                        <p:cTn id="9" dur="500" fill="hold"/>
                                        <p:tgtEl>
                                          <p:spTgt spid="40962"/>
                                        </p:tgtEl>
                                        <p:attrNameLst>
                                          <p:attrName>style.rotation</p:attrName>
                                        </p:attrNameLst>
                                      </p:cBhvr>
                                      <p:tavLst>
                                        <p:tav tm="0">
                                          <p:val>
                                            <p:fltVal val="360"/>
                                          </p:val>
                                        </p:tav>
                                        <p:tav tm="100000">
                                          <p:val>
                                            <p:fltVal val="0"/>
                                          </p:val>
                                        </p:tav>
                                      </p:tavLst>
                                    </p:anim>
                                    <p:animEffect transition="in" filter="fade">
                                      <p:cBhvr>
                                        <p:cTn id="10" dur="500"/>
                                        <p:tgtEl>
                                          <p:spTgt spid="40962"/>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 calcmode="lin" valueType="num">
                                      <p:cBhvr>
                                        <p:cTn id="17" dur="500" fill="hold"/>
                                        <p:tgtEl>
                                          <p:spTgt spid="6"/>
                                        </p:tgtEl>
                                        <p:attrNameLst>
                                          <p:attrName>style.rotation</p:attrName>
                                        </p:attrNameLst>
                                      </p:cBhvr>
                                      <p:tavLst>
                                        <p:tav tm="0">
                                          <p:val>
                                            <p:fltVal val="360"/>
                                          </p:val>
                                        </p:tav>
                                        <p:tav tm="100000">
                                          <p:val>
                                            <p:fltVal val="0"/>
                                          </p:val>
                                        </p:tav>
                                      </p:tavLst>
                                    </p:anim>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40964"/>
                                        </p:tgtEl>
                                        <p:attrNameLst>
                                          <p:attrName>style.visibility</p:attrName>
                                        </p:attrNameLst>
                                      </p:cBhvr>
                                      <p:to>
                                        <p:strVal val="visible"/>
                                      </p:to>
                                    </p:set>
                                    <p:anim calcmode="lin" valueType="num">
                                      <p:cBhvr>
                                        <p:cTn id="23" dur="500" fill="hold"/>
                                        <p:tgtEl>
                                          <p:spTgt spid="40964"/>
                                        </p:tgtEl>
                                        <p:attrNameLst>
                                          <p:attrName>ppt_w</p:attrName>
                                        </p:attrNameLst>
                                      </p:cBhvr>
                                      <p:tavLst>
                                        <p:tav tm="0">
                                          <p:val>
                                            <p:fltVal val="0"/>
                                          </p:val>
                                        </p:tav>
                                        <p:tav tm="100000">
                                          <p:val>
                                            <p:strVal val="#ppt_w"/>
                                          </p:val>
                                        </p:tav>
                                      </p:tavLst>
                                    </p:anim>
                                    <p:anim calcmode="lin" valueType="num">
                                      <p:cBhvr>
                                        <p:cTn id="24" dur="500" fill="hold"/>
                                        <p:tgtEl>
                                          <p:spTgt spid="40964"/>
                                        </p:tgtEl>
                                        <p:attrNameLst>
                                          <p:attrName>ppt_h</p:attrName>
                                        </p:attrNameLst>
                                      </p:cBhvr>
                                      <p:tavLst>
                                        <p:tav tm="0">
                                          <p:val>
                                            <p:fltVal val="0"/>
                                          </p:val>
                                        </p:tav>
                                        <p:tav tm="100000">
                                          <p:val>
                                            <p:strVal val="#ppt_h"/>
                                          </p:val>
                                        </p:tav>
                                      </p:tavLst>
                                    </p:anim>
                                    <p:anim calcmode="lin" valueType="num">
                                      <p:cBhvr>
                                        <p:cTn id="25" dur="500" fill="hold"/>
                                        <p:tgtEl>
                                          <p:spTgt spid="40964"/>
                                        </p:tgtEl>
                                        <p:attrNameLst>
                                          <p:attrName>style.rotation</p:attrName>
                                        </p:attrNameLst>
                                      </p:cBhvr>
                                      <p:tavLst>
                                        <p:tav tm="0">
                                          <p:val>
                                            <p:fltVal val="360"/>
                                          </p:val>
                                        </p:tav>
                                        <p:tav tm="100000">
                                          <p:val>
                                            <p:fltVal val="0"/>
                                          </p:val>
                                        </p:tav>
                                      </p:tavLst>
                                    </p:anim>
                                    <p:animEffect transition="in" filter="fade">
                                      <p:cBhvr>
                                        <p:cTn id="26" dur="500"/>
                                        <p:tgtEl>
                                          <p:spTgt spid="40964"/>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 calcmode="lin" valueType="num">
                                      <p:cBhvr>
                                        <p:cTn id="33" dur="500" fill="hold"/>
                                        <p:tgtEl>
                                          <p:spTgt spid="8"/>
                                        </p:tgtEl>
                                        <p:attrNameLst>
                                          <p:attrName>style.rotation</p:attrName>
                                        </p:attrNameLst>
                                      </p:cBhvr>
                                      <p:tavLst>
                                        <p:tav tm="0">
                                          <p:val>
                                            <p:fltVal val="360"/>
                                          </p:val>
                                        </p:tav>
                                        <p:tav tm="100000">
                                          <p:val>
                                            <p:fltVal val="0"/>
                                          </p:val>
                                        </p:tav>
                                      </p:tavLst>
                                    </p:anim>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nodeType="clickEffect">
                                  <p:stCondLst>
                                    <p:cond delay="0"/>
                                  </p:stCondLst>
                                  <p:childTnLst>
                                    <p:set>
                                      <p:cBhvr>
                                        <p:cTn id="38" dur="1" fill="hold">
                                          <p:stCondLst>
                                            <p:cond delay="0"/>
                                          </p:stCondLst>
                                        </p:cTn>
                                        <p:tgtEl>
                                          <p:spTgt spid="40966"/>
                                        </p:tgtEl>
                                        <p:attrNameLst>
                                          <p:attrName>style.visibility</p:attrName>
                                        </p:attrNameLst>
                                      </p:cBhvr>
                                      <p:to>
                                        <p:strVal val="visible"/>
                                      </p:to>
                                    </p:set>
                                    <p:anim calcmode="lin" valueType="num">
                                      <p:cBhvr>
                                        <p:cTn id="39" dur="500" fill="hold"/>
                                        <p:tgtEl>
                                          <p:spTgt spid="40966"/>
                                        </p:tgtEl>
                                        <p:attrNameLst>
                                          <p:attrName>ppt_w</p:attrName>
                                        </p:attrNameLst>
                                      </p:cBhvr>
                                      <p:tavLst>
                                        <p:tav tm="0">
                                          <p:val>
                                            <p:fltVal val="0"/>
                                          </p:val>
                                        </p:tav>
                                        <p:tav tm="100000">
                                          <p:val>
                                            <p:strVal val="#ppt_w"/>
                                          </p:val>
                                        </p:tav>
                                      </p:tavLst>
                                    </p:anim>
                                    <p:anim calcmode="lin" valueType="num">
                                      <p:cBhvr>
                                        <p:cTn id="40" dur="500" fill="hold"/>
                                        <p:tgtEl>
                                          <p:spTgt spid="40966"/>
                                        </p:tgtEl>
                                        <p:attrNameLst>
                                          <p:attrName>ppt_h</p:attrName>
                                        </p:attrNameLst>
                                      </p:cBhvr>
                                      <p:tavLst>
                                        <p:tav tm="0">
                                          <p:val>
                                            <p:fltVal val="0"/>
                                          </p:val>
                                        </p:tav>
                                        <p:tav tm="100000">
                                          <p:val>
                                            <p:strVal val="#ppt_h"/>
                                          </p:val>
                                        </p:tav>
                                      </p:tavLst>
                                    </p:anim>
                                    <p:anim calcmode="lin" valueType="num">
                                      <p:cBhvr>
                                        <p:cTn id="41" dur="500" fill="hold"/>
                                        <p:tgtEl>
                                          <p:spTgt spid="40966"/>
                                        </p:tgtEl>
                                        <p:attrNameLst>
                                          <p:attrName>style.rotation</p:attrName>
                                        </p:attrNameLst>
                                      </p:cBhvr>
                                      <p:tavLst>
                                        <p:tav tm="0">
                                          <p:val>
                                            <p:fltVal val="360"/>
                                          </p:val>
                                        </p:tav>
                                        <p:tav tm="100000">
                                          <p:val>
                                            <p:fltVal val="0"/>
                                          </p:val>
                                        </p:tav>
                                      </p:tavLst>
                                    </p:anim>
                                    <p:animEffect transition="in" filter="fade">
                                      <p:cBhvr>
                                        <p:cTn id="42" dur="500"/>
                                        <p:tgtEl>
                                          <p:spTgt spid="40966"/>
                                        </p:tgtEl>
                                      </p:cBhvr>
                                    </p:animEffect>
                                  </p:childTnLst>
                                </p:cTn>
                              </p:par>
                            </p:childTnLst>
                          </p:cTn>
                        </p:par>
                      </p:childTnLst>
                    </p:cTn>
                  </p:par>
                  <p:par>
                    <p:cTn id="43" fill="hold">
                      <p:stCondLst>
                        <p:cond delay="indefinite"/>
                      </p:stCondLst>
                      <p:childTnLst>
                        <p:par>
                          <p:cTn id="44" fill="hold">
                            <p:stCondLst>
                              <p:cond delay="0"/>
                            </p:stCondLst>
                            <p:childTnLst>
                              <p:par>
                                <p:cTn id="45" presetID="49" presetClass="entr" presetSubtype="0" decel="10000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 calcmode="lin" valueType="num">
                                      <p:cBhvr>
                                        <p:cTn id="49" dur="500" fill="hold"/>
                                        <p:tgtEl>
                                          <p:spTgt spid="10"/>
                                        </p:tgtEl>
                                        <p:attrNameLst>
                                          <p:attrName>style.rotation</p:attrName>
                                        </p:attrNameLst>
                                      </p:cBhvr>
                                      <p:tavLst>
                                        <p:tav tm="0">
                                          <p:val>
                                            <p:fltVal val="360"/>
                                          </p:val>
                                        </p:tav>
                                        <p:tav tm="100000">
                                          <p:val>
                                            <p:fltVal val="0"/>
                                          </p:val>
                                        </p:tav>
                                      </p:tavLst>
                                    </p:anim>
                                    <p:animEffect transition="in" filter="fade">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49" presetClass="entr" presetSubtype="0" decel="100000" fill="hold" nodeType="clickEffect">
                                  <p:stCondLst>
                                    <p:cond delay="0"/>
                                  </p:stCondLst>
                                  <p:childTnLst>
                                    <p:set>
                                      <p:cBhvr>
                                        <p:cTn id="54" dur="1" fill="hold">
                                          <p:stCondLst>
                                            <p:cond delay="0"/>
                                          </p:stCondLst>
                                        </p:cTn>
                                        <p:tgtEl>
                                          <p:spTgt spid="40968"/>
                                        </p:tgtEl>
                                        <p:attrNameLst>
                                          <p:attrName>style.visibility</p:attrName>
                                        </p:attrNameLst>
                                      </p:cBhvr>
                                      <p:to>
                                        <p:strVal val="visible"/>
                                      </p:to>
                                    </p:set>
                                    <p:anim calcmode="lin" valueType="num">
                                      <p:cBhvr>
                                        <p:cTn id="55" dur="500" fill="hold"/>
                                        <p:tgtEl>
                                          <p:spTgt spid="40968"/>
                                        </p:tgtEl>
                                        <p:attrNameLst>
                                          <p:attrName>ppt_w</p:attrName>
                                        </p:attrNameLst>
                                      </p:cBhvr>
                                      <p:tavLst>
                                        <p:tav tm="0">
                                          <p:val>
                                            <p:fltVal val="0"/>
                                          </p:val>
                                        </p:tav>
                                        <p:tav tm="100000">
                                          <p:val>
                                            <p:strVal val="#ppt_w"/>
                                          </p:val>
                                        </p:tav>
                                      </p:tavLst>
                                    </p:anim>
                                    <p:anim calcmode="lin" valueType="num">
                                      <p:cBhvr>
                                        <p:cTn id="56" dur="500" fill="hold"/>
                                        <p:tgtEl>
                                          <p:spTgt spid="40968"/>
                                        </p:tgtEl>
                                        <p:attrNameLst>
                                          <p:attrName>ppt_h</p:attrName>
                                        </p:attrNameLst>
                                      </p:cBhvr>
                                      <p:tavLst>
                                        <p:tav tm="0">
                                          <p:val>
                                            <p:fltVal val="0"/>
                                          </p:val>
                                        </p:tav>
                                        <p:tav tm="100000">
                                          <p:val>
                                            <p:strVal val="#ppt_h"/>
                                          </p:val>
                                        </p:tav>
                                      </p:tavLst>
                                    </p:anim>
                                    <p:anim calcmode="lin" valueType="num">
                                      <p:cBhvr>
                                        <p:cTn id="57" dur="500" fill="hold"/>
                                        <p:tgtEl>
                                          <p:spTgt spid="40968"/>
                                        </p:tgtEl>
                                        <p:attrNameLst>
                                          <p:attrName>style.rotation</p:attrName>
                                        </p:attrNameLst>
                                      </p:cBhvr>
                                      <p:tavLst>
                                        <p:tav tm="0">
                                          <p:val>
                                            <p:fltVal val="360"/>
                                          </p:val>
                                        </p:tav>
                                        <p:tav tm="100000">
                                          <p:val>
                                            <p:fltVal val="0"/>
                                          </p:val>
                                        </p:tav>
                                      </p:tavLst>
                                    </p:anim>
                                    <p:animEffect transition="in" filter="fade">
                                      <p:cBhvr>
                                        <p:cTn id="58" dur="500"/>
                                        <p:tgtEl>
                                          <p:spTgt spid="40968"/>
                                        </p:tgtEl>
                                      </p:cBhvr>
                                    </p:animEffect>
                                  </p:childTnLst>
                                </p:cTn>
                              </p:par>
                            </p:childTnLst>
                          </p:cTn>
                        </p:par>
                      </p:childTnLst>
                    </p:cTn>
                  </p:par>
                  <p:par>
                    <p:cTn id="59" fill="hold">
                      <p:stCondLst>
                        <p:cond delay="indefinite"/>
                      </p:stCondLst>
                      <p:childTnLst>
                        <p:par>
                          <p:cTn id="60" fill="hold">
                            <p:stCondLst>
                              <p:cond delay="0"/>
                            </p:stCondLst>
                            <p:childTnLst>
                              <p:par>
                                <p:cTn id="61" presetID="49" presetClass="entr" presetSubtype="0" decel="10000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p:cTn id="63" dur="500" fill="hold"/>
                                        <p:tgtEl>
                                          <p:spTgt spid="12"/>
                                        </p:tgtEl>
                                        <p:attrNameLst>
                                          <p:attrName>ppt_w</p:attrName>
                                        </p:attrNameLst>
                                      </p:cBhvr>
                                      <p:tavLst>
                                        <p:tav tm="0">
                                          <p:val>
                                            <p:fltVal val="0"/>
                                          </p:val>
                                        </p:tav>
                                        <p:tav tm="100000">
                                          <p:val>
                                            <p:strVal val="#ppt_w"/>
                                          </p:val>
                                        </p:tav>
                                      </p:tavLst>
                                    </p:anim>
                                    <p:anim calcmode="lin" valueType="num">
                                      <p:cBhvr>
                                        <p:cTn id="64" dur="500" fill="hold"/>
                                        <p:tgtEl>
                                          <p:spTgt spid="12"/>
                                        </p:tgtEl>
                                        <p:attrNameLst>
                                          <p:attrName>ppt_h</p:attrName>
                                        </p:attrNameLst>
                                      </p:cBhvr>
                                      <p:tavLst>
                                        <p:tav tm="0">
                                          <p:val>
                                            <p:fltVal val="0"/>
                                          </p:val>
                                        </p:tav>
                                        <p:tav tm="100000">
                                          <p:val>
                                            <p:strVal val="#ppt_h"/>
                                          </p:val>
                                        </p:tav>
                                      </p:tavLst>
                                    </p:anim>
                                    <p:anim calcmode="lin" valueType="num">
                                      <p:cBhvr>
                                        <p:cTn id="65" dur="500" fill="hold"/>
                                        <p:tgtEl>
                                          <p:spTgt spid="12"/>
                                        </p:tgtEl>
                                        <p:attrNameLst>
                                          <p:attrName>style.rotation</p:attrName>
                                        </p:attrNameLst>
                                      </p:cBhvr>
                                      <p:tavLst>
                                        <p:tav tm="0">
                                          <p:val>
                                            <p:fltVal val="360"/>
                                          </p:val>
                                        </p:tav>
                                        <p:tav tm="100000">
                                          <p:val>
                                            <p:fltVal val="0"/>
                                          </p:val>
                                        </p:tav>
                                      </p:tavLst>
                                    </p:anim>
                                    <p:animEffect transition="in" filter="fade">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49" presetClass="entr" presetSubtype="0" decel="100000" fill="hold" nodeType="clickEffect">
                                  <p:stCondLst>
                                    <p:cond delay="0"/>
                                  </p:stCondLst>
                                  <p:childTnLst>
                                    <p:set>
                                      <p:cBhvr>
                                        <p:cTn id="70" dur="1" fill="hold">
                                          <p:stCondLst>
                                            <p:cond delay="0"/>
                                          </p:stCondLst>
                                        </p:cTn>
                                        <p:tgtEl>
                                          <p:spTgt spid="40970"/>
                                        </p:tgtEl>
                                        <p:attrNameLst>
                                          <p:attrName>style.visibility</p:attrName>
                                        </p:attrNameLst>
                                      </p:cBhvr>
                                      <p:to>
                                        <p:strVal val="visible"/>
                                      </p:to>
                                    </p:set>
                                    <p:anim calcmode="lin" valueType="num">
                                      <p:cBhvr>
                                        <p:cTn id="71" dur="500" fill="hold"/>
                                        <p:tgtEl>
                                          <p:spTgt spid="40970"/>
                                        </p:tgtEl>
                                        <p:attrNameLst>
                                          <p:attrName>ppt_w</p:attrName>
                                        </p:attrNameLst>
                                      </p:cBhvr>
                                      <p:tavLst>
                                        <p:tav tm="0">
                                          <p:val>
                                            <p:fltVal val="0"/>
                                          </p:val>
                                        </p:tav>
                                        <p:tav tm="100000">
                                          <p:val>
                                            <p:strVal val="#ppt_w"/>
                                          </p:val>
                                        </p:tav>
                                      </p:tavLst>
                                    </p:anim>
                                    <p:anim calcmode="lin" valueType="num">
                                      <p:cBhvr>
                                        <p:cTn id="72" dur="500" fill="hold"/>
                                        <p:tgtEl>
                                          <p:spTgt spid="40970"/>
                                        </p:tgtEl>
                                        <p:attrNameLst>
                                          <p:attrName>ppt_h</p:attrName>
                                        </p:attrNameLst>
                                      </p:cBhvr>
                                      <p:tavLst>
                                        <p:tav tm="0">
                                          <p:val>
                                            <p:fltVal val="0"/>
                                          </p:val>
                                        </p:tav>
                                        <p:tav tm="100000">
                                          <p:val>
                                            <p:strVal val="#ppt_h"/>
                                          </p:val>
                                        </p:tav>
                                      </p:tavLst>
                                    </p:anim>
                                    <p:anim calcmode="lin" valueType="num">
                                      <p:cBhvr>
                                        <p:cTn id="73" dur="500" fill="hold"/>
                                        <p:tgtEl>
                                          <p:spTgt spid="40970"/>
                                        </p:tgtEl>
                                        <p:attrNameLst>
                                          <p:attrName>style.rotation</p:attrName>
                                        </p:attrNameLst>
                                      </p:cBhvr>
                                      <p:tavLst>
                                        <p:tav tm="0">
                                          <p:val>
                                            <p:fltVal val="360"/>
                                          </p:val>
                                        </p:tav>
                                        <p:tav tm="100000">
                                          <p:val>
                                            <p:fltVal val="0"/>
                                          </p:val>
                                        </p:tav>
                                      </p:tavLst>
                                    </p:anim>
                                    <p:animEffect transition="in" filter="fade">
                                      <p:cBhvr>
                                        <p:cTn id="74" dur="500"/>
                                        <p:tgtEl>
                                          <p:spTgt spid="40970"/>
                                        </p:tgtEl>
                                      </p:cBhvr>
                                    </p:animEffect>
                                  </p:childTnLst>
                                </p:cTn>
                              </p:par>
                            </p:childTnLst>
                          </p:cTn>
                        </p:par>
                      </p:childTnLst>
                    </p:cTn>
                  </p:par>
                  <p:par>
                    <p:cTn id="75" fill="hold">
                      <p:stCondLst>
                        <p:cond delay="indefinite"/>
                      </p:stCondLst>
                      <p:childTnLst>
                        <p:par>
                          <p:cTn id="76" fill="hold">
                            <p:stCondLst>
                              <p:cond delay="0"/>
                            </p:stCondLst>
                            <p:childTnLst>
                              <p:par>
                                <p:cTn id="77" presetID="49" presetClass="entr" presetSubtype="0" decel="10000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anim calcmode="lin" valueType="num">
                                      <p:cBhvr>
                                        <p:cTn id="79" dur="500" fill="hold"/>
                                        <p:tgtEl>
                                          <p:spTgt spid="14"/>
                                        </p:tgtEl>
                                        <p:attrNameLst>
                                          <p:attrName>ppt_w</p:attrName>
                                        </p:attrNameLst>
                                      </p:cBhvr>
                                      <p:tavLst>
                                        <p:tav tm="0">
                                          <p:val>
                                            <p:fltVal val="0"/>
                                          </p:val>
                                        </p:tav>
                                        <p:tav tm="100000">
                                          <p:val>
                                            <p:strVal val="#ppt_w"/>
                                          </p:val>
                                        </p:tav>
                                      </p:tavLst>
                                    </p:anim>
                                    <p:anim calcmode="lin" valueType="num">
                                      <p:cBhvr>
                                        <p:cTn id="80" dur="500" fill="hold"/>
                                        <p:tgtEl>
                                          <p:spTgt spid="14"/>
                                        </p:tgtEl>
                                        <p:attrNameLst>
                                          <p:attrName>ppt_h</p:attrName>
                                        </p:attrNameLst>
                                      </p:cBhvr>
                                      <p:tavLst>
                                        <p:tav tm="0">
                                          <p:val>
                                            <p:fltVal val="0"/>
                                          </p:val>
                                        </p:tav>
                                        <p:tav tm="100000">
                                          <p:val>
                                            <p:strVal val="#ppt_h"/>
                                          </p:val>
                                        </p:tav>
                                      </p:tavLst>
                                    </p:anim>
                                    <p:anim calcmode="lin" valueType="num">
                                      <p:cBhvr>
                                        <p:cTn id="81" dur="500" fill="hold"/>
                                        <p:tgtEl>
                                          <p:spTgt spid="14"/>
                                        </p:tgtEl>
                                        <p:attrNameLst>
                                          <p:attrName>style.rotation</p:attrName>
                                        </p:attrNameLst>
                                      </p:cBhvr>
                                      <p:tavLst>
                                        <p:tav tm="0">
                                          <p:val>
                                            <p:fltVal val="360"/>
                                          </p:val>
                                        </p:tav>
                                        <p:tav tm="100000">
                                          <p:val>
                                            <p:fltVal val="0"/>
                                          </p:val>
                                        </p:tav>
                                      </p:tavLst>
                                    </p:anim>
                                    <p:animEffect transition="in" filter="fade">
                                      <p:cBhvr>
                                        <p:cTn id="8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http://ninl.blog.siol.net/files/2008/09/give20up20cat20pics.jpg"/>
          <p:cNvPicPr>
            <a:picLocks noChangeAspect="1" noChangeArrowheads="1"/>
          </p:cNvPicPr>
          <p:nvPr/>
        </p:nvPicPr>
        <p:blipFill>
          <a:blip r:embed="rId2" cstate="print"/>
          <a:srcRect/>
          <a:stretch>
            <a:fillRect/>
          </a:stretch>
        </p:blipFill>
        <p:spPr bwMode="auto">
          <a:xfrm>
            <a:off x="0" y="0"/>
            <a:ext cx="9144000" cy="5715000"/>
          </a:xfrm>
          <a:prstGeom prst="rect">
            <a:avLst/>
          </a:prstGeom>
          <a:noFill/>
        </p:spPr>
      </p:pic>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1835696" y="5805264"/>
            <a:ext cx="5867400" cy="1052736"/>
          </a:xfrm>
        </p:spPr>
        <p:txBody>
          <a:bodyPr>
            <a:normAutofit fontScale="92500" lnSpcReduction="20000"/>
          </a:bodyPr>
          <a:lstStyle/>
          <a:p>
            <a:r>
              <a:rPr lang="en-US" altLang="zh-TW" dirty="0" smtClean="0">
                <a:solidFill>
                  <a:srgbClr val="FFFF00"/>
                </a:solidFill>
              </a:rPr>
              <a:t>OK, I give up</a:t>
            </a:r>
          </a:p>
          <a:p>
            <a:r>
              <a:rPr lang="en-US" altLang="zh-TW" dirty="0" smtClean="0">
                <a:solidFill>
                  <a:srgbClr val="FFFF00"/>
                </a:solidFill>
              </a:rPr>
              <a:t>I will go back to write all applications in web and get rid of platform dependency</a:t>
            </a:r>
            <a:endParaRPr lang="zh-TW" altLang="en-US" dirty="0">
              <a:solidFill>
                <a:srgbClr val="FFFF00"/>
              </a:solidFill>
            </a:endParaRPr>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40</a:t>
            </a:fld>
            <a:endParaRPr lang="zh-TW"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STILL</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3250" name="Picture 2" descr="http://t1.gstatic.com/images?q=tbn:ANd9GcRGYSpgJWIAdi_myo-DYDFahi3dY7lJ-DoUmKjyFHGsDKzOrk-dPA&amp;t=1"/>
          <p:cNvPicPr>
            <a:picLocks noChangeAspect="1" noChangeArrowheads="1"/>
          </p:cNvPicPr>
          <p:nvPr/>
        </p:nvPicPr>
        <p:blipFill>
          <a:blip r:embed="rId2" cstate="print"/>
          <a:srcRect/>
          <a:stretch>
            <a:fillRect/>
          </a:stretch>
        </p:blipFill>
        <p:spPr bwMode="auto">
          <a:xfrm>
            <a:off x="1907704" y="2060848"/>
            <a:ext cx="6840756" cy="4104456"/>
          </a:xfrm>
          <a:prstGeom prst="rect">
            <a:avLst/>
          </a:prstGeom>
          <a:noFill/>
        </p:spPr>
      </p:pic>
      <p:pic>
        <p:nvPicPr>
          <p:cNvPr id="53252" name="Picture 4" descr="http://pic.pimg.tw/belongnews/f4dd23602c8b98e7e4913703b0e4dd4d.jpg"/>
          <p:cNvPicPr>
            <a:picLocks noChangeAspect="1" noChangeArrowheads="1"/>
          </p:cNvPicPr>
          <p:nvPr/>
        </p:nvPicPr>
        <p:blipFill>
          <a:blip r:embed="rId3" cstate="print"/>
          <a:srcRect/>
          <a:stretch>
            <a:fillRect/>
          </a:stretch>
        </p:blipFill>
        <p:spPr bwMode="auto">
          <a:xfrm>
            <a:off x="3131840" y="1700808"/>
            <a:ext cx="4896544" cy="4728225"/>
          </a:xfrm>
          <a:prstGeom prst="rect">
            <a:avLst/>
          </a:prstGeom>
          <a:noFill/>
        </p:spPr>
      </p:pic>
      <p:pic>
        <p:nvPicPr>
          <p:cNvPr id="53254" name="Picture 6" descr="http://www.caramel-inc.com/service/wp-content/gallery/caramel/google-chrome-os.jpg"/>
          <p:cNvPicPr>
            <a:picLocks noChangeAspect="1" noChangeArrowheads="1"/>
          </p:cNvPicPr>
          <p:nvPr/>
        </p:nvPicPr>
        <p:blipFill>
          <a:blip r:embed="rId4" cstate="print"/>
          <a:srcRect/>
          <a:stretch>
            <a:fillRect/>
          </a:stretch>
        </p:blipFill>
        <p:spPr bwMode="auto">
          <a:xfrm>
            <a:off x="1043608" y="1844824"/>
            <a:ext cx="7353062" cy="4595664"/>
          </a:xfrm>
          <a:prstGeom prst="rect">
            <a:avLst/>
          </a:prstGeom>
          <a:noFill/>
        </p:spPr>
      </p:pic>
      <p:pic>
        <p:nvPicPr>
          <p:cNvPr id="53256" name="Picture 8" descr="http://blog.alltechrelated.com/wp-content/uploads/2009/10/safari_icon.jpg"/>
          <p:cNvPicPr>
            <a:picLocks noChangeAspect="1" noChangeArrowheads="1"/>
          </p:cNvPicPr>
          <p:nvPr/>
        </p:nvPicPr>
        <p:blipFill>
          <a:blip r:embed="rId5" cstate="print"/>
          <a:srcRect/>
          <a:stretch>
            <a:fillRect/>
          </a:stretch>
        </p:blipFill>
        <p:spPr bwMode="auto">
          <a:xfrm>
            <a:off x="2843808" y="1628800"/>
            <a:ext cx="4680520" cy="4700106"/>
          </a:xfrm>
          <a:prstGeom prst="rect">
            <a:avLst/>
          </a:prstGeom>
          <a:noFill/>
        </p:spPr>
      </p:pic>
      <p:pic>
        <p:nvPicPr>
          <p:cNvPr id="53258" name="Picture 10" descr="http://t3.gstatic.com/images?q=tbn:ANd9GcTC0IFYb2a2Ds-B2Cl_ZP-YdGBifryhLq3xIb_j57myv8tvjUOkpw&amp;t=1"/>
          <p:cNvPicPr>
            <a:picLocks noChangeAspect="1" noChangeArrowheads="1"/>
          </p:cNvPicPr>
          <p:nvPr/>
        </p:nvPicPr>
        <p:blipFill>
          <a:blip r:embed="rId6" cstate="print"/>
          <a:srcRect/>
          <a:stretch>
            <a:fillRect/>
          </a:stretch>
        </p:blipFill>
        <p:spPr bwMode="auto">
          <a:xfrm>
            <a:off x="2483768" y="1484784"/>
            <a:ext cx="6264696" cy="4971981"/>
          </a:xfrm>
          <a:prstGeom prst="rect">
            <a:avLst/>
          </a:prstGeom>
          <a:noFill/>
        </p:spPr>
      </p:pic>
      <p:sp>
        <p:nvSpPr>
          <p:cNvPr id="9" name="投影片編號版面配置區 8"/>
          <p:cNvSpPr>
            <a:spLocks noGrp="1"/>
          </p:cNvSpPr>
          <p:nvPr>
            <p:ph type="sldNum" sz="quarter" idx="12"/>
          </p:nvPr>
        </p:nvSpPr>
        <p:spPr/>
        <p:txBody>
          <a:bodyPr/>
          <a:lstStyle/>
          <a:p>
            <a:fld id="{73DA0BB7-265A-403C-9275-D587AB510EDC}" type="slidenum">
              <a:rPr lang="zh-TW" altLang="en-US" smtClean="0"/>
              <a:pPr/>
              <a:t>41</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p:cTn id="7" dur="500" fill="hold"/>
                                        <p:tgtEl>
                                          <p:spTgt spid="53250"/>
                                        </p:tgtEl>
                                        <p:attrNameLst>
                                          <p:attrName>ppt_w</p:attrName>
                                        </p:attrNameLst>
                                      </p:cBhvr>
                                      <p:tavLst>
                                        <p:tav tm="0">
                                          <p:val>
                                            <p:fltVal val="0"/>
                                          </p:val>
                                        </p:tav>
                                        <p:tav tm="100000">
                                          <p:val>
                                            <p:strVal val="#ppt_w"/>
                                          </p:val>
                                        </p:tav>
                                      </p:tavLst>
                                    </p:anim>
                                    <p:anim calcmode="lin" valueType="num">
                                      <p:cBhvr>
                                        <p:cTn id="8" dur="500" fill="hold"/>
                                        <p:tgtEl>
                                          <p:spTgt spid="53250"/>
                                        </p:tgtEl>
                                        <p:attrNameLst>
                                          <p:attrName>ppt_h</p:attrName>
                                        </p:attrNameLst>
                                      </p:cBhvr>
                                      <p:tavLst>
                                        <p:tav tm="0">
                                          <p:val>
                                            <p:fltVal val="0"/>
                                          </p:val>
                                        </p:tav>
                                        <p:tav tm="100000">
                                          <p:val>
                                            <p:strVal val="#ppt_h"/>
                                          </p:val>
                                        </p:tav>
                                      </p:tavLst>
                                    </p:anim>
                                    <p:anim calcmode="lin" valueType="num">
                                      <p:cBhvr>
                                        <p:cTn id="9" dur="500" fill="hold"/>
                                        <p:tgtEl>
                                          <p:spTgt spid="53250"/>
                                        </p:tgtEl>
                                        <p:attrNameLst>
                                          <p:attrName>style.rotation</p:attrName>
                                        </p:attrNameLst>
                                      </p:cBhvr>
                                      <p:tavLst>
                                        <p:tav tm="0">
                                          <p:val>
                                            <p:fltVal val="360"/>
                                          </p:val>
                                        </p:tav>
                                        <p:tav tm="100000">
                                          <p:val>
                                            <p:fltVal val="0"/>
                                          </p:val>
                                        </p:tav>
                                      </p:tavLst>
                                    </p:anim>
                                    <p:animEffect transition="in" filter="fade">
                                      <p:cBhvr>
                                        <p:cTn id="10" dur="500"/>
                                        <p:tgtEl>
                                          <p:spTgt spid="53250"/>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53252"/>
                                        </p:tgtEl>
                                        <p:attrNameLst>
                                          <p:attrName>style.visibility</p:attrName>
                                        </p:attrNameLst>
                                      </p:cBhvr>
                                      <p:to>
                                        <p:strVal val="visible"/>
                                      </p:to>
                                    </p:set>
                                    <p:anim calcmode="lin" valueType="num">
                                      <p:cBhvr>
                                        <p:cTn id="15" dur="500" fill="hold"/>
                                        <p:tgtEl>
                                          <p:spTgt spid="53252"/>
                                        </p:tgtEl>
                                        <p:attrNameLst>
                                          <p:attrName>ppt_w</p:attrName>
                                        </p:attrNameLst>
                                      </p:cBhvr>
                                      <p:tavLst>
                                        <p:tav tm="0">
                                          <p:val>
                                            <p:fltVal val="0"/>
                                          </p:val>
                                        </p:tav>
                                        <p:tav tm="100000">
                                          <p:val>
                                            <p:strVal val="#ppt_w"/>
                                          </p:val>
                                        </p:tav>
                                      </p:tavLst>
                                    </p:anim>
                                    <p:anim calcmode="lin" valueType="num">
                                      <p:cBhvr>
                                        <p:cTn id="16" dur="500" fill="hold"/>
                                        <p:tgtEl>
                                          <p:spTgt spid="53252"/>
                                        </p:tgtEl>
                                        <p:attrNameLst>
                                          <p:attrName>ppt_h</p:attrName>
                                        </p:attrNameLst>
                                      </p:cBhvr>
                                      <p:tavLst>
                                        <p:tav tm="0">
                                          <p:val>
                                            <p:fltVal val="0"/>
                                          </p:val>
                                        </p:tav>
                                        <p:tav tm="100000">
                                          <p:val>
                                            <p:strVal val="#ppt_h"/>
                                          </p:val>
                                        </p:tav>
                                      </p:tavLst>
                                    </p:anim>
                                    <p:anim calcmode="lin" valueType="num">
                                      <p:cBhvr>
                                        <p:cTn id="17" dur="500" fill="hold"/>
                                        <p:tgtEl>
                                          <p:spTgt spid="53252"/>
                                        </p:tgtEl>
                                        <p:attrNameLst>
                                          <p:attrName>style.rotation</p:attrName>
                                        </p:attrNameLst>
                                      </p:cBhvr>
                                      <p:tavLst>
                                        <p:tav tm="0">
                                          <p:val>
                                            <p:fltVal val="360"/>
                                          </p:val>
                                        </p:tav>
                                        <p:tav tm="100000">
                                          <p:val>
                                            <p:fltVal val="0"/>
                                          </p:val>
                                        </p:tav>
                                      </p:tavLst>
                                    </p:anim>
                                    <p:animEffect transition="in" filter="fade">
                                      <p:cBhvr>
                                        <p:cTn id="18" dur="500"/>
                                        <p:tgtEl>
                                          <p:spTgt spid="53252"/>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53254"/>
                                        </p:tgtEl>
                                        <p:attrNameLst>
                                          <p:attrName>style.visibility</p:attrName>
                                        </p:attrNameLst>
                                      </p:cBhvr>
                                      <p:to>
                                        <p:strVal val="visible"/>
                                      </p:to>
                                    </p:set>
                                    <p:anim calcmode="lin" valueType="num">
                                      <p:cBhvr>
                                        <p:cTn id="23" dur="500" fill="hold"/>
                                        <p:tgtEl>
                                          <p:spTgt spid="53254"/>
                                        </p:tgtEl>
                                        <p:attrNameLst>
                                          <p:attrName>ppt_w</p:attrName>
                                        </p:attrNameLst>
                                      </p:cBhvr>
                                      <p:tavLst>
                                        <p:tav tm="0">
                                          <p:val>
                                            <p:fltVal val="0"/>
                                          </p:val>
                                        </p:tav>
                                        <p:tav tm="100000">
                                          <p:val>
                                            <p:strVal val="#ppt_w"/>
                                          </p:val>
                                        </p:tav>
                                      </p:tavLst>
                                    </p:anim>
                                    <p:anim calcmode="lin" valueType="num">
                                      <p:cBhvr>
                                        <p:cTn id="24" dur="500" fill="hold"/>
                                        <p:tgtEl>
                                          <p:spTgt spid="53254"/>
                                        </p:tgtEl>
                                        <p:attrNameLst>
                                          <p:attrName>ppt_h</p:attrName>
                                        </p:attrNameLst>
                                      </p:cBhvr>
                                      <p:tavLst>
                                        <p:tav tm="0">
                                          <p:val>
                                            <p:fltVal val="0"/>
                                          </p:val>
                                        </p:tav>
                                        <p:tav tm="100000">
                                          <p:val>
                                            <p:strVal val="#ppt_h"/>
                                          </p:val>
                                        </p:tav>
                                      </p:tavLst>
                                    </p:anim>
                                    <p:anim calcmode="lin" valueType="num">
                                      <p:cBhvr>
                                        <p:cTn id="25" dur="500" fill="hold"/>
                                        <p:tgtEl>
                                          <p:spTgt spid="53254"/>
                                        </p:tgtEl>
                                        <p:attrNameLst>
                                          <p:attrName>style.rotation</p:attrName>
                                        </p:attrNameLst>
                                      </p:cBhvr>
                                      <p:tavLst>
                                        <p:tav tm="0">
                                          <p:val>
                                            <p:fltVal val="360"/>
                                          </p:val>
                                        </p:tav>
                                        <p:tav tm="100000">
                                          <p:val>
                                            <p:fltVal val="0"/>
                                          </p:val>
                                        </p:tav>
                                      </p:tavLst>
                                    </p:anim>
                                    <p:animEffect transition="in" filter="fade">
                                      <p:cBhvr>
                                        <p:cTn id="26" dur="500"/>
                                        <p:tgtEl>
                                          <p:spTgt spid="53254"/>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53256"/>
                                        </p:tgtEl>
                                        <p:attrNameLst>
                                          <p:attrName>style.visibility</p:attrName>
                                        </p:attrNameLst>
                                      </p:cBhvr>
                                      <p:to>
                                        <p:strVal val="visible"/>
                                      </p:to>
                                    </p:set>
                                    <p:anim calcmode="lin" valueType="num">
                                      <p:cBhvr>
                                        <p:cTn id="31" dur="500" fill="hold"/>
                                        <p:tgtEl>
                                          <p:spTgt spid="53256"/>
                                        </p:tgtEl>
                                        <p:attrNameLst>
                                          <p:attrName>ppt_w</p:attrName>
                                        </p:attrNameLst>
                                      </p:cBhvr>
                                      <p:tavLst>
                                        <p:tav tm="0">
                                          <p:val>
                                            <p:fltVal val="0"/>
                                          </p:val>
                                        </p:tav>
                                        <p:tav tm="100000">
                                          <p:val>
                                            <p:strVal val="#ppt_w"/>
                                          </p:val>
                                        </p:tav>
                                      </p:tavLst>
                                    </p:anim>
                                    <p:anim calcmode="lin" valueType="num">
                                      <p:cBhvr>
                                        <p:cTn id="32" dur="500" fill="hold"/>
                                        <p:tgtEl>
                                          <p:spTgt spid="53256"/>
                                        </p:tgtEl>
                                        <p:attrNameLst>
                                          <p:attrName>ppt_h</p:attrName>
                                        </p:attrNameLst>
                                      </p:cBhvr>
                                      <p:tavLst>
                                        <p:tav tm="0">
                                          <p:val>
                                            <p:fltVal val="0"/>
                                          </p:val>
                                        </p:tav>
                                        <p:tav tm="100000">
                                          <p:val>
                                            <p:strVal val="#ppt_h"/>
                                          </p:val>
                                        </p:tav>
                                      </p:tavLst>
                                    </p:anim>
                                    <p:anim calcmode="lin" valueType="num">
                                      <p:cBhvr>
                                        <p:cTn id="33" dur="500" fill="hold"/>
                                        <p:tgtEl>
                                          <p:spTgt spid="53256"/>
                                        </p:tgtEl>
                                        <p:attrNameLst>
                                          <p:attrName>style.rotation</p:attrName>
                                        </p:attrNameLst>
                                      </p:cBhvr>
                                      <p:tavLst>
                                        <p:tav tm="0">
                                          <p:val>
                                            <p:fltVal val="360"/>
                                          </p:val>
                                        </p:tav>
                                        <p:tav tm="100000">
                                          <p:val>
                                            <p:fltVal val="0"/>
                                          </p:val>
                                        </p:tav>
                                      </p:tavLst>
                                    </p:anim>
                                    <p:animEffect transition="in" filter="fade">
                                      <p:cBhvr>
                                        <p:cTn id="34" dur="500"/>
                                        <p:tgtEl>
                                          <p:spTgt spid="53256"/>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nodeType="clickEffect">
                                  <p:stCondLst>
                                    <p:cond delay="0"/>
                                  </p:stCondLst>
                                  <p:childTnLst>
                                    <p:set>
                                      <p:cBhvr>
                                        <p:cTn id="38" dur="1" fill="hold">
                                          <p:stCondLst>
                                            <p:cond delay="0"/>
                                          </p:stCondLst>
                                        </p:cTn>
                                        <p:tgtEl>
                                          <p:spTgt spid="53258"/>
                                        </p:tgtEl>
                                        <p:attrNameLst>
                                          <p:attrName>style.visibility</p:attrName>
                                        </p:attrNameLst>
                                      </p:cBhvr>
                                      <p:to>
                                        <p:strVal val="visible"/>
                                      </p:to>
                                    </p:set>
                                    <p:anim calcmode="lin" valueType="num">
                                      <p:cBhvr>
                                        <p:cTn id="39" dur="500" fill="hold"/>
                                        <p:tgtEl>
                                          <p:spTgt spid="53258"/>
                                        </p:tgtEl>
                                        <p:attrNameLst>
                                          <p:attrName>ppt_w</p:attrName>
                                        </p:attrNameLst>
                                      </p:cBhvr>
                                      <p:tavLst>
                                        <p:tav tm="0">
                                          <p:val>
                                            <p:fltVal val="0"/>
                                          </p:val>
                                        </p:tav>
                                        <p:tav tm="100000">
                                          <p:val>
                                            <p:strVal val="#ppt_w"/>
                                          </p:val>
                                        </p:tav>
                                      </p:tavLst>
                                    </p:anim>
                                    <p:anim calcmode="lin" valueType="num">
                                      <p:cBhvr>
                                        <p:cTn id="40" dur="500" fill="hold"/>
                                        <p:tgtEl>
                                          <p:spTgt spid="53258"/>
                                        </p:tgtEl>
                                        <p:attrNameLst>
                                          <p:attrName>ppt_h</p:attrName>
                                        </p:attrNameLst>
                                      </p:cBhvr>
                                      <p:tavLst>
                                        <p:tav tm="0">
                                          <p:val>
                                            <p:fltVal val="0"/>
                                          </p:val>
                                        </p:tav>
                                        <p:tav tm="100000">
                                          <p:val>
                                            <p:strVal val="#ppt_h"/>
                                          </p:val>
                                        </p:tav>
                                      </p:tavLst>
                                    </p:anim>
                                    <p:anim calcmode="lin" valueType="num">
                                      <p:cBhvr>
                                        <p:cTn id="41" dur="500" fill="hold"/>
                                        <p:tgtEl>
                                          <p:spTgt spid="53258"/>
                                        </p:tgtEl>
                                        <p:attrNameLst>
                                          <p:attrName>style.rotation</p:attrName>
                                        </p:attrNameLst>
                                      </p:cBhvr>
                                      <p:tavLst>
                                        <p:tav tm="0">
                                          <p:val>
                                            <p:fltVal val="360"/>
                                          </p:val>
                                        </p:tav>
                                        <p:tav tm="100000">
                                          <p:val>
                                            <p:fltVal val="0"/>
                                          </p:val>
                                        </p:tav>
                                      </p:tavLst>
                                    </p:anim>
                                    <p:animEffect transition="in" filter="fade">
                                      <p:cBhvr>
                                        <p:cTn id="42" dur="500"/>
                                        <p:tgtEl>
                                          <p:spTgt spid="53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Including the PL, framework choice</a:t>
            </a:r>
            <a:endParaRPr lang="zh-TW" altLang="en-US" dirty="0"/>
          </a:p>
        </p:txBody>
      </p:sp>
      <p:sp>
        <p:nvSpPr>
          <p:cNvPr id="3" name="內容版面配置區 2"/>
          <p:cNvSpPr>
            <a:spLocks noGrp="1"/>
          </p:cNvSpPr>
          <p:nvPr>
            <p:ph idx="1"/>
          </p:nvPr>
        </p:nvSpPr>
        <p:spPr/>
        <p:txBody>
          <a:bodyPr/>
          <a:lstStyle/>
          <a:p>
            <a:r>
              <a:rPr lang="en-US" altLang="zh-TW" dirty="0" smtClean="0"/>
              <a:t>PHP, AJAX, Ruby on rails, ASP, JSP…..</a:t>
            </a:r>
            <a:endParaRPr lang="zh-TW" altLang="en-US" dirty="0"/>
          </a:p>
        </p:txBody>
      </p:sp>
      <p:pic>
        <p:nvPicPr>
          <p:cNvPr id="4" name="Picture 2" descr="http://ninl.blog.siol.net/files/2008/09/give20up20cat20pics.jpg"/>
          <p:cNvPicPr>
            <a:picLocks noChangeAspect="1" noChangeArrowheads="1"/>
          </p:cNvPicPr>
          <p:nvPr/>
        </p:nvPicPr>
        <p:blipFill>
          <a:blip r:embed="rId2" cstate="print"/>
          <a:srcRect/>
          <a:stretch>
            <a:fillRect/>
          </a:stretch>
        </p:blipFill>
        <p:spPr bwMode="auto">
          <a:xfrm>
            <a:off x="2267744" y="2420888"/>
            <a:ext cx="6588224" cy="4117640"/>
          </a:xfrm>
          <a:prstGeom prst="rect">
            <a:avLst/>
          </a:prstGeom>
          <a:noFill/>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42</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Some NOTES</a:t>
            </a:r>
            <a:endParaRPr lang="zh-TW" altLang="en-US" dirty="0"/>
          </a:p>
        </p:txBody>
      </p:sp>
      <p:sp>
        <p:nvSpPr>
          <p:cNvPr id="3" name="內容版面配置區 2"/>
          <p:cNvSpPr>
            <a:spLocks noGrp="1"/>
          </p:cNvSpPr>
          <p:nvPr>
            <p:ph idx="1"/>
          </p:nvPr>
        </p:nvSpPr>
        <p:spPr/>
        <p:txBody>
          <a:bodyPr/>
          <a:lstStyle/>
          <a:p>
            <a:r>
              <a:rPr lang="en-US" altLang="zh-TW" dirty="0" smtClean="0"/>
              <a:t>So far, </a:t>
            </a:r>
            <a:r>
              <a:rPr lang="en-US" altLang="zh-TW" dirty="0" smtClean="0"/>
              <a:t>many</a:t>
            </a:r>
            <a:r>
              <a:rPr lang="en-US" altLang="zh-TW" dirty="0" smtClean="0"/>
              <a:t> </a:t>
            </a:r>
            <a:r>
              <a:rPr lang="en-US" altLang="zh-TW" dirty="0" smtClean="0"/>
              <a:t>apps are still difficult to be deployed on web.</a:t>
            </a:r>
          </a:p>
          <a:p>
            <a:r>
              <a:rPr lang="en-US" altLang="zh-TW" dirty="0" smtClean="0"/>
              <a:t>UI efficiency is the main concern.</a:t>
            </a: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43</a:t>
            </a:fld>
            <a:endParaRPr lang="zh-TW"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Back to MVC</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56322" name="Picture 2"/>
          <p:cNvPicPr>
            <a:picLocks noChangeAspect="1" noChangeArrowheads="1"/>
          </p:cNvPicPr>
          <p:nvPr/>
        </p:nvPicPr>
        <p:blipFill>
          <a:blip r:embed="rId2" cstate="print"/>
          <a:srcRect/>
          <a:stretch>
            <a:fillRect/>
          </a:stretch>
        </p:blipFill>
        <p:spPr bwMode="auto">
          <a:xfrm>
            <a:off x="1331640" y="2852936"/>
            <a:ext cx="6562725" cy="1914525"/>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73DA0BB7-265A-403C-9275-D587AB510EDC}" type="slidenum">
              <a:rPr lang="zh-TW" altLang="en-US" smtClean="0"/>
              <a:pPr/>
              <a:t>44</a:t>
            </a:fld>
            <a:endParaRPr lang="zh-TW"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srcRect/>
          <a:stretch>
            <a:fillRect/>
          </a:stretch>
        </p:blipFill>
        <p:spPr bwMode="auto">
          <a:xfrm>
            <a:off x="0" y="455787"/>
            <a:ext cx="9144000" cy="6402213"/>
          </a:xfrm>
          <a:prstGeom prst="rect">
            <a:avLst/>
          </a:prstGeom>
          <a:noFill/>
          <a:ln w="9525">
            <a:noFill/>
            <a:miter lim="800000"/>
            <a:headEnd/>
            <a:tailEnd/>
          </a:ln>
        </p:spPr>
      </p:pic>
      <p:sp>
        <p:nvSpPr>
          <p:cNvPr id="2" name="標題 1"/>
          <p:cNvSpPr>
            <a:spLocks noGrp="1"/>
          </p:cNvSpPr>
          <p:nvPr>
            <p:ph type="title"/>
          </p:nvPr>
        </p:nvSpPr>
        <p:spPr>
          <a:xfrm>
            <a:off x="2123728" y="0"/>
            <a:ext cx="6172200" cy="1143000"/>
          </a:xfrm>
        </p:spPr>
        <p:txBody>
          <a:bodyPr/>
          <a:lstStyle/>
          <a:p>
            <a:r>
              <a:rPr lang="en-US" altLang="zh-TW" dirty="0" smtClean="0">
                <a:solidFill>
                  <a:srgbClr val="C00000"/>
                </a:solidFill>
              </a:rPr>
              <a:t>Tool views</a:t>
            </a:r>
            <a:endParaRPr lang="zh-TW" altLang="en-US" dirty="0">
              <a:solidFill>
                <a:srgbClr val="C00000"/>
              </a:solidFill>
            </a:endParaRPr>
          </a:p>
        </p:txBody>
      </p:sp>
      <p:sp>
        <p:nvSpPr>
          <p:cNvPr id="3" name="內容版面配置區 2"/>
          <p:cNvSpPr>
            <a:spLocks noGrp="1"/>
          </p:cNvSpPr>
          <p:nvPr>
            <p:ph idx="1"/>
          </p:nvPr>
        </p:nvSpPr>
        <p:spPr/>
        <p:txBody>
          <a:bodyPr/>
          <a:lstStyle/>
          <a:p>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45</a:t>
            </a:fld>
            <a:endParaRPr lang="zh-TW"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7347" name="Picture 3"/>
          <p:cNvPicPr>
            <a:picLocks noChangeAspect="1" noChangeArrowheads="1"/>
          </p:cNvPicPr>
          <p:nvPr/>
        </p:nvPicPr>
        <p:blipFill>
          <a:blip r:embed="rId2" cstate="print"/>
          <a:srcRect/>
          <a:stretch>
            <a:fillRect/>
          </a:stretch>
        </p:blipFill>
        <p:spPr bwMode="auto">
          <a:xfrm>
            <a:off x="0" y="0"/>
            <a:ext cx="9144000" cy="6741368"/>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73DA0BB7-265A-403C-9275-D587AB510EDC}" type="slidenum">
              <a:rPr lang="zh-TW" altLang="en-US" smtClean="0"/>
              <a:pPr/>
              <a:t>46</a:t>
            </a:fld>
            <a:endParaRPr lang="zh-TW" alt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Model</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8370" name="Picture 2"/>
          <p:cNvPicPr>
            <a:picLocks noChangeAspect="1" noChangeArrowheads="1"/>
          </p:cNvPicPr>
          <p:nvPr/>
        </p:nvPicPr>
        <p:blipFill>
          <a:blip r:embed="rId2" cstate="print"/>
          <a:srcRect/>
          <a:stretch>
            <a:fillRect/>
          </a:stretch>
        </p:blipFill>
        <p:spPr bwMode="auto">
          <a:xfrm>
            <a:off x="467544" y="1772816"/>
            <a:ext cx="8258814" cy="4104456"/>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47</a:t>
            </a:fld>
            <a:endParaRPr lang="zh-TW"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9394" name="Picture 2"/>
          <p:cNvPicPr>
            <a:picLocks noChangeAspect="1" noChangeArrowheads="1"/>
          </p:cNvPicPr>
          <p:nvPr/>
        </p:nvPicPr>
        <p:blipFill>
          <a:blip r:embed="rId2" cstate="print"/>
          <a:srcRect/>
          <a:stretch>
            <a:fillRect/>
          </a:stretch>
        </p:blipFill>
        <p:spPr bwMode="auto">
          <a:xfrm>
            <a:off x="323528" y="260648"/>
            <a:ext cx="8496944" cy="6276975"/>
          </a:xfrm>
          <a:prstGeom prst="rect">
            <a:avLst/>
          </a:prstGeom>
          <a:noFill/>
          <a:ln w="9525">
            <a:noFill/>
            <a:miter lim="800000"/>
            <a:headEnd/>
            <a:tailEnd/>
          </a:ln>
        </p:spPr>
      </p:pic>
      <p:sp>
        <p:nvSpPr>
          <p:cNvPr id="5" name="文字方塊 4"/>
          <p:cNvSpPr txBox="1"/>
          <p:nvPr/>
        </p:nvSpPr>
        <p:spPr>
          <a:xfrm>
            <a:off x="755576" y="1556792"/>
            <a:ext cx="1893467" cy="369332"/>
          </a:xfrm>
          <a:prstGeom prst="rect">
            <a:avLst/>
          </a:prstGeom>
          <a:noFill/>
        </p:spPr>
        <p:txBody>
          <a:bodyPr wrap="none" rtlCol="0">
            <a:spAutoFit/>
          </a:bodyPr>
          <a:lstStyle/>
          <a:p>
            <a:r>
              <a:rPr lang="en-US" altLang="zh-TW" b="1" dirty="0" smtClean="0">
                <a:solidFill>
                  <a:srgbClr val="C00000"/>
                </a:solidFill>
              </a:rPr>
              <a:t>Put all together</a:t>
            </a:r>
            <a:endParaRPr lang="zh-TW" altLang="en-US" b="1" dirty="0">
              <a:solidFill>
                <a:srgbClr val="C00000"/>
              </a:solidFill>
            </a:endParaRP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48</a:t>
            </a:fld>
            <a:endParaRPr lang="zh-TW" alt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Model interface</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60418" name="Picture 2"/>
          <p:cNvPicPr>
            <a:picLocks noChangeAspect="1" noChangeArrowheads="1"/>
          </p:cNvPicPr>
          <p:nvPr/>
        </p:nvPicPr>
        <p:blipFill>
          <a:blip r:embed="rId2" cstate="print"/>
          <a:srcRect/>
          <a:stretch>
            <a:fillRect/>
          </a:stretch>
        </p:blipFill>
        <p:spPr bwMode="auto">
          <a:xfrm>
            <a:off x="683568" y="1556792"/>
            <a:ext cx="7920880" cy="4849038"/>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49</a:t>
            </a:fld>
            <a:endParaRPr lang="zh-TW"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1442" name="Picture 2"/>
          <p:cNvPicPr>
            <a:picLocks noChangeAspect="1" noChangeArrowheads="1"/>
          </p:cNvPicPr>
          <p:nvPr/>
        </p:nvPicPr>
        <p:blipFill>
          <a:blip r:embed="rId2" cstate="print"/>
          <a:srcRect/>
          <a:stretch>
            <a:fillRect/>
          </a:stretch>
        </p:blipFill>
        <p:spPr bwMode="auto">
          <a:xfrm>
            <a:off x="755576" y="188640"/>
            <a:ext cx="7920880" cy="651510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50</a:t>
            </a:fld>
            <a:endParaRPr lang="zh-TW"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2466" name="Picture 2"/>
          <p:cNvPicPr>
            <a:picLocks noChangeAspect="1" noChangeArrowheads="1"/>
          </p:cNvPicPr>
          <p:nvPr/>
        </p:nvPicPr>
        <p:blipFill>
          <a:blip r:embed="rId2" cstate="print"/>
          <a:srcRect/>
          <a:stretch>
            <a:fillRect/>
          </a:stretch>
        </p:blipFill>
        <p:spPr bwMode="auto">
          <a:xfrm>
            <a:off x="179512" y="188639"/>
            <a:ext cx="8712968" cy="6472491"/>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51</a:t>
            </a:fld>
            <a:endParaRPr lang="zh-TW" alt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3490" name="Picture 2"/>
          <p:cNvPicPr>
            <a:picLocks noChangeAspect="1" noChangeArrowheads="1"/>
          </p:cNvPicPr>
          <p:nvPr/>
        </p:nvPicPr>
        <p:blipFill>
          <a:blip r:embed="rId2" cstate="print"/>
          <a:srcRect/>
          <a:stretch>
            <a:fillRect/>
          </a:stretch>
        </p:blipFill>
        <p:spPr bwMode="auto">
          <a:xfrm>
            <a:off x="395536" y="188640"/>
            <a:ext cx="8424936" cy="6296025"/>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52</a:t>
            </a:fld>
            <a:endParaRPr lang="zh-TW"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4514" name="Picture 2"/>
          <p:cNvPicPr>
            <a:picLocks noChangeAspect="1" noChangeArrowheads="1"/>
          </p:cNvPicPr>
          <p:nvPr/>
        </p:nvPicPr>
        <p:blipFill>
          <a:blip r:embed="rId2" cstate="print"/>
          <a:srcRect/>
          <a:stretch>
            <a:fillRect/>
          </a:stretch>
        </p:blipFill>
        <p:spPr bwMode="auto">
          <a:xfrm>
            <a:off x="179512" y="1340768"/>
            <a:ext cx="8710308" cy="5040560"/>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5538" name="Picture 2"/>
          <p:cNvPicPr>
            <a:picLocks noChangeAspect="1" noChangeArrowheads="1"/>
          </p:cNvPicPr>
          <p:nvPr/>
        </p:nvPicPr>
        <p:blipFill>
          <a:blip r:embed="rId2" cstate="print"/>
          <a:srcRect/>
          <a:stretch>
            <a:fillRect/>
          </a:stretch>
        </p:blipFill>
        <p:spPr bwMode="auto">
          <a:xfrm>
            <a:off x="785436" y="548680"/>
            <a:ext cx="8107044" cy="5988943"/>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54</a:t>
            </a:fld>
            <a:endParaRPr lang="zh-TW"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Adapt the model to reuse view</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66562" name="Picture 2"/>
          <p:cNvPicPr>
            <a:picLocks noChangeAspect="1" noChangeArrowheads="1"/>
          </p:cNvPicPr>
          <p:nvPr/>
        </p:nvPicPr>
        <p:blipFill>
          <a:blip r:embed="rId2" cstate="print"/>
          <a:srcRect/>
          <a:stretch>
            <a:fillRect/>
          </a:stretch>
        </p:blipFill>
        <p:spPr bwMode="auto">
          <a:xfrm>
            <a:off x="1691680" y="1556792"/>
            <a:ext cx="6591300" cy="4905375"/>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55</a:t>
            </a:fld>
            <a:endParaRPr lang="zh-TW"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7586" name="Picture 2"/>
          <p:cNvPicPr>
            <a:picLocks noChangeAspect="1" noChangeArrowheads="1"/>
          </p:cNvPicPr>
          <p:nvPr/>
        </p:nvPicPr>
        <p:blipFill>
          <a:blip r:embed="rId2" cstate="print"/>
          <a:srcRect/>
          <a:stretch>
            <a:fillRect/>
          </a:stretch>
        </p:blipFill>
        <p:spPr bwMode="auto">
          <a:xfrm>
            <a:off x="1619672" y="1268760"/>
            <a:ext cx="7204189" cy="5184576"/>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56</a:t>
            </a:fld>
            <a:endParaRPr lang="zh-TW"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MVC</a:t>
            </a:r>
            <a:r>
              <a:rPr lang="zh-TW" altLang="en-US" dirty="0" smtClean="0"/>
              <a:t> </a:t>
            </a:r>
            <a:r>
              <a:rPr lang="en-US" altLang="zh-TW" dirty="0" smtClean="0"/>
              <a:t>and the web</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68610" name="Picture 2"/>
          <p:cNvPicPr>
            <a:picLocks noChangeAspect="1" noChangeArrowheads="1"/>
          </p:cNvPicPr>
          <p:nvPr/>
        </p:nvPicPr>
        <p:blipFill>
          <a:blip r:embed="rId2" cstate="print"/>
          <a:srcRect/>
          <a:stretch>
            <a:fillRect/>
          </a:stretch>
        </p:blipFill>
        <p:spPr bwMode="auto">
          <a:xfrm>
            <a:off x="467544" y="1844824"/>
            <a:ext cx="8424936" cy="4256944"/>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57</a:t>
            </a:fld>
            <a:endParaRPr lang="zh-TW" altLang="en-US"/>
          </a:p>
        </p:txBody>
      </p:sp>
      <p:sp>
        <p:nvSpPr>
          <p:cNvPr id="6" name="圓角矩形 5"/>
          <p:cNvSpPr/>
          <p:nvPr/>
        </p:nvSpPr>
        <p:spPr>
          <a:xfrm>
            <a:off x="1907704" y="1844824"/>
            <a:ext cx="1152128" cy="360040"/>
          </a:xfrm>
          <a:prstGeom prst="roundRect">
            <a:avLst/>
          </a:prstGeom>
          <a:noFill/>
          <a:ln w="57150">
            <a:solidFill>
              <a:srgbClr val="FF000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11760" y="0"/>
            <a:ext cx="6172200" cy="1143000"/>
          </a:xfrm>
        </p:spPr>
        <p:txBody>
          <a:bodyPr/>
          <a:lstStyle/>
          <a:p>
            <a:r>
              <a:rPr lang="en-US" altLang="zh-TW" sz="2400" dirty="0" smtClean="0"/>
              <a:t>Last Challenge !! Change your program to adapt web view and controller</a:t>
            </a:r>
            <a:endParaRPr lang="zh-TW" altLang="en-US" sz="2400"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58</a:t>
            </a:fld>
            <a:endParaRPr lang="zh-TW" altLang="en-US"/>
          </a:p>
        </p:txBody>
      </p:sp>
      <p:pic>
        <p:nvPicPr>
          <p:cNvPr id="70658" name="Picture 2"/>
          <p:cNvPicPr>
            <a:picLocks noChangeAspect="1" noChangeArrowheads="1"/>
          </p:cNvPicPr>
          <p:nvPr/>
        </p:nvPicPr>
        <p:blipFill>
          <a:blip r:embed="rId2" cstate="print"/>
          <a:srcRect/>
          <a:stretch>
            <a:fillRect/>
          </a:stretch>
        </p:blipFill>
        <p:spPr bwMode="auto">
          <a:xfrm>
            <a:off x="1907704" y="1124744"/>
            <a:ext cx="6478572" cy="54876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a:p>
        </p:txBody>
      </p:sp>
      <p:pic>
        <p:nvPicPr>
          <p:cNvPr id="69634" name="Picture 2"/>
          <p:cNvPicPr>
            <a:picLocks noChangeAspect="1" noChangeArrowheads="1"/>
          </p:cNvPicPr>
          <p:nvPr/>
        </p:nvPicPr>
        <p:blipFill>
          <a:blip r:embed="rId2" cstate="print"/>
          <a:srcRect/>
          <a:stretch>
            <a:fillRect/>
          </a:stretch>
        </p:blipFill>
        <p:spPr bwMode="auto">
          <a:xfrm>
            <a:off x="467544" y="1628799"/>
            <a:ext cx="8208912" cy="4808687"/>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59</a:t>
            </a:fld>
            <a:endParaRPr lang="zh-TW"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60</a:t>
            </a:fld>
            <a:endParaRPr lang="zh-TW" altLang="en-US"/>
          </a:p>
        </p:txBody>
      </p:sp>
      <p:pic>
        <p:nvPicPr>
          <p:cNvPr id="71682" name="Picture 2"/>
          <p:cNvPicPr>
            <a:picLocks noChangeAspect="1" noChangeArrowheads="1"/>
          </p:cNvPicPr>
          <p:nvPr/>
        </p:nvPicPr>
        <p:blipFill>
          <a:blip r:embed="rId2" cstate="print"/>
          <a:srcRect/>
          <a:stretch>
            <a:fillRect/>
          </a:stretch>
        </p:blipFill>
        <p:spPr bwMode="auto">
          <a:xfrm>
            <a:off x="1835696" y="404664"/>
            <a:ext cx="7038975" cy="6105525"/>
          </a:xfrm>
          <a:prstGeom prst="rect">
            <a:avLst/>
          </a:prstGeom>
          <a:noFill/>
          <a:ln w="9525">
            <a:noFill/>
            <a:miter lim="800000"/>
            <a:headEnd/>
            <a:tailEnd/>
          </a:ln>
        </p:spPr>
      </p:pic>
      <p:sp>
        <p:nvSpPr>
          <p:cNvPr id="6" name="圓角矩形 5"/>
          <p:cNvSpPr/>
          <p:nvPr/>
        </p:nvSpPr>
        <p:spPr>
          <a:xfrm>
            <a:off x="1691680" y="188640"/>
            <a:ext cx="6120680" cy="1008112"/>
          </a:xfrm>
          <a:prstGeom prst="roundRect">
            <a:avLst/>
          </a:prstGeom>
          <a:noFill/>
          <a:ln w="57150">
            <a:solidFill>
              <a:srgbClr val="FF000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61</a:t>
            </a:fld>
            <a:endParaRPr lang="zh-TW" altLang="en-US"/>
          </a:p>
        </p:txBody>
      </p:sp>
      <p:pic>
        <p:nvPicPr>
          <p:cNvPr id="72706" name="Picture 2"/>
          <p:cNvPicPr>
            <a:picLocks noChangeAspect="1" noChangeArrowheads="1"/>
          </p:cNvPicPr>
          <p:nvPr/>
        </p:nvPicPr>
        <p:blipFill>
          <a:blip r:embed="rId2" cstate="print"/>
          <a:srcRect/>
          <a:stretch>
            <a:fillRect/>
          </a:stretch>
        </p:blipFill>
        <p:spPr bwMode="auto">
          <a:xfrm>
            <a:off x="1691680" y="1628800"/>
            <a:ext cx="3168352" cy="3981103"/>
          </a:xfrm>
          <a:prstGeom prst="rect">
            <a:avLst/>
          </a:prstGeom>
          <a:noFill/>
          <a:ln w="9525">
            <a:noFill/>
            <a:miter lim="800000"/>
            <a:headEnd/>
            <a:tailEnd/>
          </a:ln>
        </p:spPr>
      </p:pic>
      <p:pic>
        <p:nvPicPr>
          <p:cNvPr id="72707" name="Picture 3"/>
          <p:cNvPicPr>
            <a:picLocks noGrp="1" noChangeAspect="1" noChangeArrowheads="1"/>
          </p:cNvPicPr>
          <p:nvPr>
            <p:ph idx="1"/>
          </p:nvPr>
        </p:nvPicPr>
        <p:blipFill>
          <a:blip r:embed="rId3" cstate="print"/>
          <a:srcRect/>
          <a:stretch>
            <a:fillRect/>
          </a:stretch>
        </p:blipFill>
        <p:spPr bwMode="auto">
          <a:xfrm>
            <a:off x="5292080" y="1628800"/>
            <a:ext cx="3096344" cy="1713790"/>
          </a:xfrm>
          <a:prstGeom prst="rect">
            <a:avLst/>
          </a:prstGeom>
          <a:noFill/>
          <a:ln w="9525">
            <a:noFill/>
            <a:miter lim="800000"/>
            <a:headEnd/>
            <a:tailEnd/>
          </a:ln>
        </p:spPr>
      </p:pic>
      <p:pic>
        <p:nvPicPr>
          <p:cNvPr id="72708" name="Picture 4"/>
          <p:cNvPicPr>
            <a:picLocks noChangeAspect="1" noChangeArrowheads="1"/>
          </p:cNvPicPr>
          <p:nvPr/>
        </p:nvPicPr>
        <p:blipFill>
          <a:blip r:embed="rId4" cstate="print"/>
          <a:srcRect/>
          <a:stretch>
            <a:fillRect/>
          </a:stretch>
        </p:blipFill>
        <p:spPr bwMode="auto">
          <a:xfrm>
            <a:off x="5292080" y="3356992"/>
            <a:ext cx="3096344" cy="2233892"/>
          </a:xfrm>
          <a:prstGeom prst="rect">
            <a:avLst/>
          </a:prstGeom>
          <a:noFill/>
          <a:ln w="9525">
            <a:noFill/>
            <a:miter lim="800000"/>
            <a:headEnd/>
            <a:tailEnd/>
          </a:ln>
        </p:spPr>
      </p:pic>
      <p:sp>
        <p:nvSpPr>
          <p:cNvPr id="8" name="手繪多邊形 7"/>
          <p:cNvSpPr/>
          <p:nvPr/>
        </p:nvSpPr>
        <p:spPr>
          <a:xfrm>
            <a:off x="5381625" y="4569509"/>
            <a:ext cx="2857500" cy="107266"/>
          </a:xfrm>
          <a:custGeom>
            <a:avLst/>
            <a:gdLst>
              <a:gd name="connsiteX0" fmla="*/ 0 w 2857500"/>
              <a:gd name="connsiteY0" fmla="*/ 59641 h 107266"/>
              <a:gd name="connsiteX1" fmla="*/ 333375 w 2857500"/>
              <a:gd name="connsiteY1" fmla="*/ 40591 h 107266"/>
              <a:gd name="connsiteX2" fmla="*/ 571500 w 2857500"/>
              <a:gd name="connsiteY2" fmla="*/ 50116 h 107266"/>
              <a:gd name="connsiteX3" fmla="*/ 923925 w 2857500"/>
              <a:gd name="connsiteY3" fmla="*/ 69166 h 107266"/>
              <a:gd name="connsiteX4" fmla="*/ 1143000 w 2857500"/>
              <a:gd name="connsiteY4" fmla="*/ 88216 h 107266"/>
              <a:gd name="connsiteX5" fmla="*/ 1285875 w 2857500"/>
              <a:gd name="connsiteY5" fmla="*/ 107266 h 107266"/>
              <a:gd name="connsiteX6" fmla="*/ 1638300 w 2857500"/>
              <a:gd name="connsiteY6" fmla="*/ 97741 h 107266"/>
              <a:gd name="connsiteX7" fmla="*/ 1771650 w 2857500"/>
              <a:gd name="connsiteY7" fmla="*/ 78691 h 107266"/>
              <a:gd name="connsiteX8" fmla="*/ 1819275 w 2857500"/>
              <a:gd name="connsiteY8" fmla="*/ 69166 h 107266"/>
              <a:gd name="connsiteX9" fmla="*/ 2057400 w 2857500"/>
              <a:gd name="connsiteY9" fmla="*/ 59641 h 107266"/>
              <a:gd name="connsiteX10" fmla="*/ 2609850 w 2857500"/>
              <a:gd name="connsiteY10" fmla="*/ 31066 h 107266"/>
              <a:gd name="connsiteX11" fmla="*/ 2771775 w 2857500"/>
              <a:gd name="connsiteY11" fmla="*/ 12016 h 107266"/>
              <a:gd name="connsiteX12" fmla="*/ 2857500 w 2857500"/>
              <a:gd name="connsiteY12" fmla="*/ 2491 h 107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57500" h="107266">
                <a:moveTo>
                  <a:pt x="0" y="59641"/>
                </a:moveTo>
                <a:cubicBezTo>
                  <a:pt x="128347" y="27554"/>
                  <a:pt x="64804" y="40591"/>
                  <a:pt x="333375" y="40591"/>
                </a:cubicBezTo>
                <a:cubicBezTo>
                  <a:pt x="412813" y="40591"/>
                  <a:pt x="492125" y="46941"/>
                  <a:pt x="571500" y="50116"/>
                </a:cubicBezTo>
                <a:cubicBezTo>
                  <a:pt x="908593" y="78207"/>
                  <a:pt x="349166" y="33244"/>
                  <a:pt x="923925" y="69166"/>
                </a:cubicBezTo>
                <a:cubicBezTo>
                  <a:pt x="997083" y="73738"/>
                  <a:pt x="1070040" y="81155"/>
                  <a:pt x="1143000" y="88216"/>
                </a:cubicBezTo>
                <a:cubicBezTo>
                  <a:pt x="1181160" y="91909"/>
                  <a:pt x="1246761" y="101678"/>
                  <a:pt x="1285875" y="107266"/>
                </a:cubicBezTo>
                <a:lnTo>
                  <a:pt x="1638300" y="97741"/>
                </a:lnTo>
                <a:cubicBezTo>
                  <a:pt x="1665697" y="96523"/>
                  <a:pt x="1740530" y="84349"/>
                  <a:pt x="1771650" y="78691"/>
                </a:cubicBezTo>
                <a:cubicBezTo>
                  <a:pt x="1787578" y="75795"/>
                  <a:pt x="1803121" y="70243"/>
                  <a:pt x="1819275" y="69166"/>
                </a:cubicBezTo>
                <a:cubicBezTo>
                  <a:pt x="1898538" y="63882"/>
                  <a:pt x="1978025" y="62816"/>
                  <a:pt x="2057400" y="59641"/>
                </a:cubicBezTo>
                <a:cubicBezTo>
                  <a:pt x="2400014" y="32232"/>
                  <a:pt x="2215933" y="43003"/>
                  <a:pt x="2609850" y="31066"/>
                </a:cubicBezTo>
                <a:lnTo>
                  <a:pt x="2771775" y="12016"/>
                </a:lnTo>
                <a:cubicBezTo>
                  <a:pt x="2849877" y="0"/>
                  <a:pt x="2789072" y="2491"/>
                  <a:pt x="2857500" y="2491"/>
                </a:cubicBezTo>
              </a:path>
            </a:pathLst>
          </a:custGeom>
          <a:ln w="57150">
            <a:solidFill>
              <a:srgbClr val="C00000">
                <a:alpha val="8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 name="手繪多邊形 8"/>
          <p:cNvSpPr/>
          <p:nvPr/>
        </p:nvSpPr>
        <p:spPr>
          <a:xfrm>
            <a:off x="5381625" y="4838700"/>
            <a:ext cx="2838450" cy="28575"/>
          </a:xfrm>
          <a:custGeom>
            <a:avLst/>
            <a:gdLst>
              <a:gd name="connsiteX0" fmla="*/ 0 w 2838450"/>
              <a:gd name="connsiteY0" fmla="*/ 28575 h 28575"/>
              <a:gd name="connsiteX1" fmla="*/ 304800 w 2838450"/>
              <a:gd name="connsiteY1" fmla="*/ 19050 h 28575"/>
              <a:gd name="connsiteX2" fmla="*/ 381000 w 2838450"/>
              <a:gd name="connsiteY2" fmla="*/ 9525 h 28575"/>
              <a:gd name="connsiteX3" fmla="*/ 2838450 w 2838450"/>
              <a:gd name="connsiteY3" fmla="*/ 0 h 28575"/>
            </a:gdLst>
            <a:ahLst/>
            <a:cxnLst>
              <a:cxn ang="0">
                <a:pos x="connsiteX0" y="connsiteY0"/>
              </a:cxn>
              <a:cxn ang="0">
                <a:pos x="connsiteX1" y="connsiteY1"/>
              </a:cxn>
              <a:cxn ang="0">
                <a:pos x="connsiteX2" y="connsiteY2"/>
              </a:cxn>
              <a:cxn ang="0">
                <a:pos x="connsiteX3" y="connsiteY3"/>
              </a:cxn>
            </a:cxnLst>
            <a:rect l="l" t="t" r="r" b="b"/>
            <a:pathLst>
              <a:path w="2838450" h="28575">
                <a:moveTo>
                  <a:pt x="0" y="28575"/>
                </a:moveTo>
                <a:lnTo>
                  <a:pt x="304800" y="19050"/>
                </a:lnTo>
                <a:cubicBezTo>
                  <a:pt x="330366" y="17772"/>
                  <a:pt x="355403" y="9749"/>
                  <a:pt x="381000" y="9525"/>
                </a:cubicBezTo>
                <a:lnTo>
                  <a:pt x="2838450" y="0"/>
                </a:lnTo>
              </a:path>
            </a:pathLst>
          </a:custGeom>
          <a:ln w="57150">
            <a:solidFill>
              <a:srgbClr val="C00000">
                <a:alpha val="8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 name="手繪多邊形 9"/>
          <p:cNvSpPr/>
          <p:nvPr/>
        </p:nvSpPr>
        <p:spPr>
          <a:xfrm>
            <a:off x="5410200" y="5048250"/>
            <a:ext cx="2819400" cy="103514"/>
          </a:xfrm>
          <a:custGeom>
            <a:avLst/>
            <a:gdLst>
              <a:gd name="connsiteX0" fmla="*/ 0 w 2819400"/>
              <a:gd name="connsiteY0" fmla="*/ 9525 h 103514"/>
              <a:gd name="connsiteX1" fmla="*/ 1343025 w 2819400"/>
              <a:gd name="connsiteY1" fmla="*/ 9525 h 103514"/>
              <a:gd name="connsiteX2" fmla="*/ 1619250 w 2819400"/>
              <a:gd name="connsiteY2" fmla="*/ 0 h 103514"/>
              <a:gd name="connsiteX3" fmla="*/ 2819400 w 2819400"/>
              <a:gd name="connsiteY3" fmla="*/ 0 h 103514"/>
            </a:gdLst>
            <a:ahLst/>
            <a:cxnLst>
              <a:cxn ang="0">
                <a:pos x="connsiteX0" y="connsiteY0"/>
              </a:cxn>
              <a:cxn ang="0">
                <a:pos x="connsiteX1" y="connsiteY1"/>
              </a:cxn>
              <a:cxn ang="0">
                <a:pos x="connsiteX2" y="connsiteY2"/>
              </a:cxn>
              <a:cxn ang="0">
                <a:pos x="connsiteX3" y="connsiteY3"/>
              </a:cxn>
            </a:cxnLst>
            <a:rect l="l" t="t" r="r" b="b"/>
            <a:pathLst>
              <a:path w="2819400" h="103514">
                <a:moveTo>
                  <a:pt x="0" y="9525"/>
                </a:moveTo>
                <a:cubicBezTo>
                  <a:pt x="469946" y="103514"/>
                  <a:pt x="60919" y="25066"/>
                  <a:pt x="1343025" y="9525"/>
                </a:cubicBezTo>
                <a:cubicBezTo>
                  <a:pt x="1435148" y="8408"/>
                  <a:pt x="1527122" y="594"/>
                  <a:pt x="1619250" y="0"/>
                </a:cubicBezTo>
                <a:lnTo>
                  <a:pt x="2819400" y="0"/>
                </a:lnTo>
              </a:path>
            </a:pathLst>
          </a:custGeom>
          <a:ln w="57150">
            <a:solidFill>
              <a:srgbClr val="C00000">
                <a:alpha val="8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1" name="手繪多邊形 10"/>
          <p:cNvSpPr/>
          <p:nvPr/>
        </p:nvSpPr>
        <p:spPr>
          <a:xfrm>
            <a:off x="5362575" y="5314950"/>
            <a:ext cx="2847975" cy="19050"/>
          </a:xfrm>
          <a:custGeom>
            <a:avLst/>
            <a:gdLst>
              <a:gd name="connsiteX0" fmla="*/ 0 w 2847975"/>
              <a:gd name="connsiteY0" fmla="*/ 0 h 19050"/>
              <a:gd name="connsiteX1" fmla="*/ 1619250 w 2847975"/>
              <a:gd name="connsiteY1" fmla="*/ 9525 h 19050"/>
              <a:gd name="connsiteX2" fmla="*/ 1847850 w 2847975"/>
              <a:gd name="connsiteY2" fmla="*/ 19050 h 19050"/>
              <a:gd name="connsiteX3" fmla="*/ 2847975 w 284797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2847975" h="19050">
                <a:moveTo>
                  <a:pt x="0" y="0"/>
                </a:moveTo>
                <a:lnTo>
                  <a:pt x="1619250" y="9525"/>
                </a:lnTo>
                <a:cubicBezTo>
                  <a:pt x="1695512" y="10311"/>
                  <a:pt x="1771586" y="18459"/>
                  <a:pt x="1847850" y="19050"/>
                </a:cubicBezTo>
                <a:lnTo>
                  <a:pt x="2847975" y="19050"/>
                </a:lnTo>
              </a:path>
            </a:pathLst>
          </a:custGeom>
          <a:ln w="57150">
            <a:solidFill>
              <a:srgbClr val="C00000">
                <a:alpha val="80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62</a:t>
            </a:fld>
            <a:endParaRPr lang="zh-TW" altLang="en-US"/>
          </a:p>
        </p:txBody>
      </p:sp>
      <p:pic>
        <p:nvPicPr>
          <p:cNvPr id="73730" name="Picture 2"/>
          <p:cNvPicPr>
            <a:picLocks noChangeAspect="1" noChangeArrowheads="1"/>
          </p:cNvPicPr>
          <p:nvPr/>
        </p:nvPicPr>
        <p:blipFill>
          <a:blip r:embed="rId2" cstate="print"/>
          <a:srcRect/>
          <a:stretch>
            <a:fillRect/>
          </a:stretch>
        </p:blipFill>
        <p:spPr bwMode="auto">
          <a:xfrm>
            <a:off x="1619672" y="1628800"/>
            <a:ext cx="3600400" cy="4692325"/>
          </a:xfrm>
          <a:prstGeom prst="rect">
            <a:avLst/>
          </a:prstGeom>
          <a:noFill/>
          <a:ln w="9525">
            <a:noFill/>
            <a:miter lim="800000"/>
            <a:headEnd/>
            <a:tailEnd/>
          </a:ln>
        </p:spPr>
      </p:pic>
      <p:pic>
        <p:nvPicPr>
          <p:cNvPr id="73731" name="Picture 3"/>
          <p:cNvPicPr>
            <a:picLocks noGrp="1" noChangeAspect="1" noChangeArrowheads="1"/>
          </p:cNvPicPr>
          <p:nvPr>
            <p:ph idx="1"/>
          </p:nvPr>
        </p:nvPicPr>
        <p:blipFill>
          <a:blip r:embed="rId3" cstate="print"/>
          <a:srcRect/>
          <a:stretch>
            <a:fillRect/>
          </a:stretch>
        </p:blipFill>
        <p:spPr bwMode="auto">
          <a:xfrm>
            <a:off x="5364088" y="1628800"/>
            <a:ext cx="3487949" cy="23042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63</a:t>
            </a:fld>
            <a:endParaRPr lang="zh-TW" altLang="en-US"/>
          </a:p>
        </p:txBody>
      </p:sp>
      <p:pic>
        <p:nvPicPr>
          <p:cNvPr id="74754" name="Picture 2"/>
          <p:cNvPicPr>
            <a:picLocks noChangeAspect="1" noChangeArrowheads="1"/>
          </p:cNvPicPr>
          <p:nvPr/>
        </p:nvPicPr>
        <p:blipFill>
          <a:blip r:embed="rId2" cstate="print"/>
          <a:srcRect/>
          <a:stretch>
            <a:fillRect/>
          </a:stretch>
        </p:blipFill>
        <p:spPr bwMode="auto">
          <a:xfrm>
            <a:off x="1907704" y="1772816"/>
            <a:ext cx="4032448" cy="45365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佈景主題4">
  <a:themeElements>
    <a:clrScheme name="Panels">
      <a:dk1>
        <a:srgbClr val="340B07"/>
      </a:dk1>
      <a:lt1>
        <a:srgbClr val="FFFFFF"/>
      </a:lt1>
      <a:dk2>
        <a:srgbClr val="182912"/>
      </a:dk2>
      <a:lt2>
        <a:srgbClr val="FBF0F2"/>
      </a:lt2>
      <a:accent1>
        <a:srgbClr val="694F36"/>
      </a:accent1>
      <a:accent2>
        <a:srgbClr val="98604A"/>
      </a:accent2>
      <a:accent3>
        <a:srgbClr val="8E3B4D"/>
      </a:accent3>
      <a:accent4>
        <a:srgbClr val="837954"/>
      </a:accent4>
      <a:accent5>
        <a:srgbClr val="4E3B28"/>
      </a:accent5>
      <a:accent6>
        <a:srgbClr val="AC7A0C"/>
      </a:accent6>
      <a:hlink>
        <a:srgbClr val="A03849"/>
      </a:hlink>
      <a:folHlink>
        <a:srgbClr val="AA845D"/>
      </a:folHlink>
    </a:clrScheme>
    <a:fontScheme name="Panels">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Panels">
      <a:fillStyleLst>
        <a:solidFill>
          <a:schemeClr val="phClr"/>
        </a:solidFill>
        <a:gradFill rotWithShape="1">
          <a:gsLst>
            <a:gs pos="0">
              <a:schemeClr val="phClr">
                <a:tint val="90000"/>
                <a:shade val="100000"/>
                <a:satMod val="150000"/>
              </a:schemeClr>
            </a:gs>
            <a:gs pos="35000">
              <a:schemeClr val="phClr">
                <a:tint val="90000"/>
                <a:alpha val="85000"/>
                <a:satMod val="150000"/>
              </a:schemeClr>
            </a:gs>
            <a:gs pos="100000">
              <a:schemeClr val="phClr">
                <a:tint val="80000"/>
                <a:alpha val="75000"/>
                <a:satMod val="150000"/>
              </a:schemeClr>
            </a:gs>
          </a:gsLst>
          <a:lin ang="16200000" scaled="1"/>
        </a:gradFill>
        <a:gradFill rotWithShape="1">
          <a:gsLst>
            <a:gs pos="0">
              <a:schemeClr val="phClr">
                <a:shade val="60000"/>
                <a:satMod val="135000"/>
              </a:schemeClr>
            </a:gs>
            <a:gs pos="80000">
              <a:schemeClr val="phClr">
                <a:shade val="90000"/>
                <a:satMod val="135000"/>
              </a:schemeClr>
            </a:gs>
            <a:gs pos="100000">
              <a:schemeClr val="phClr">
                <a:tint val="90000"/>
                <a:shade val="100000"/>
                <a:satMod val="135000"/>
              </a:schemeClr>
            </a:gs>
          </a:gsLst>
          <a:lin ang="16200000" scaled="0"/>
        </a:gradFill>
      </a:fillStyleLst>
      <a:lnStyleLst>
        <a:ln w="6350" cap="flat" cmpd="sng" algn="ctr">
          <a:solidFill>
            <a:schemeClr val="phClr">
              <a:shade val="95000"/>
              <a:alpha val="80000"/>
              <a:satMod val="105000"/>
            </a:schemeClr>
          </a:solidFill>
          <a:prstDash val="solid"/>
        </a:ln>
        <a:ln w="12700" cap="flat" cmpd="sng" algn="ctr">
          <a:solidFill>
            <a:schemeClr val="phClr">
              <a:alpha val="70000"/>
            </a:schemeClr>
          </a:solidFill>
          <a:prstDash val="solid"/>
        </a:ln>
        <a:ln w="19050" cap="flat" cmpd="sng" algn="ctr">
          <a:solidFill>
            <a:schemeClr val="phClr">
              <a:alpha val="60000"/>
            </a:schemeClr>
          </a:solidFill>
          <a:prstDash val="solid"/>
        </a:ln>
      </a:lnStyleLst>
      <a:effectStyleLst>
        <a:effectStyle>
          <a:effectLst/>
        </a:effectStyle>
        <a:effectStyle>
          <a:effectLst>
            <a:outerShdw blurRad="101600" sx="101000" sy="101000" rotWithShape="0">
              <a:srgbClr val="FFFFFF">
                <a:alpha val="25000"/>
              </a:srgbClr>
            </a:outerShdw>
          </a:effectLst>
        </a:effectStyle>
        <a:effectStyle>
          <a:effectLst>
            <a:outerShdw blurRad="101600" sx="101000" sy="101000" rotWithShape="0">
              <a:srgbClr val="FFFFFF">
                <a:alpha val="25000"/>
              </a:srgbClr>
            </a:outerShdw>
            <a:reflection blurRad="12700" stA="35000" endPos="40000" dist="50800" dir="5400000" sy="-100000" rotWithShape="0"/>
          </a:effectLst>
          <a:scene3d>
            <a:camera prst="orthographicFront">
              <a:rot lat="0" lon="0" rev="0"/>
            </a:camera>
            <a:lightRig rig="twoPt" dir="t">
              <a:rot lat="0" lon="0" rev="4200000"/>
            </a:lightRig>
          </a:scene3d>
          <a:sp3d prstMaterial="softEdge">
            <a:bevelT w="63500" h="25400"/>
          </a:sp3d>
        </a:effectStyle>
      </a:effectStyleLst>
      <a:bgFillStyleLst>
        <a:solidFill>
          <a:schemeClr val="phClr"/>
        </a:solidFill>
        <a:blipFill rotWithShape="1">
          <a:blip xmlns:r="http://schemas.openxmlformats.org/officeDocument/2006/relationships" r:embed="rId1">
            <a:duotone>
              <a:schemeClr val="phClr">
                <a:shade val="40000"/>
                <a:satMod val="150000"/>
              </a:schemeClr>
              <a:schemeClr val="phClr">
                <a:tint val="97000"/>
                <a:shade val="85000"/>
                <a:satMod val="150000"/>
              </a:schemeClr>
            </a:duotone>
          </a:blip>
          <a:tile tx="0" ty="0" sx="100000" sy="100000" flip="none" algn="tl"/>
        </a:blipFill>
        <a:gradFill rotWithShape="1">
          <a:gsLst>
            <a:gs pos="0">
              <a:schemeClr val="phClr">
                <a:tint val="100000"/>
                <a:shade val="90000"/>
                <a:satMod val="150000"/>
              </a:schemeClr>
            </a:gs>
            <a:gs pos="100000">
              <a:schemeClr val="phClr">
                <a:shade val="40000"/>
                <a:satMod val="150000"/>
              </a:schemeClr>
            </a:gs>
          </a:gsLst>
          <a:lin ang="5400000" scaled="0"/>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面板</Template>
  <TotalTime>328</TotalTime>
  <Words>1001</Words>
  <Application>Microsoft Office PowerPoint</Application>
  <PresentationFormat>如螢幕大小 (4:3)</PresentationFormat>
  <Paragraphs>186</Paragraphs>
  <Slides>63</Slides>
  <Notes>0</Notes>
  <HiddenSlides>0</HiddenSlides>
  <MMClips>0</MMClips>
  <ScaleCrop>false</ScaleCrop>
  <HeadingPairs>
    <vt:vector size="4" baseType="variant">
      <vt:variant>
        <vt:lpstr>佈景主題</vt:lpstr>
      </vt:variant>
      <vt:variant>
        <vt:i4>1</vt:i4>
      </vt:variant>
      <vt:variant>
        <vt:lpstr>投影片標題</vt:lpstr>
      </vt:variant>
      <vt:variant>
        <vt:i4>63</vt:i4>
      </vt:variant>
    </vt:vector>
  </HeadingPairs>
  <TitlesOfParts>
    <vt:vector size="64" baseType="lpstr">
      <vt:lpstr>佈景主題4</vt:lpstr>
      <vt:lpstr>Model View Control Architecture</vt:lpstr>
      <vt:lpstr>Happy Graduation</vt:lpstr>
      <vt:lpstr>畢業即失業!!?</vt:lpstr>
      <vt:lpstr>Let’s take a look at tech Job Interview </vt:lpstr>
      <vt:lpstr>My interview question: How do you plan to write an simple calculator</vt:lpstr>
      <vt:lpstr> First Intuitive Implementation in C#</vt:lpstr>
      <vt:lpstr>GUI Changes</vt:lpstr>
      <vt:lpstr>GUI Changes (Your beautiful OL colleague )</vt:lpstr>
      <vt:lpstr>Sometimes, requirement change!!</vt:lpstr>
      <vt:lpstr>What’s wrong with your code?</vt:lpstr>
      <vt:lpstr>OK</vt:lpstr>
      <vt:lpstr>Instead of teaching by my own, I want </vt:lpstr>
      <vt:lpstr>MVC – model view control</vt:lpstr>
      <vt:lpstr>What the heck is a “MODEL”?</vt:lpstr>
      <vt:lpstr>PowerPoint 簡報</vt:lpstr>
      <vt:lpstr>PowerPoint 簡報</vt:lpstr>
      <vt:lpstr>PowerPoint 簡報</vt:lpstr>
      <vt:lpstr>PowerPoint 簡報</vt:lpstr>
      <vt:lpstr>PowerPoint 簡報</vt:lpstr>
      <vt:lpstr>PowerPoint 簡報</vt:lpstr>
      <vt:lpstr>PowerPoint 簡報</vt:lpstr>
      <vt:lpstr>More detailed explanation</vt:lpstr>
      <vt:lpstr>Controller interprets the GUI events, which can be changed</vt:lpstr>
      <vt:lpstr>The View is responsible for painting the view</vt:lpstr>
      <vt:lpstr>When do you want to change a controller?</vt:lpstr>
      <vt:lpstr>It’s time to change controller</vt:lpstr>
      <vt:lpstr>What is Usability Test ?</vt:lpstr>
      <vt:lpstr>Some facts</vt:lpstr>
      <vt:lpstr>PowerPoint 簡報</vt:lpstr>
      <vt:lpstr>The failed story</vt:lpstr>
      <vt:lpstr>Why Microsoft lost its markets?</vt:lpstr>
      <vt:lpstr>Powerful tools made for Geeks</vt:lpstr>
      <vt:lpstr>Goals of usability tests</vt:lpstr>
      <vt:lpstr>Some usability test method</vt:lpstr>
      <vt:lpstr>Eye tracking </vt:lpstr>
      <vt:lpstr>Eye tracking pattern</vt:lpstr>
      <vt:lpstr>Investigation room</vt:lpstr>
      <vt:lpstr>Why you want to change view </vt:lpstr>
      <vt:lpstr>View May changes </vt:lpstr>
      <vt:lpstr>PowerPoint 簡報</vt:lpstr>
      <vt:lpstr>STILL</vt:lpstr>
      <vt:lpstr>Including the PL, framework choice</vt:lpstr>
      <vt:lpstr>Some NOTES</vt:lpstr>
      <vt:lpstr>Back to MVC</vt:lpstr>
      <vt:lpstr>Tool views</vt:lpstr>
      <vt:lpstr>PowerPoint 簡報</vt:lpstr>
      <vt:lpstr>Model</vt:lpstr>
      <vt:lpstr>PowerPoint 簡報</vt:lpstr>
      <vt:lpstr>Model interface</vt:lpstr>
      <vt:lpstr>PowerPoint 簡報</vt:lpstr>
      <vt:lpstr>PowerPoint 簡報</vt:lpstr>
      <vt:lpstr>PowerPoint 簡報</vt:lpstr>
      <vt:lpstr>PowerPoint 簡報</vt:lpstr>
      <vt:lpstr>PowerPoint 簡報</vt:lpstr>
      <vt:lpstr>Adapt the model to reuse view</vt:lpstr>
      <vt:lpstr>PowerPoint 簡報</vt:lpstr>
      <vt:lpstr>MVC and the web</vt:lpstr>
      <vt:lpstr>Last Challenge !! Change your program to adapt web view and controller</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View Control Architecture</dc:title>
  <dc:creator>ypcheng</dc:creator>
  <cp:lastModifiedBy>user</cp:lastModifiedBy>
  <cp:revision>40</cp:revision>
  <dcterms:created xsi:type="dcterms:W3CDTF">2011-05-10T05:19:23Z</dcterms:created>
  <dcterms:modified xsi:type="dcterms:W3CDTF">2012-04-05T05:50:31Z</dcterms:modified>
</cp:coreProperties>
</file>