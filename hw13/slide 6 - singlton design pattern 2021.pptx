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1" r:id="rId3"/>
    <p:sldId id="279" r:id="rId4"/>
    <p:sldId id="286" r:id="rId5"/>
    <p:sldId id="280" r:id="rId6"/>
    <p:sldId id="281" r:id="rId7"/>
    <p:sldId id="283" r:id="rId8"/>
    <p:sldId id="284" r:id="rId9"/>
    <p:sldId id="258" r:id="rId10"/>
    <p:sldId id="259" r:id="rId11"/>
    <p:sldId id="261" r:id="rId12"/>
    <p:sldId id="287" r:id="rId13"/>
    <p:sldId id="260" r:id="rId14"/>
    <p:sldId id="269" r:id="rId15"/>
    <p:sldId id="263" r:id="rId16"/>
    <p:sldId id="289" r:id="rId17"/>
    <p:sldId id="290" r:id="rId18"/>
    <p:sldId id="275" r:id="rId19"/>
    <p:sldId id="267" r:id="rId20"/>
    <p:sldId id="270" r:id="rId21"/>
    <p:sldId id="288" r:id="rId22"/>
    <p:sldId id="285" r:id="rId2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6" autoAdjust="0"/>
    <p:restoredTop sz="94660"/>
  </p:normalViewPr>
  <p:slideViewPr>
    <p:cSldViewPr snapToGrid="0">
      <p:cViewPr varScale="1">
        <p:scale>
          <a:sx n="69" d="100"/>
          <a:sy n="69" d="100"/>
        </p:scale>
        <p:origin x="72" y="4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8FBFFA-4922-4E0C-B2CF-07A87C13771E}" type="datetimeFigureOut">
              <a:rPr lang="zh-TW" altLang="en-US" smtClean="0"/>
              <a:t>2021/10/21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0CDD7-D40C-4184-A864-CE866563FB0C}" type="slidenum">
              <a:rPr lang="zh-TW" altLang="en-US" smtClean="0"/>
              <a:t>‹#›</a:t>
            </a:fld>
            <a:endParaRPr lang="zh-TW" altLang="en-US"/>
          </a:p>
        </p:txBody>
      </p:sp>
    </p:spTree>
    <p:extLst>
      <p:ext uri="{BB962C8B-B14F-4D97-AF65-F5344CB8AC3E}">
        <p14:creationId xmlns:p14="http://schemas.microsoft.com/office/powerpoint/2010/main" val="3558493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E6C52D-1F11-4DCA-AFA3-0ED434E0135E}"/>
              </a:ext>
            </a:extLst>
          </p:cNvPr>
          <p:cNvSpPr>
            <a:spLocks noGrp="1"/>
          </p:cNvSpPr>
          <p:nvPr>
            <p:ph type="ctrTitle"/>
          </p:nvPr>
        </p:nvSpPr>
        <p:spPr>
          <a:xfrm>
            <a:off x="1524000" y="1122363"/>
            <a:ext cx="9144000" cy="2387600"/>
          </a:xfrm>
        </p:spPr>
        <p:txBody>
          <a:bodyPr anchor="b"/>
          <a:lstStyle>
            <a:lvl1pPr algn="ctr">
              <a:defRPr sz="6000">
                <a:solidFill>
                  <a:srgbClr val="FFC000"/>
                </a:solidFill>
              </a:defRPr>
            </a:lvl1pPr>
          </a:lstStyle>
          <a:p>
            <a:r>
              <a:rPr lang="zh-TW" altLang="en-US"/>
              <a:t>按一下以編輯母片標題樣式</a:t>
            </a:r>
          </a:p>
        </p:txBody>
      </p:sp>
      <p:sp>
        <p:nvSpPr>
          <p:cNvPr id="3" name="副標題 2">
            <a:extLst>
              <a:ext uri="{FF2B5EF4-FFF2-40B4-BE49-F238E27FC236}">
                <a16:creationId xmlns:a16="http://schemas.microsoft.com/office/drawing/2014/main" id="{485D58BE-5E7F-45D9-8C76-BC438FE785C6}"/>
              </a:ext>
            </a:extLst>
          </p:cNvPr>
          <p:cNvSpPr>
            <a:spLocks noGrp="1"/>
          </p:cNvSpPr>
          <p:nvPr>
            <p:ph type="subTitle" idx="1"/>
          </p:nvPr>
        </p:nvSpPr>
        <p:spPr>
          <a:xfrm>
            <a:off x="1524000" y="3602038"/>
            <a:ext cx="9144000" cy="1655762"/>
          </a:xfrm>
        </p:spPr>
        <p:txBody>
          <a:bodyPr/>
          <a:lstStyle>
            <a:lvl1pPr marL="0" indent="0" algn="ctr">
              <a:buNone/>
              <a:defRPr sz="2400">
                <a:solidFill>
                  <a:srgbClr val="FFC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BCD19F8-BF75-4BE9-9EEE-0674D524D864}"/>
              </a:ext>
            </a:extLst>
          </p:cNvPr>
          <p:cNvSpPr>
            <a:spLocks noGrp="1"/>
          </p:cNvSpPr>
          <p:nvPr>
            <p:ph type="dt" sz="half" idx="10"/>
          </p:nvPr>
        </p:nvSpPr>
        <p:spPr/>
        <p:txBody>
          <a:bodyPr/>
          <a:lstStyle/>
          <a:p>
            <a:fld id="{86538A1D-4F74-4979-BA82-E99BF0A3A7E8}" type="datetimeFigureOut">
              <a:rPr lang="zh-TW" altLang="en-US" smtClean="0"/>
              <a:t>2021/10/21</a:t>
            </a:fld>
            <a:endParaRPr lang="zh-TW" altLang="en-US"/>
          </a:p>
        </p:txBody>
      </p:sp>
      <p:sp>
        <p:nvSpPr>
          <p:cNvPr id="5" name="頁尾版面配置區 4">
            <a:extLst>
              <a:ext uri="{FF2B5EF4-FFF2-40B4-BE49-F238E27FC236}">
                <a16:creationId xmlns:a16="http://schemas.microsoft.com/office/drawing/2014/main" id="{3C88CDD5-BB91-4510-9E4B-BFBF65DE153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9AC952F-2EBD-451F-AB44-19230FE14B30}"/>
              </a:ext>
            </a:extLst>
          </p:cNvPr>
          <p:cNvSpPr>
            <a:spLocks noGrp="1"/>
          </p:cNvSpPr>
          <p:nvPr>
            <p:ph type="sldNum" sz="quarter" idx="12"/>
          </p:nvPr>
        </p:nvSpPr>
        <p:spPr/>
        <p:txBody>
          <a:bodyPr/>
          <a:lstStyle/>
          <a:p>
            <a:fld id="{BE688A4B-3DB5-4C87-8067-269C8CD05AE7}" type="slidenum">
              <a:rPr lang="zh-TW" altLang="en-US" smtClean="0"/>
              <a:t>‹#›</a:t>
            </a:fld>
            <a:endParaRPr lang="zh-TW" altLang="en-US"/>
          </a:p>
        </p:txBody>
      </p:sp>
    </p:spTree>
    <p:extLst>
      <p:ext uri="{BB962C8B-B14F-4D97-AF65-F5344CB8AC3E}">
        <p14:creationId xmlns:p14="http://schemas.microsoft.com/office/powerpoint/2010/main" val="3962653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C8229F-54A1-4373-B352-E9920AA2DCEF}"/>
              </a:ext>
            </a:extLst>
          </p:cNvPr>
          <p:cNvSpPr>
            <a:spLocks noGrp="1"/>
          </p:cNvSpPr>
          <p:nvPr>
            <p:ph type="title"/>
          </p:nvPr>
        </p:nvSpPr>
        <p:spPr/>
        <p:txBody>
          <a:bodyPr/>
          <a:lstStyle>
            <a:lvl1pPr>
              <a:defRPr>
                <a:solidFill>
                  <a:srgbClr val="FFC000"/>
                </a:solidFill>
              </a:defRPr>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056086B1-FE50-4A5F-910C-8FEA59B6F014}"/>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DED0415-2D84-4B73-99E2-96E4A9FF1EB0}"/>
              </a:ext>
            </a:extLst>
          </p:cNvPr>
          <p:cNvSpPr>
            <a:spLocks noGrp="1"/>
          </p:cNvSpPr>
          <p:nvPr>
            <p:ph type="dt" sz="half" idx="10"/>
          </p:nvPr>
        </p:nvSpPr>
        <p:spPr/>
        <p:txBody>
          <a:bodyPr/>
          <a:lstStyle/>
          <a:p>
            <a:fld id="{86538A1D-4F74-4979-BA82-E99BF0A3A7E8}" type="datetimeFigureOut">
              <a:rPr lang="zh-TW" altLang="en-US" smtClean="0"/>
              <a:t>2021/10/21</a:t>
            </a:fld>
            <a:endParaRPr lang="zh-TW" altLang="en-US"/>
          </a:p>
        </p:txBody>
      </p:sp>
      <p:sp>
        <p:nvSpPr>
          <p:cNvPr id="5" name="頁尾版面配置區 4">
            <a:extLst>
              <a:ext uri="{FF2B5EF4-FFF2-40B4-BE49-F238E27FC236}">
                <a16:creationId xmlns:a16="http://schemas.microsoft.com/office/drawing/2014/main" id="{9AF06CB4-C0E5-4188-819B-44A3EC6E3FF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6081921-CFA1-4785-966D-E3E150EB28EC}"/>
              </a:ext>
            </a:extLst>
          </p:cNvPr>
          <p:cNvSpPr>
            <a:spLocks noGrp="1"/>
          </p:cNvSpPr>
          <p:nvPr>
            <p:ph type="sldNum" sz="quarter" idx="12"/>
          </p:nvPr>
        </p:nvSpPr>
        <p:spPr/>
        <p:txBody>
          <a:bodyPr/>
          <a:lstStyle/>
          <a:p>
            <a:fld id="{BE688A4B-3DB5-4C87-8067-269C8CD05AE7}" type="slidenum">
              <a:rPr lang="zh-TW" altLang="en-US" smtClean="0"/>
              <a:t>‹#›</a:t>
            </a:fld>
            <a:endParaRPr lang="zh-TW" altLang="en-US"/>
          </a:p>
        </p:txBody>
      </p:sp>
    </p:spTree>
    <p:extLst>
      <p:ext uri="{BB962C8B-B14F-4D97-AF65-F5344CB8AC3E}">
        <p14:creationId xmlns:p14="http://schemas.microsoft.com/office/powerpoint/2010/main" val="761108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472118-21E9-4804-A3B6-47A3293E2FF9}"/>
              </a:ext>
            </a:extLst>
          </p:cNvPr>
          <p:cNvSpPr>
            <a:spLocks noGrp="1"/>
          </p:cNvSpPr>
          <p:nvPr>
            <p:ph type="title"/>
          </p:nvPr>
        </p:nvSpPr>
        <p:spPr>
          <a:xfrm>
            <a:off x="831850" y="1709738"/>
            <a:ext cx="10515600" cy="2852737"/>
          </a:xfrm>
        </p:spPr>
        <p:txBody>
          <a:bodyPr anchor="b"/>
          <a:lstStyle>
            <a:lvl1pPr>
              <a:defRPr sz="6000">
                <a:solidFill>
                  <a:srgbClr val="FFC000"/>
                </a:solidFill>
              </a:defRPr>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0AC3B43-2E9E-4921-A384-4D5706369EC5}"/>
              </a:ext>
            </a:extLst>
          </p:cNvPr>
          <p:cNvSpPr>
            <a:spLocks noGrp="1"/>
          </p:cNvSpPr>
          <p:nvPr>
            <p:ph type="body" idx="1"/>
          </p:nvPr>
        </p:nvSpPr>
        <p:spPr>
          <a:xfrm>
            <a:off x="831850" y="4589463"/>
            <a:ext cx="10515600" cy="1500187"/>
          </a:xfrm>
        </p:spPr>
        <p:txBody>
          <a:bodyPr/>
          <a:lstStyle>
            <a:lvl1pPr marL="0" indent="0">
              <a:buNone/>
              <a:defRPr sz="2400">
                <a:solidFill>
                  <a:schemeClr val="accent1">
                    <a:lumMod val="60000"/>
                    <a:lumOff val="4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dirty="0"/>
              <a:t>編輯母片文字樣式</a:t>
            </a:r>
          </a:p>
        </p:txBody>
      </p:sp>
      <p:sp>
        <p:nvSpPr>
          <p:cNvPr id="4" name="日期版面配置區 3">
            <a:extLst>
              <a:ext uri="{FF2B5EF4-FFF2-40B4-BE49-F238E27FC236}">
                <a16:creationId xmlns:a16="http://schemas.microsoft.com/office/drawing/2014/main" id="{02A0C5E9-22F9-4D4B-91E6-9ADA208AA94D}"/>
              </a:ext>
            </a:extLst>
          </p:cNvPr>
          <p:cNvSpPr>
            <a:spLocks noGrp="1"/>
          </p:cNvSpPr>
          <p:nvPr>
            <p:ph type="dt" sz="half" idx="10"/>
          </p:nvPr>
        </p:nvSpPr>
        <p:spPr/>
        <p:txBody>
          <a:bodyPr/>
          <a:lstStyle/>
          <a:p>
            <a:fld id="{86538A1D-4F74-4979-BA82-E99BF0A3A7E8}" type="datetimeFigureOut">
              <a:rPr lang="zh-TW" altLang="en-US" smtClean="0"/>
              <a:t>2021/10/21</a:t>
            </a:fld>
            <a:endParaRPr lang="zh-TW" altLang="en-US"/>
          </a:p>
        </p:txBody>
      </p:sp>
      <p:sp>
        <p:nvSpPr>
          <p:cNvPr id="5" name="頁尾版面配置區 4">
            <a:extLst>
              <a:ext uri="{FF2B5EF4-FFF2-40B4-BE49-F238E27FC236}">
                <a16:creationId xmlns:a16="http://schemas.microsoft.com/office/drawing/2014/main" id="{7CACE96F-92C8-49C0-AEE0-3DC1730301A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12DBE01-C5F2-4DE8-9E0A-42963434CB85}"/>
              </a:ext>
            </a:extLst>
          </p:cNvPr>
          <p:cNvSpPr>
            <a:spLocks noGrp="1"/>
          </p:cNvSpPr>
          <p:nvPr>
            <p:ph type="sldNum" sz="quarter" idx="12"/>
          </p:nvPr>
        </p:nvSpPr>
        <p:spPr/>
        <p:txBody>
          <a:bodyPr/>
          <a:lstStyle/>
          <a:p>
            <a:fld id="{BE688A4B-3DB5-4C87-8067-269C8CD05AE7}" type="slidenum">
              <a:rPr lang="zh-TW" altLang="en-US" smtClean="0"/>
              <a:t>‹#›</a:t>
            </a:fld>
            <a:endParaRPr lang="zh-TW" altLang="en-US"/>
          </a:p>
        </p:txBody>
      </p:sp>
    </p:spTree>
    <p:extLst>
      <p:ext uri="{BB962C8B-B14F-4D97-AF65-F5344CB8AC3E}">
        <p14:creationId xmlns:p14="http://schemas.microsoft.com/office/powerpoint/2010/main" val="1325729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62108F-FB39-4532-9025-04420ED0588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0DD3868C-C50D-4A58-B365-827E4833A547}"/>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2A9FCF06-3BDC-49AE-A7CC-8A201DEC2CBF}"/>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F63E7DD-3A07-4938-ABDD-1DE1FC83B67A}"/>
              </a:ext>
            </a:extLst>
          </p:cNvPr>
          <p:cNvSpPr>
            <a:spLocks noGrp="1"/>
          </p:cNvSpPr>
          <p:nvPr>
            <p:ph type="dt" sz="half" idx="10"/>
          </p:nvPr>
        </p:nvSpPr>
        <p:spPr/>
        <p:txBody>
          <a:bodyPr/>
          <a:lstStyle/>
          <a:p>
            <a:fld id="{86538A1D-4F74-4979-BA82-E99BF0A3A7E8}" type="datetimeFigureOut">
              <a:rPr lang="zh-TW" altLang="en-US" smtClean="0"/>
              <a:t>2021/10/21</a:t>
            </a:fld>
            <a:endParaRPr lang="zh-TW" altLang="en-US"/>
          </a:p>
        </p:txBody>
      </p:sp>
      <p:sp>
        <p:nvSpPr>
          <p:cNvPr id="6" name="頁尾版面配置區 5">
            <a:extLst>
              <a:ext uri="{FF2B5EF4-FFF2-40B4-BE49-F238E27FC236}">
                <a16:creationId xmlns:a16="http://schemas.microsoft.com/office/drawing/2014/main" id="{252F66B6-0AC8-42BC-AF46-38C5E704A6C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2207360-D8F5-4865-97AD-04DDD6A622D0}"/>
              </a:ext>
            </a:extLst>
          </p:cNvPr>
          <p:cNvSpPr>
            <a:spLocks noGrp="1"/>
          </p:cNvSpPr>
          <p:nvPr>
            <p:ph type="sldNum" sz="quarter" idx="12"/>
          </p:nvPr>
        </p:nvSpPr>
        <p:spPr/>
        <p:txBody>
          <a:bodyPr/>
          <a:lstStyle/>
          <a:p>
            <a:fld id="{BE688A4B-3DB5-4C87-8067-269C8CD05AE7}" type="slidenum">
              <a:rPr lang="zh-TW" altLang="en-US" smtClean="0"/>
              <a:t>‹#›</a:t>
            </a:fld>
            <a:endParaRPr lang="zh-TW" altLang="en-US"/>
          </a:p>
        </p:txBody>
      </p:sp>
    </p:spTree>
    <p:extLst>
      <p:ext uri="{BB962C8B-B14F-4D97-AF65-F5344CB8AC3E}">
        <p14:creationId xmlns:p14="http://schemas.microsoft.com/office/powerpoint/2010/main" val="261761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57219F-9404-4958-AAFE-F920D94A9BE1}"/>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D726B17-C860-4177-B430-DEE7DDDE54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97D31B77-088A-4104-AF62-EFC071EDD43D}"/>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6F17A7D-4E0F-414A-94B3-CB796CE76B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1B07469A-6639-47C7-A089-60AAE3FA0C9F}"/>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AE15235D-19E1-476E-B540-6A4A6A9851F5}"/>
              </a:ext>
            </a:extLst>
          </p:cNvPr>
          <p:cNvSpPr>
            <a:spLocks noGrp="1"/>
          </p:cNvSpPr>
          <p:nvPr>
            <p:ph type="dt" sz="half" idx="10"/>
          </p:nvPr>
        </p:nvSpPr>
        <p:spPr/>
        <p:txBody>
          <a:bodyPr/>
          <a:lstStyle/>
          <a:p>
            <a:fld id="{86538A1D-4F74-4979-BA82-E99BF0A3A7E8}" type="datetimeFigureOut">
              <a:rPr lang="zh-TW" altLang="en-US" smtClean="0"/>
              <a:t>2021/10/21</a:t>
            </a:fld>
            <a:endParaRPr lang="zh-TW" altLang="en-US"/>
          </a:p>
        </p:txBody>
      </p:sp>
      <p:sp>
        <p:nvSpPr>
          <p:cNvPr id="8" name="頁尾版面配置區 7">
            <a:extLst>
              <a:ext uri="{FF2B5EF4-FFF2-40B4-BE49-F238E27FC236}">
                <a16:creationId xmlns:a16="http://schemas.microsoft.com/office/drawing/2014/main" id="{D83FB45F-116C-4B97-A7FE-10B4D3924F2C}"/>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8FDD3A62-5527-4227-B0ED-BAF2C9DE41A0}"/>
              </a:ext>
            </a:extLst>
          </p:cNvPr>
          <p:cNvSpPr>
            <a:spLocks noGrp="1"/>
          </p:cNvSpPr>
          <p:nvPr>
            <p:ph type="sldNum" sz="quarter" idx="12"/>
          </p:nvPr>
        </p:nvSpPr>
        <p:spPr/>
        <p:txBody>
          <a:bodyPr/>
          <a:lstStyle/>
          <a:p>
            <a:fld id="{BE688A4B-3DB5-4C87-8067-269C8CD05AE7}" type="slidenum">
              <a:rPr lang="zh-TW" altLang="en-US" smtClean="0"/>
              <a:t>‹#›</a:t>
            </a:fld>
            <a:endParaRPr lang="zh-TW" altLang="en-US"/>
          </a:p>
        </p:txBody>
      </p:sp>
    </p:spTree>
    <p:extLst>
      <p:ext uri="{BB962C8B-B14F-4D97-AF65-F5344CB8AC3E}">
        <p14:creationId xmlns:p14="http://schemas.microsoft.com/office/powerpoint/2010/main" val="4017958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4AB5E2-B315-42F3-9446-38949CED0B41}"/>
              </a:ext>
            </a:extLst>
          </p:cNvPr>
          <p:cNvSpPr>
            <a:spLocks noGrp="1"/>
          </p:cNvSpPr>
          <p:nvPr>
            <p:ph type="title"/>
          </p:nvPr>
        </p:nvSpPr>
        <p:spPr/>
        <p:txBody>
          <a:bodyPr/>
          <a:lstStyle>
            <a:lvl1pPr>
              <a:defRPr>
                <a:solidFill>
                  <a:srgbClr val="FFC000"/>
                </a:solidFill>
              </a:defRPr>
            </a:lvl1pPr>
          </a:lstStyle>
          <a:p>
            <a:r>
              <a:rPr lang="zh-TW" altLang="en-US"/>
              <a:t>按一下以編輯母片標題樣式</a:t>
            </a:r>
          </a:p>
        </p:txBody>
      </p:sp>
      <p:sp>
        <p:nvSpPr>
          <p:cNvPr id="3" name="日期版面配置區 2">
            <a:extLst>
              <a:ext uri="{FF2B5EF4-FFF2-40B4-BE49-F238E27FC236}">
                <a16:creationId xmlns:a16="http://schemas.microsoft.com/office/drawing/2014/main" id="{D1858EB7-E7DE-4A19-B471-D3D4EEF72D2F}"/>
              </a:ext>
            </a:extLst>
          </p:cNvPr>
          <p:cNvSpPr>
            <a:spLocks noGrp="1"/>
          </p:cNvSpPr>
          <p:nvPr>
            <p:ph type="dt" sz="half" idx="10"/>
          </p:nvPr>
        </p:nvSpPr>
        <p:spPr/>
        <p:txBody>
          <a:bodyPr/>
          <a:lstStyle/>
          <a:p>
            <a:fld id="{86538A1D-4F74-4979-BA82-E99BF0A3A7E8}" type="datetimeFigureOut">
              <a:rPr lang="zh-TW" altLang="en-US" smtClean="0"/>
              <a:t>2021/10/21</a:t>
            </a:fld>
            <a:endParaRPr lang="zh-TW" altLang="en-US"/>
          </a:p>
        </p:txBody>
      </p:sp>
      <p:sp>
        <p:nvSpPr>
          <p:cNvPr id="4" name="頁尾版面配置區 3">
            <a:extLst>
              <a:ext uri="{FF2B5EF4-FFF2-40B4-BE49-F238E27FC236}">
                <a16:creationId xmlns:a16="http://schemas.microsoft.com/office/drawing/2014/main" id="{E0FA6BDD-5B55-4583-A8B4-445915FF5AEB}"/>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D1415A9-920E-49EB-A04E-12E1957C9CBA}"/>
              </a:ext>
            </a:extLst>
          </p:cNvPr>
          <p:cNvSpPr>
            <a:spLocks noGrp="1"/>
          </p:cNvSpPr>
          <p:nvPr>
            <p:ph type="sldNum" sz="quarter" idx="12"/>
          </p:nvPr>
        </p:nvSpPr>
        <p:spPr/>
        <p:txBody>
          <a:bodyPr/>
          <a:lstStyle/>
          <a:p>
            <a:fld id="{BE688A4B-3DB5-4C87-8067-269C8CD05AE7}" type="slidenum">
              <a:rPr lang="zh-TW" altLang="en-US" smtClean="0"/>
              <a:t>‹#›</a:t>
            </a:fld>
            <a:endParaRPr lang="zh-TW" altLang="en-US"/>
          </a:p>
        </p:txBody>
      </p:sp>
    </p:spTree>
    <p:extLst>
      <p:ext uri="{BB962C8B-B14F-4D97-AF65-F5344CB8AC3E}">
        <p14:creationId xmlns:p14="http://schemas.microsoft.com/office/powerpoint/2010/main" val="2963482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7E15346-BB21-462C-91FE-BB66B78896C9}"/>
              </a:ext>
            </a:extLst>
          </p:cNvPr>
          <p:cNvSpPr>
            <a:spLocks noGrp="1"/>
          </p:cNvSpPr>
          <p:nvPr>
            <p:ph type="dt" sz="half" idx="10"/>
          </p:nvPr>
        </p:nvSpPr>
        <p:spPr/>
        <p:txBody>
          <a:bodyPr/>
          <a:lstStyle/>
          <a:p>
            <a:fld id="{86538A1D-4F74-4979-BA82-E99BF0A3A7E8}" type="datetimeFigureOut">
              <a:rPr lang="zh-TW" altLang="en-US" smtClean="0"/>
              <a:t>2021/10/21</a:t>
            </a:fld>
            <a:endParaRPr lang="zh-TW" altLang="en-US"/>
          </a:p>
        </p:txBody>
      </p:sp>
      <p:sp>
        <p:nvSpPr>
          <p:cNvPr id="3" name="頁尾版面配置區 2">
            <a:extLst>
              <a:ext uri="{FF2B5EF4-FFF2-40B4-BE49-F238E27FC236}">
                <a16:creationId xmlns:a16="http://schemas.microsoft.com/office/drawing/2014/main" id="{F862A2A3-473C-44C4-A870-DA24DD251AD4}"/>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F89C140-909F-4891-9A5A-E2DDDEDFFE36}"/>
              </a:ext>
            </a:extLst>
          </p:cNvPr>
          <p:cNvSpPr>
            <a:spLocks noGrp="1"/>
          </p:cNvSpPr>
          <p:nvPr>
            <p:ph type="sldNum" sz="quarter" idx="12"/>
          </p:nvPr>
        </p:nvSpPr>
        <p:spPr/>
        <p:txBody>
          <a:bodyPr/>
          <a:lstStyle/>
          <a:p>
            <a:fld id="{BE688A4B-3DB5-4C87-8067-269C8CD05AE7}" type="slidenum">
              <a:rPr lang="zh-TW" altLang="en-US" smtClean="0"/>
              <a:t>‹#›</a:t>
            </a:fld>
            <a:endParaRPr lang="zh-TW" altLang="en-US"/>
          </a:p>
        </p:txBody>
      </p:sp>
    </p:spTree>
    <p:extLst>
      <p:ext uri="{BB962C8B-B14F-4D97-AF65-F5344CB8AC3E}">
        <p14:creationId xmlns:p14="http://schemas.microsoft.com/office/powerpoint/2010/main" val="4242380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8DBBBD-3951-42BD-9C66-75F5A9C3E68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E48DCC01-0374-4596-972D-8C217A56D0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1E54FC12-E651-4A5A-9AB3-23AD3C19E4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B2BF864F-CDD9-4DA3-B765-1596F6E81828}"/>
              </a:ext>
            </a:extLst>
          </p:cNvPr>
          <p:cNvSpPr>
            <a:spLocks noGrp="1"/>
          </p:cNvSpPr>
          <p:nvPr>
            <p:ph type="dt" sz="half" idx="10"/>
          </p:nvPr>
        </p:nvSpPr>
        <p:spPr/>
        <p:txBody>
          <a:bodyPr/>
          <a:lstStyle/>
          <a:p>
            <a:fld id="{86538A1D-4F74-4979-BA82-E99BF0A3A7E8}" type="datetimeFigureOut">
              <a:rPr lang="zh-TW" altLang="en-US" smtClean="0"/>
              <a:t>2021/10/21</a:t>
            </a:fld>
            <a:endParaRPr lang="zh-TW" altLang="en-US"/>
          </a:p>
        </p:txBody>
      </p:sp>
      <p:sp>
        <p:nvSpPr>
          <p:cNvPr id="6" name="頁尾版面配置區 5">
            <a:extLst>
              <a:ext uri="{FF2B5EF4-FFF2-40B4-BE49-F238E27FC236}">
                <a16:creationId xmlns:a16="http://schemas.microsoft.com/office/drawing/2014/main" id="{01FC555C-17AA-4D2F-81FF-4E97AAC057D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3ABE2E8-43BD-45A9-90E9-B81468C2AA65}"/>
              </a:ext>
            </a:extLst>
          </p:cNvPr>
          <p:cNvSpPr>
            <a:spLocks noGrp="1"/>
          </p:cNvSpPr>
          <p:nvPr>
            <p:ph type="sldNum" sz="quarter" idx="12"/>
          </p:nvPr>
        </p:nvSpPr>
        <p:spPr/>
        <p:txBody>
          <a:bodyPr/>
          <a:lstStyle/>
          <a:p>
            <a:fld id="{BE688A4B-3DB5-4C87-8067-269C8CD05AE7}" type="slidenum">
              <a:rPr lang="zh-TW" altLang="en-US" smtClean="0"/>
              <a:t>‹#›</a:t>
            </a:fld>
            <a:endParaRPr lang="zh-TW" altLang="en-US"/>
          </a:p>
        </p:txBody>
      </p:sp>
    </p:spTree>
    <p:extLst>
      <p:ext uri="{BB962C8B-B14F-4D97-AF65-F5344CB8AC3E}">
        <p14:creationId xmlns:p14="http://schemas.microsoft.com/office/powerpoint/2010/main" val="264802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15B594-4EFE-4923-B819-3FE41CDA77E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5A67E47F-B47B-41C3-B953-4226F310BB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D3BA687-E033-4F05-BB5E-F71EAC113B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632D20F-C9A0-4255-941D-19BA0D2ACE7A}"/>
              </a:ext>
            </a:extLst>
          </p:cNvPr>
          <p:cNvSpPr>
            <a:spLocks noGrp="1"/>
          </p:cNvSpPr>
          <p:nvPr>
            <p:ph type="dt" sz="half" idx="10"/>
          </p:nvPr>
        </p:nvSpPr>
        <p:spPr/>
        <p:txBody>
          <a:bodyPr/>
          <a:lstStyle/>
          <a:p>
            <a:fld id="{86538A1D-4F74-4979-BA82-E99BF0A3A7E8}" type="datetimeFigureOut">
              <a:rPr lang="zh-TW" altLang="en-US" smtClean="0"/>
              <a:t>2021/10/21</a:t>
            </a:fld>
            <a:endParaRPr lang="zh-TW" altLang="en-US"/>
          </a:p>
        </p:txBody>
      </p:sp>
      <p:sp>
        <p:nvSpPr>
          <p:cNvPr id="6" name="頁尾版面配置區 5">
            <a:extLst>
              <a:ext uri="{FF2B5EF4-FFF2-40B4-BE49-F238E27FC236}">
                <a16:creationId xmlns:a16="http://schemas.microsoft.com/office/drawing/2014/main" id="{38D15D4A-EA0A-4BFC-A898-A19906A27D8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44C5498-B614-434D-9C65-6C042975EFDF}"/>
              </a:ext>
            </a:extLst>
          </p:cNvPr>
          <p:cNvSpPr>
            <a:spLocks noGrp="1"/>
          </p:cNvSpPr>
          <p:nvPr>
            <p:ph type="sldNum" sz="quarter" idx="12"/>
          </p:nvPr>
        </p:nvSpPr>
        <p:spPr/>
        <p:txBody>
          <a:bodyPr/>
          <a:lstStyle/>
          <a:p>
            <a:fld id="{BE688A4B-3DB5-4C87-8067-269C8CD05AE7}" type="slidenum">
              <a:rPr lang="zh-TW" altLang="en-US" smtClean="0"/>
              <a:t>‹#›</a:t>
            </a:fld>
            <a:endParaRPr lang="zh-TW" altLang="en-US"/>
          </a:p>
        </p:txBody>
      </p:sp>
    </p:spTree>
    <p:extLst>
      <p:ext uri="{BB962C8B-B14F-4D97-AF65-F5344CB8AC3E}">
        <p14:creationId xmlns:p14="http://schemas.microsoft.com/office/powerpoint/2010/main" val="543091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F592D2-D94D-4840-A8CE-B9A09862868F}"/>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4D25CC4C-B15E-4B88-AA36-EFBBD70A7497}"/>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B39B498-FB9E-4F29-90F6-AB49A8D746AA}"/>
              </a:ext>
            </a:extLst>
          </p:cNvPr>
          <p:cNvSpPr>
            <a:spLocks noGrp="1"/>
          </p:cNvSpPr>
          <p:nvPr>
            <p:ph type="dt" sz="half" idx="10"/>
          </p:nvPr>
        </p:nvSpPr>
        <p:spPr/>
        <p:txBody>
          <a:bodyPr/>
          <a:lstStyle/>
          <a:p>
            <a:fld id="{86538A1D-4F74-4979-BA82-E99BF0A3A7E8}" type="datetimeFigureOut">
              <a:rPr lang="zh-TW" altLang="en-US" smtClean="0"/>
              <a:t>2021/10/21</a:t>
            </a:fld>
            <a:endParaRPr lang="zh-TW" altLang="en-US"/>
          </a:p>
        </p:txBody>
      </p:sp>
      <p:sp>
        <p:nvSpPr>
          <p:cNvPr id="5" name="頁尾版面配置區 4">
            <a:extLst>
              <a:ext uri="{FF2B5EF4-FFF2-40B4-BE49-F238E27FC236}">
                <a16:creationId xmlns:a16="http://schemas.microsoft.com/office/drawing/2014/main" id="{1117BE62-3BEB-4237-B655-2B34E05841B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A47B5AA-0F47-4659-ACFB-1BD221677565}"/>
              </a:ext>
            </a:extLst>
          </p:cNvPr>
          <p:cNvSpPr>
            <a:spLocks noGrp="1"/>
          </p:cNvSpPr>
          <p:nvPr>
            <p:ph type="sldNum" sz="quarter" idx="12"/>
          </p:nvPr>
        </p:nvSpPr>
        <p:spPr/>
        <p:txBody>
          <a:bodyPr/>
          <a:lstStyle/>
          <a:p>
            <a:fld id="{BE688A4B-3DB5-4C87-8067-269C8CD05AE7}" type="slidenum">
              <a:rPr lang="zh-TW" altLang="en-US" smtClean="0"/>
              <a:t>‹#›</a:t>
            </a:fld>
            <a:endParaRPr lang="zh-TW" altLang="en-US"/>
          </a:p>
        </p:txBody>
      </p:sp>
    </p:spTree>
    <p:extLst>
      <p:ext uri="{BB962C8B-B14F-4D97-AF65-F5344CB8AC3E}">
        <p14:creationId xmlns:p14="http://schemas.microsoft.com/office/powerpoint/2010/main" val="2542236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96B296-1F68-46D2-A81F-7064ACABE962}"/>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D74E8182-9BD5-4BC9-8449-7130EC28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72A46A7-196B-4EC7-88F3-969B42752770}"/>
              </a:ext>
            </a:extLst>
          </p:cNvPr>
          <p:cNvSpPr>
            <a:spLocks noGrp="1"/>
          </p:cNvSpPr>
          <p:nvPr>
            <p:ph type="dt" sz="half" idx="10"/>
          </p:nvPr>
        </p:nvSpPr>
        <p:spPr/>
        <p:txBody>
          <a:bodyPr/>
          <a:lstStyle/>
          <a:p>
            <a:fld id="{86538A1D-4F74-4979-BA82-E99BF0A3A7E8}" type="datetimeFigureOut">
              <a:rPr lang="zh-TW" altLang="en-US" smtClean="0"/>
              <a:t>2021/10/21</a:t>
            </a:fld>
            <a:endParaRPr lang="zh-TW" altLang="en-US"/>
          </a:p>
        </p:txBody>
      </p:sp>
      <p:sp>
        <p:nvSpPr>
          <p:cNvPr id="5" name="頁尾版面配置區 4">
            <a:extLst>
              <a:ext uri="{FF2B5EF4-FFF2-40B4-BE49-F238E27FC236}">
                <a16:creationId xmlns:a16="http://schemas.microsoft.com/office/drawing/2014/main" id="{6C297303-E868-4EAB-BBAA-08D02268848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7E128BD-B1F6-4997-9F3E-E17022015DE2}"/>
              </a:ext>
            </a:extLst>
          </p:cNvPr>
          <p:cNvSpPr>
            <a:spLocks noGrp="1"/>
          </p:cNvSpPr>
          <p:nvPr>
            <p:ph type="sldNum" sz="quarter" idx="12"/>
          </p:nvPr>
        </p:nvSpPr>
        <p:spPr/>
        <p:txBody>
          <a:bodyPr/>
          <a:lstStyle/>
          <a:p>
            <a:fld id="{BE688A4B-3DB5-4C87-8067-269C8CD05AE7}" type="slidenum">
              <a:rPr lang="zh-TW" altLang="en-US" smtClean="0"/>
              <a:t>‹#›</a:t>
            </a:fld>
            <a:endParaRPr lang="zh-TW" altLang="en-US"/>
          </a:p>
        </p:txBody>
      </p:sp>
    </p:spTree>
    <p:extLst>
      <p:ext uri="{BB962C8B-B14F-4D97-AF65-F5344CB8AC3E}">
        <p14:creationId xmlns:p14="http://schemas.microsoft.com/office/powerpoint/2010/main" val="1180334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F9A1C0D7-B194-4684-9E04-EBA12417C7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a:t>
            </a:r>
            <a:r>
              <a:rPr lang="en-US" altLang="zh-TW" dirty="0">
                <a:solidFill>
                  <a:srgbClr val="FFC000"/>
                </a:solidFill>
              </a:rPr>
              <a:t>This is a book</a:t>
            </a:r>
            <a:r>
              <a:rPr lang="zh-TW" altLang="en-US" dirty="0"/>
              <a:t>標題樣式</a:t>
            </a:r>
          </a:p>
        </p:txBody>
      </p:sp>
      <p:sp>
        <p:nvSpPr>
          <p:cNvPr id="3" name="文字版面配置區 2">
            <a:extLst>
              <a:ext uri="{FF2B5EF4-FFF2-40B4-BE49-F238E27FC236}">
                <a16:creationId xmlns:a16="http://schemas.microsoft.com/office/drawing/2014/main" id="{E5F63125-3D9B-4514-87C9-A481F7EB02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編輯母片文字樣式</a:t>
            </a:r>
          </a:p>
          <a:p>
            <a:pPr lvl="1"/>
            <a:r>
              <a:rPr lang="zh-TW" altLang="en-US" dirty="0"/>
              <a:t>第二</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C67FC698-5565-465C-A0DF-D5B175A8E1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Cambria" panose="02040503050406030204" pitchFamily="18" charset="0"/>
                <a:ea typeface="標楷體" panose="03000509000000000000" pitchFamily="65" charset="-120"/>
              </a:defRPr>
            </a:lvl1pPr>
          </a:lstStyle>
          <a:p>
            <a:fld id="{86538A1D-4F74-4979-BA82-E99BF0A3A7E8}" type="datetimeFigureOut">
              <a:rPr lang="zh-TW" altLang="en-US" smtClean="0"/>
              <a:pPr/>
              <a:t>2021/10/21</a:t>
            </a:fld>
            <a:endParaRPr lang="zh-TW" altLang="en-US"/>
          </a:p>
        </p:txBody>
      </p:sp>
      <p:sp>
        <p:nvSpPr>
          <p:cNvPr id="5" name="頁尾版面配置區 4">
            <a:extLst>
              <a:ext uri="{FF2B5EF4-FFF2-40B4-BE49-F238E27FC236}">
                <a16:creationId xmlns:a16="http://schemas.microsoft.com/office/drawing/2014/main" id="{62318DD3-785D-49B4-A569-0B9750A268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Cambria" panose="02040503050406030204" pitchFamily="18" charset="0"/>
                <a:ea typeface="標楷體" panose="03000509000000000000" pitchFamily="65" charset="-120"/>
              </a:defRPr>
            </a:lvl1pPr>
          </a:lstStyle>
          <a:p>
            <a:endParaRPr lang="zh-TW" altLang="en-US"/>
          </a:p>
        </p:txBody>
      </p:sp>
      <p:sp>
        <p:nvSpPr>
          <p:cNvPr id="6" name="投影片編號版面配置區 5">
            <a:extLst>
              <a:ext uri="{FF2B5EF4-FFF2-40B4-BE49-F238E27FC236}">
                <a16:creationId xmlns:a16="http://schemas.microsoft.com/office/drawing/2014/main" id="{22D6879D-7E3D-455B-8E4F-97BFBC239D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Cambria" panose="02040503050406030204" pitchFamily="18" charset="0"/>
                <a:ea typeface="標楷體" panose="03000509000000000000" pitchFamily="65" charset="-120"/>
              </a:defRPr>
            </a:lvl1pPr>
          </a:lstStyle>
          <a:p>
            <a:fld id="{BE688A4B-3DB5-4C87-8067-269C8CD05AE7}" type="slidenum">
              <a:rPr lang="zh-TW" altLang="en-US" smtClean="0"/>
              <a:pPr/>
              <a:t>‹#›</a:t>
            </a:fld>
            <a:endParaRPr lang="zh-TW" altLang="en-US"/>
          </a:p>
        </p:txBody>
      </p:sp>
    </p:spTree>
    <p:extLst>
      <p:ext uri="{BB962C8B-B14F-4D97-AF65-F5344CB8AC3E}">
        <p14:creationId xmlns:p14="http://schemas.microsoft.com/office/powerpoint/2010/main" val="976056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Cambria" panose="02040503050406030204" pitchFamily="18" charset="0"/>
          <a:ea typeface="標楷體" panose="03000509000000000000" pitchFamily="65" charset="-12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FFC000"/>
          </a:solidFill>
          <a:latin typeface="Cambria" panose="02040503050406030204" pitchFamily="18" charset="0"/>
          <a:ea typeface="標楷體" panose="03000509000000000000" pitchFamily="65"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FFC000"/>
          </a:solidFill>
          <a:latin typeface="Cambria" panose="02040503050406030204" pitchFamily="18" charset="0"/>
          <a:ea typeface="標楷體" panose="03000509000000000000" pitchFamily="65" charset="-12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FC000"/>
          </a:solidFill>
          <a:latin typeface="Cambria" panose="02040503050406030204" pitchFamily="18" charset="0"/>
          <a:ea typeface="標楷體" panose="03000509000000000000" pitchFamily="65" charset="-12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FFC000"/>
          </a:solidFill>
          <a:latin typeface="Cambria" panose="02040503050406030204" pitchFamily="18" charset="0"/>
          <a:ea typeface="標楷體" panose="03000509000000000000" pitchFamily="65" charset="-12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FFC000"/>
          </a:solidFill>
          <a:latin typeface="Cambria" panose="02040503050406030204" pitchFamily="18" charset="0"/>
          <a:ea typeface="標楷體" panose="03000509000000000000" pitchFamily="65"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www.javamex.com/thread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www.javamex.com/tutorials/synchronization_concurrency_synchronized1.shtm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c2.com/cgi/wiki?SingletonPatter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834DF9-A4F9-49E9-BC1F-BE651140F022}"/>
              </a:ext>
            </a:extLst>
          </p:cNvPr>
          <p:cNvSpPr>
            <a:spLocks noGrp="1"/>
          </p:cNvSpPr>
          <p:nvPr>
            <p:ph type="ctrTitle"/>
          </p:nvPr>
        </p:nvSpPr>
        <p:spPr/>
        <p:txBody>
          <a:bodyPr/>
          <a:lstStyle/>
          <a:p>
            <a:r>
              <a:rPr lang="en-US" altLang="zh-TW" dirty="0"/>
              <a:t>Singleton Design Pattern</a:t>
            </a:r>
            <a:endParaRPr lang="zh-TW" altLang="en-US" dirty="0"/>
          </a:p>
        </p:txBody>
      </p:sp>
      <p:sp>
        <p:nvSpPr>
          <p:cNvPr id="3" name="副標題 2">
            <a:extLst>
              <a:ext uri="{FF2B5EF4-FFF2-40B4-BE49-F238E27FC236}">
                <a16:creationId xmlns:a16="http://schemas.microsoft.com/office/drawing/2014/main" id="{C6163720-FF88-4E05-AE3E-5C245CBF6BAB}"/>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3040108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B361DF-1F8E-4DAD-9608-C7F55577D197}"/>
              </a:ext>
            </a:extLst>
          </p:cNvPr>
          <p:cNvSpPr>
            <a:spLocks noGrp="1"/>
          </p:cNvSpPr>
          <p:nvPr>
            <p:ph type="title"/>
          </p:nvPr>
        </p:nvSpPr>
        <p:spPr/>
        <p:txBody>
          <a:bodyPr/>
          <a:lstStyle/>
          <a:p>
            <a:pPr>
              <a:defRPr/>
            </a:pPr>
            <a:endParaRPr lang="zh-TW" altLang="en-US"/>
          </a:p>
        </p:txBody>
      </p:sp>
      <p:sp>
        <p:nvSpPr>
          <p:cNvPr id="11267" name="內容版面配置區 2">
            <a:extLst>
              <a:ext uri="{FF2B5EF4-FFF2-40B4-BE49-F238E27FC236}">
                <a16:creationId xmlns:a16="http://schemas.microsoft.com/office/drawing/2014/main" id="{DE708DE4-9067-45C9-9966-2F10E4CCD71C}"/>
              </a:ext>
            </a:extLst>
          </p:cNvPr>
          <p:cNvSpPr>
            <a:spLocks noGrp="1"/>
          </p:cNvSpPr>
          <p:nvPr>
            <p:ph idx="1"/>
          </p:nvPr>
        </p:nvSpPr>
        <p:spPr/>
        <p:txBody>
          <a:bodyPr/>
          <a:lstStyle/>
          <a:p>
            <a:endParaRPr lang="zh-TW" altLang="en-US"/>
          </a:p>
        </p:txBody>
      </p:sp>
      <p:pic>
        <p:nvPicPr>
          <p:cNvPr id="11268" name="Picture 2">
            <a:extLst>
              <a:ext uri="{FF2B5EF4-FFF2-40B4-BE49-F238E27FC236}">
                <a16:creationId xmlns:a16="http://schemas.microsoft.com/office/drawing/2014/main" id="{CC4E01B2-98C3-4E8F-90AE-F1292CCFEE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http://media02.hongkiat.com/ps-photo-effects02/evil.jpg">
            <a:extLst>
              <a:ext uri="{FF2B5EF4-FFF2-40B4-BE49-F238E27FC236}">
                <a16:creationId xmlns:a16="http://schemas.microsoft.com/office/drawing/2014/main" id="{C667C9CB-61DF-4191-AC5F-5EE12AC6F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1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a:extLst>
              <a:ext uri="{FF2B5EF4-FFF2-40B4-BE49-F238E27FC236}">
                <a16:creationId xmlns:a16="http://schemas.microsoft.com/office/drawing/2014/main" id="{9EBA08FC-3CD6-442B-921E-7B8FB6FE30D7}"/>
              </a:ext>
            </a:extLst>
          </p:cNvPr>
          <p:cNvSpPr>
            <a:spLocks noGrp="1"/>
          </p:cNvSpPr>
          <p:nvPr>
            <p:ph type="title"/>
          </p:nvPr>
        </p:nvSpPr>
        <p:spPr/>
        <p:txBody>
          <a:bodyPr>
            <a:normAutofit/>
          </a:bodyPr>
          <a:lstStyle/>
          <a:p>
            <a:pPr>
              <a:defRPr/>
            </a:pPr>
            <a:r>
              <a:rPr lang="en-US" altLang="zh-TW" dirty="0"/>
              <a:t>You may already know but cannot resist to use them in your code </a:t>
            </a:r>
            <a:endParaRPr lang="zh-TW" altLang="en-US" dirty="0"/>
          </a:p>
        </p:txBody>
      </p:sp>
      <p:sp>
        <p:nvSpPr>
          <p:cNvPr id="13316" name="內容版面配置區 2">
            <a:extLst>
              <a:ext uri="{FF2B5EF4-FFF2-40B4-BE49-F238E27FC236}">
                <a16:creationId xmlns:a16="http://schemas.microsoft.com/office/drawing/2014/main" id="{20943629-49E7-49B2-8A4C-CD8EC98A9475}"/>
              </a:ext>
            </a:extLst>
          </p:cNvPr>
          <p:cNvSpPr>
            <a:spLocks noGrp="1"/>
          </p:cNvSpPr>
          <p:nvPr>
            <p:ph idx="1"/>
          </p:nvPr>
        </p:nvSpPr>
        <p:spPr/>
        <p:txBody>
          <a:bodyPr/>
          <a:lstStyle/>
          <a:p>
            <a:pPr algn="ctr">
              <a:buFont typeface="Wingdings 2" panose="05020102010507070707" pitchFamily="18" charset="2"/>
              <a:buNone/>
            </a:pPr>
            <a:r>
              <a:rPr lang="en-US" altLang="zh-TW" sz="4800">
                <a:solidFill>
                  <a:srgbClr val="FFFF00"/>
                </a:solidFill>
                <a:latin typeface="Arial Black" panose="020B0A04020102020204" pitchFamily="34" charset="0"/>
              </a:rPr>
              <a:t>!!! Global Variables!!!</a:t>
            </a:r>
          </a:p>
          <a:p>
            <a:pPr>
              <a:buFont typeface="Wingdings 2" panose="05020102010507070707" pitchFamily="18" charset="2"/>
              <a:buNone/>
            </a:pPr>
            <a:endParaRPr lang="en-US" altLang="zh-TW"/>
          </a:p>
          <a:p>
            <a:pPr>
              <a:buFont typeface="Wingdings 2" panose="05020102010507070707" pitchFamily="18" charset="2"/>
              <a:buNone/>
            </a:pPr>
            <a:r>
              <a:rPr lang="en-US" altLang="zh-TW"/>
              <a:t>are</a:t>
            </a:r>
          </a:p>
          <a:p>
            <a:pPr>
              <a:buFont typeface="Wingdings 2" panose="05020102010507070707" pitchFamily="18" charset="2"/>
              <a:buNone/>
            </a:pPr>
            <a:endParaRPr lang="en-US" altLang="zh-TW"/>
          </a:p>
          <a:p>
            <a:pPr algn="ctr">
              <a:buFont typeface="Wingdings 2" panose="05020102010507070707" pitchFamily="18" charset="2"/>
              <a:buNone/>
            </a:pPr>
            <a:r>
              <a:rPr lang="en-US" altLang="zh-TW" sz="11500" b="1">
                <a:solidFill>
                  <a:srgbClr val="FFFF00"/>
                </a:solidFill>
              </a:rPr>
              <a:t>EVIL</a:t>
            </a:r>
            <a:endParaRPr lang="zh-TW" altLang="en-US" sz="11500" b="1">
              <a:solidFill>
                <a:srgbClr val="FFFF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05AE09-C585-4EC6-A3C2-5B26F5D2E50B}"/>
              </a:ext>
            </a:extLst>
          </p:cNvPr>
          <p:cNvSpPr>
            <a:spLocks noGrp="1"/>
          </p:cNvSpPr>
          <p:nvPr>
            <p:ph type="title"/>
          </p:nvPr>
        </p:nvSpPr>
        <p:spPr/>
        <p:txBody>
          <a:bodyPr/>
          <a:lstStyle/>
          <a:p>
            <a:pPr>
              <a:defRPr/>
            </a:pPr>
            <a:endParaRPr lang="zh-TW" altLang="en-US"/>
          </a:p>
        </p:txBody>
      </p:sp>
      <p:sp>
        <p:nvSpPr>
          <p:cNvPr id="14339" name="內容版面配置區 2">
            <a:extLst>
              <a:ext uri="{FF2B5EF4-FFF2-40B4-BE49-F238E27FC236}">
                <a16:creationId xmlns:a16="http://schemas.microsoft.com/office/drawing/2014/main" id="{0B6DF134-8572-4528-8127-617FC69410DC}"/>
              </a:ext>
            </a:extLst>
          </p:cNvPr>
          <p:cNvSpPr>
            <a:spLocks noGrp="1"/>
          </p:cNvSpPr>
          <p:nvPr>
            <p:ph idx="1"/>
          </p:nvPr>
        </p:nvSpPr>
        <p:spPr/>
        <p:txBody>
          <a:bodyPr/>
          <a:lstStyle/>
          <a:p>
            <a:endParaRPr lang="zh-TW" altLang="en-US" dirty="0"/>
          </a:p>
        </p:txBody>
      </p:sp>
      <p:pic>
        <p:nvPicPr>
          <p:cNvPr id="14340" name="圖片 3">
            <a:extLst>
              <a:ext uri="{FF2B5EF4-FFF2-40B4-BE49-F238E27FC236}">
                <a16:creationId xmlns:a16="http://schemas.microsoft.com/office/drawing/2014/main" id="{508B04CF-C3C1-499B-BF70-1F5A81C8E0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40014" y="36513"/>
            <a:ext cx="6480175" cy="687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3.bp.blogspot.com/_S-MPhZbA5Sc/S9itXlBSKZI/AAAAAAAAGnk/yUBP5yuo25w/s1600/bg_doubt.jpg">
            <a:extLst>
              <a:ext uri="{FF2B5EF4-FFF2-40B4-BE49-F238E27FC236}">
                <a16:creationId xmlns:a16="http://schemas.microsoft.com/office/drawing/2014/main" id="{1A4B562E-AF55-4873-8EE1-0C49D60C0E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2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a:extLst>
              <a:ext uri="{FF2B5EF4-FFF2-40B4-BE49-F238E27FC236}">
                <a16:creationId xmlns:a16="http://schemas.microsoft.com/office/drawing/2014/main" id="{271D2CA3-679B-45D8-9872-F911F7686BF8}"/>
              </a:ext>
            </a:extLst>
          </p:cNvPr>
          <p:cNvSpPr>
            <a:spLocks noGrp="1"/>
          </p:cNvSpPr>
          <p:nvPr>
            <p:ph type="title"/>
          </p:nvPr>
        </p:nvSpPr>
        <p:spPr>
          <a:xfrm>
            <a:off x="1975339" y="277324"/>
            <a:ext cx="10515600" cy="1325563"/>
          </a:xfrm>
        </p:spPr>
        <p:txBody>
          <a:bodyPr>
            <a:normAutofit/>
          </a:bodyPr>
          <a:lstStyle/>
          <a:p>
            <a:pPr>
              <a:defRPr/>
            </a:pPr>
            <a:r>
              <a:rPr lang="en-US" altLang="zh-TW" dirty="0">
                <a:solidFill>
                  <a:srgbClr val="FF0000"/>
                </a:solidFill>
              </a:rPr>
              <a:t>It could be worse !!</a:t>
            </a:r>
            <a:br>
              <a:rPr lang="en-US" altLang="zh-TW" dirty="0">
                <a:solidFill>
                  <a:srgbClr val="FF0000"/>
                </a:solidFill>
              </a:rPr>
            </a:br>
            <a:r>
              <a:rPr lang="en-US" altLang="zh-TW" dirty="0">
                <a:solidFill>
                  <a:srgbClr val="FF0000"/>
                </a:solidFill>
              </a:rPr>
              <a:t>If you don’t know why?</a:t>
            </a:r>
            <a:endParaRPr lang="zh-TW" altLang="en-US" dirty="0">
              <a:solidFill>
                <a:srgbClr val="FF0000"/>
              </a:solidFill>
            </a:endParaRPr>
          </a:p>
        </p:txBody>
      </p:sp>
      <p:sp>
        <p:nvSpPr>
          <p:cNvPr id="3" name="內容版面配置區 2">
            <a:extLst>
              <a:ext uri="{FF2B5EF4-FFF2-40B4-BE49-F238E27FC236}">
                <a16:creationId xmlns:a16="http://schemas.microsoft.com/office/drawing/2014/main" id="{B075AEB8-F8AA-4E87-A26C-4836B2D06360}"/>
              </a:ext>
            </a:extLst>
          </p:cNvPr>
          <p:cNvSpPr>
            <a:spLocks noGrp="1"/>
          </p:cNvSpPr>
          <p:nvPr>
            <p:ph idx="1"/>
          </p:nvPr>
        </p:nvSpPr>
        <p:spPr>
          <a:xfrm>
            <a:off x="1676400" y="1825625"/>
            <a:ext cx="10515600" cy="4351338"/>
          </a:xfrm>
        </p:spPr>
        <p:txBody>
          <a:bodyPr/>
          <a:lstStyle/>
          <a:p>
            <a:pPr marL="0" indent="0">
              <a:buNone/>
            </a:pPr>
            <a:endParaRPr lang="zh-TW" altLang="en-US"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nodeType="clickEffect" nodePh="1">
                                  <p:stCondLst>
                                    <p:cond delay="0"/>
                                  </p:stCondLst>
                                  <p:endCondLst>
                                    <p:cond evt="begin" delay="0">
                                      <p:tn val="5"/>
                                    </p:cond>
                                  </p:endCondLst>
                                  <p:iterate type="lt">
                                    <p:tmPct val="50000"/>
                                  </p:iterate>
                                  <p:childTnLst>
                                    <p:set>
                                      <p:cBhvr>
                                        <p:cTn id="6"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7"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F6EED0-F346-4233-AF0A-BF1334EA9DAE}"/>
              </a:ext>
            </a:extLst>
          </p:cNvPr>
          <p:cNvSpPr>
            <a:spLocks noGrp="1"/>
          </p:cNvSpPr>
          <p:nvPr>
            <p:ph type="title"/>
          </p:nvPr>
        </p:nvSpPr>
        <p:spPr/>
        <p:txBody>
          <a:bodyPr>
            <a:noAutofit/>
          </a:bodyPr>
          <a:lstStyle/>
          <a:p>
            <a:pPr>
              <a:defRPr/>
            </a:pPr>
            <a:r>
              <a:rPr lang="en-US" altLang="zh-TW" sz="3600" b="1" dirty="0"/>
              <a:t>Why Global Variables Should Be Avoided When Unnecessary!</a:t>
            </a:r>
            <a:r>
              <a:rPr lang="en-US" altLang="zh-TW" sz="3600" dirty="0"/>
              <a:t> </a:t>
            </a:r>
            <a:endParaRPr lang="zh-TW" altLang="en-US" sz="3600" dirty="0"/>
          </a:p>
        </p:txBody>
      </p:sp>
      <p:sp>
        <p:nvSpPr>
          <p:cNvPr id="17411" name="內容版面配置區 2">
            <a:extLst>
              <a:ext uri="{FF2B5EF4-FFF2-40B4-BE49-F238E27FC236}">
                <a16:creationId xmlns:a16="http://schemas.microsoft.com/office/drawing/2014/main" id="{6FFA47D2-AB15-4119-B084-D146BA0186E4}"/>
              </a:ext>
            </a:extLst>
          </p:cNvPr>
          <p:cNvSpPr>
            <a:spLocks noGrp="1"/>
          </p:cNvSpPr>
          <p:nvPr>
            <p:ph idx="1"/>
          </p:nvPr>
        </p:nvSpPr>
        <p:spPr>
          <a:xfrm>
            <a:off x="838200" y="2141537"/>
            <a:ext cx="10515600" cy="4351338"/>
          </a:xfrm>
        </p:spPr>
        <p:txBody>
          <a:bodyPr/>
          <a:lstStyle/>
          <a:p>
            <a:r>
              <a:rPr lang="en-US" altLang="zh-TW" b="1" dirty="0"/>
              <a:t>Non-locality</a:t>
            </a:r>
            <a:r>
              <a:rPr lang="en-US" altLang="zh-TW" dirty="0"/>
              <a:t> --</a:t>
            </a:r>
            <a:r>
              <a:rPr lang="zh-TW" altLang="en-US" dirty="0">
                <a:solidFill>
                  <a:schemeClr val="accent1">
                    <a:lumMod val="40000"/>
                    <a:lumOff val="60000"/>
                  </a:schemeClr>
                </a:solidFill>
              </a:rPr>
              <a:t>總體變數可以被任何地方的程式碼讀寫是難以理解跟除錯的</a:t>
            </a:r>
            <a:br>
              <a:rPr lang="en-US" altLang="zh-TW" dirty="0"/>
            </a:br>
            <a:r>
              <a:rPr lang="en-US" altLang="zh-TW" sz="1400" dirty="0"/>
              <a:t>Source code is easiest to understand when the scope of its individual elements are limited. Global variables can be read or modified by any part of the program, making it difficult to remember or reason about every possible use.  </a:t>
            </a:r>
            <a:endParaRPr lang="en-US" altLang="zh-TW" dirty="0"/>
          </a:p>
          <a:p>
            <a:r>
              <a:rPr lang="en-US" altLang="zh-TW" b="1" dirty="0"/>
              <a:t>No Access Control or Constraint Checking</a:t>
            </a:r>
            <a:r>
              <a:rPr lang="en-US" altLang="zh-TW" dirty="0"/>
              <a:t> </a:t>
            </a:r>
            <a:r>
              <a:rPr lang="en-US" altLang="zh-TW" sz="2400" dirty="0"/>
              <a:t>– </a:t>
            </a:r>
            <a:r>
              <a:rPr lang="zh-TW" altLang="en-US" sz="2400" dirty="0">
                <a:solidFill>
                  <a:schemeClr val="accent1">
                    <a:lumMod val="40000"/>
                    <a:lumOff val="60000"/>
                  </a:schemeClr>
                </a:solidFill>
              </a:rPr>
              <a:t>沒有存取控制以及限制查驗</a:t>
            </a:r>
            <a:br>
              <a:rPr lang="en-US" altLang="zh-TW" sz="2400" dirty="0"/>
            </a:br>
            <a:r>
              <a:rPr lang="en-US" altLang="zh-TW" sz="1400" dirty="0"/>
              <a:t>A global variable can be get or set by any part of the program, and any rules regarding its use can be easily broken or forgotten. (In other words, get/set accessors are generally preferable over direct data access, and this is even more so for global data.) By extension, the lack of access control greatly hinders achieving security in situations where you may wish to run untrusted code (such as working with 3rd party plugins). </a:t>
            </a:r>
            <a:endParaRPr lang="en-US" altLang="zh-TW"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AB2ABA-3F1C-4DDF-B56F-3053D5DF5337}"/>
              </a:ext>
            </a:extLst>
          </p:cNvPr>
          <p:cNvSpPr>
            <a:spLocks noGrp="1"/>
          </p:cNvSpPr>
          <p:nvPr>
            <p:ph type="title"/>
          </p:nvPr>
        </p:nvSpPr>
        <p:spPr/>
        <p:txBody>
          <a:bodyPr/>
          <a:lstStyle/>
          <a:p>
            <a:pPr>
              <a:defRPr/>
            </a:pPr>
            <a:r>
              <a:rPr lang="en-US" altLang="zh-TW" dirty="0">
                <a:solidFill>
                  <a:schemeClr val="accent1">
                    <a:lumMod val="20000"/>
                    <a:lumOff val="80000"/>
                  </a:schemeClr>
                </a:solidFill>
              </a:rPr>
              <a:t>Side effects</a:t>
            </a:r>
            <a:endParaRPr lang="zh-TW" altLang="en-US" dirty="0">
              <a:solidFill>
                <a:schemeClr val="accent1">
                  <a:lumMod val="20000"/>
                  <a:lumOff val="80000"/>
                </a:schemeClr>
              </a:solidFill>
            </a:endParaRPr>
          </a:p>
        </p:txBody>
      </p:sp>
      <p:sp>
        <p:nvSpPr>
          <p:cNvPr id="18435" name="內容版面配置區 2">
            <a:extLst>
              <a:ext uri="{FF2B5EF4-FFF2-40B4-BE49-F238E27FC236}">
                <a16:creationId xmlns:a16="http://schemas.microsoft.com/office/drawing/2014/main" id="{58076CC2-B3CB-43EB-94B0-2F41DBB80E55}"/>
              </a:ext>
            </a:extLst>
          </p:cNvPr>
          <p:cNvSpPr>
            <a:spLocks noGrp="1"/>
          </p:cNvSpPr>
          <p:nvPr>
            <p:ph idx="1"/>
          </p:nvPr>
        </p:nvSpPr>
        <p:spPr/>
        <p:txBody>
          <a:bodyPr/>
          <a:lstStyle/>
          <a:p>
            <a:r>
              <a:rPr lang="en-US" altLang="zh-TW" b="1" dirty="0"/>
              <a:t>Implicit coupling</a:t>
            </a:r>
            <a:r>
              <a:rPr lang="en-US" altLang="zh-TW" dirty="0"/>
              <a:t> – </a:t>
            </a:r>
            <a:r>
              <a:rPr lang="zh-TW" altLang="en-US" dirty="0">
                <a:solidFill>
                  <a:schemeClr val="accent1">
                    <a:lumMod val="40000"/>
                    <a:lumOff val="60000"/>
                  </a:schemeClr>
                </a:solidFill>
              </a:rPr>
              <a:t>隱晦的耦合</a:t>
            </a:r>
            <a:br>
              <a:rPr lang="en-US" altLang="zh-TW" dirty="0"/>
            </a:br>
            <a:r>
              <a:rPr lang="en-US" altLang="zh-TW" sz="1600" dirty="0"/>
              <a:t>A program with many global variables often has tight couplings between some of those variables, and couplings between variables and functions. Grouping coupled items into cohesive units usually leads to better programs. </a:t>
            </a:r>
            <a:endParaRPr lang="en-US" altLang="zh-TW" dirty="0"/>
          </a:p>
          <a:p>
            <a:r>
              <a:rPr lang="en-US" altLang="zh-TW" b="1" dirty="0"/>
              <a:t>Concurrency issues</a:t>
            </a:r>
            <a:r>
              <a:rPr lang="en-US" altLang="zh-TW" dirty="0"/>
              <a:t> </a:t>
            </a:r>
            <a:r>
              <a:rPr lang="en-US" altLang="zh-TW" sz="1800" dirty="0"/>
              <a:t>– </a:t>
            </a:r>
            <a:r>
              <a:rPr lang="zh-TW" altLang="en-US" b="1" dirty="0">
                <a:solidFill>
                  <a:schemeClr val="accent1">
                    <a:lumMod val="40000"/>
                    <a:lumOff val="60000"/>
                  </a:schemeClr>
                </a:solidFill>
              </a:rPr>
              <a:t>破壞並型與多執行續 </a:t>
            </a:r>
            <a:r>
              <a:rPr lang="en-US" altLang="zh-TW" b="1" dirty="0">
                <a:solidFill>
                  <a:schemeClr val="accent1">
                    <a:lumMod val="40000"/>
                    <a:lumOff val="60000"/>
                  </a:schemeClr>
                </a:solidFill>
              </a:rPr>
              <a:t>thread-safe</a:t>
            </a:r>
            <a:br>
              <a:rPr lang="en-US" altLang="zh-TW" sz="1800" dirty="0"/>
            </a:br>
            <a:r>
              <a:rPr lang="en-US" altLang="zh-TW" sz="1600" dirty="0"/>
              <a:t>if </a:t>
            </a:r>
            <a:r>
              <a:rPr lang="en-US" altLang="zh-TW" sz="1600" dirty="0" err="1"/>
              <a:t>globals</a:t>
            </a:r>
            <a:r>
              <a:rPr lang="en-US" altLang="zh-TW" sz="1600" dirty="0"/>
              <a:t> can be accessed by multiple threads of execution, synchronization is necessary (and too-often neglected). When dynamically linking modules with </a:t>
            </a:r>
            <a:r>
              <a:rPr lang="en-US" altLang="zh-TW" sz="1600" dirty="0" err="1"/>
              <a:t>globals</a:t>
            </a:r>
            <a:r>
              <a:rPr lang="en-US" altLang="zh-TW" sz="1600" dirty="0"/>
              <a:t>, the composed system might not be thread-safe even if the two independent modules tested in dozens of different contexts were safe.</a:t>
            </a:r>
            <a:r>
              <a:rPr lang="en-US" altLang="zh-TW" dirty="0"/>
              <a:t> </a:t>
            </a:r>
          </a:p>
          <a:p>
            <a:r>
              <a:rPr lang="en-US" altLang="zh-TW" b="1" dirty="0"/>
              <a:t>Namespace pollution</a:t>
            </a:r>
            <a:r>
              <a:rPr lang="en-US" altLang="zh-TW" dirty="0"/>
              <a:t> </a:t>
            </a:r>
            <a:r>
              <a:rPr lang="en-US" altLang="zh-TW" sz="1600" dirty="0"/>
              <a:t>– </a:t>
            </a:r>
            <a:r>
              <a:rPr lang="zh-TW" altLang="en-US" dirty="0">
                <a:solidFill>
                  <a:schemeClr val="accent1">
                    <a:lumMod val="40000"/>
                    <a:lumOff val="60000"/>
                  </a:schemeClr>
                </a:solidFill>
              </a:rPr>
              <a:t>名稱重疊汙染 </a:t>
            </a:r>
            <a:br>
              <a:rPr lang="en-US" altLang="zh-TW" sz="1600" dirty="0"/>
            </a:br>
            <a:r>
              <a:rPr lang="en-US" altLang="zh-TW" sz="1600" dirty="0"/>
              <a:t>Global names are available everywhere. You may unknowingly end up using a global when you think you are using a local (by misspelling or forgetting to declare the local) or vice versa. Also, if you ever have to link together modules that have the same global variable names, if you are lucky, you will get linking errors. If you are unlucky, the linker will simply treat all uses of the same name as the same object. </a:t>
            </a:r>
            <a:endParaRPr lang="en-US" altLang="zh-TW" dirty="0"/>
          </a:p>
          <a:p>
            <a:endParaRPr lang="zh-TW" altLang="en-US" dirty="0"/>
          </a:p>
        </p:txBody>
      </p:sp>
      <p:pic>
        <p:nvPicPr>
          <p:cNvPr id="18436" name="Picture 2" descr="http://www.inkcreationsprint.com/sitebuildercontent/sitebuilderpictures/ICPics/Sin.jpg">
            <a:extLst>
              <a:ext uri="{FF2B5EF4-FFF2-40B4-BE49-F238E27FC236}">
                <a16:creationId xmlns:a16="http://schemas.microsoft.com/office/drawing/2014/main" id="{FD1AAB19-9AD1-4F8F-BD13-37EC8B4448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7664" y="260350"/>
            <a:ext cx="2274887"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97D2CC-0226-47C5-8B05-8080537F4ADD}"/>
              </a:ext>
            </a:extLst>
          </p:cNvPr>
          <p:cNvSpPr>
            <a:spLocks noGrp="1"/>
          </p:cNvSpPr>
          <p:nvPr>
            <p:ph type="title"/>
          </p:nvPr>
        </p:nvSpPr>
        <p:spPr/>
        <p:txBody>
          <a:bodyPr/>
          <a:lstStyle/>
          <a:p>
            <a:pPr>
              <a:defRPr/>
            </a:pPr>
            <a:r>
              <a:rPr lang="en-US" altLang="zh-TW" dirty="0">
                <a:solidFill>
                  <a:schemeClr val="accent1">
                    <a:lumMod val="20000"/>
                    <a:lumOff val="80000"/>
                  </a:schemeClr>
                </a:solidFill>
              </a:rPr>
              <a:t>Side effects</a:t>
            </a:r>
            <a:endParaRPr lang="zh-TW" altLang="en-US" dirty="0">
              <a:solidFill>
                <a:schemeClr val="accent1">
                  <a:lumMod val="20000"/>
                  <a:lumOff val="80000"/>
                </a:schemeClr>
              </a:solidFill>
            </a:endParaRPr>
          </a:p>
        </p:txBody>
      </p:sp>
      <p:sp>
        <p:nvSpPr>
          <p:cNvPr id="19459" name="內容版面配置區 2">
            <a:extLst>
              <a:ext uri="{FF2B5EF4-FFF2-40B4-BE49-F238E27FC236}">
                <a16:creationId xmlns:a16="http://schemas.microsoft.com/office/drawing/2014/main" id="{D6ED1BC3-F610-4F90-8410-B09DD380F1EB}"/>
              </a:ext>
            </a:extLst>
          </p:cNvPr>
          <p:cNvSpPr>
            <a:spLocks noGrp="1"/>
          </p:cNvSpPr>
          <p:nvPr>
            <p:ph idx="1"/>
          </p:nvPr>
        </p:nvSpPr>
        <p:spPr/>
        <p:txBody>
          <a:bodyPr/>
          <a:lstStyle/>
          <a:p>
            <a:r>
              <a:rPr lang="en-US" altLang="zh-TW" b="1" dirty="0"/>
              <a:t>Memory allocation issues</a:t>
            </a:r>
            <a:r>
              <a:rPr lang="en-US" altLang="zh-TW" dirty="0"/>
              <a:t> – </a:t>
            </a:r>
            <a:r>
              <a:rPr lang="zh-TW" altLang="en-US" dirty="0">
                <a:solidFill>
                  <a:schemeClr val="accent1">
                    <a:lumMod val="20000"/>
                    <a:lumOff val="80000"/>
                  </a:schemeClr>
                </a:solidFill>
              </a:rPr>
              <a:t>記憶體配置問題 </a:t>
            </a:r>
            <a:br>
              <a:rPr lang="en-US" altLang="zh-TW" dirty="0"/>
            </a:br>
            <a:r>
              <a:rPr lang="en-US" altLang="zh-TW" sz="1600" dirty="0"/>
              <a:t>Some environments have memory allocation schemes that make allocation of </a:t>
            </a:r>
            <a:r>
              <a:rPr lang="en-US" altLang="zh-TW" sz="1600" dirty="0" err="1"/>
              <a:t>globals</a:t>
            </a:r>
            <a:r>
              <a:rPr lang="en-US" altLang="zh-TW" sz="1600" dirty="0"/>
              <a:t> tricky. This is </a:t>
            </a:r>
            <a:r>
              <a:rPr lang="en-US" altLang="zh-TW" sz="1600" i="1" dirty="0"/>
              <a:t>especially</a:t>
            </a:r>
            <a:r>
              <a:rPr lang="en-US" altLang="zh-TW" sz="1600" dirty="0"/>
              <a:t> true in languages where "constructors" have side-effects other than allocation (because, in that case, you can express unsafe situations where two </a:t>
            </a:r>
            <a:r>
              <a:rPr lang="en-US" altLang="zh-TW" sz="1600" dirty="0" err="1"/>
              <a:t>globals</a:t>
            </a:r>
            <a:r>
              <a:rPr lang="en-US" altLang="zh-TW" sz="1600" dirty="0"/>
              <a:t> mutually depend on one another). Also, when dynamically linking modules, it can be unclear whether different libraries have their own instances of </a:t>
            </a:r>
            <a:r>
              <a:rPr lang="en-US" altLang="zh-TW" sz="1600" dirty="0" err="1"/>
              <a:t>globals</a:t>
            </a:r>
            <a:r>
              <a:rPr lang="en-US" altLang="zh-TW" sz="1600" dirty="0"/>
              <a:t> or whether the </a:t>
            </a:r>
            <a:r>
              <a:rPr lang="en-US" altLang="zh-TW" sz="1600" dirty="0" err="1"/>
              <a:t>globals</a:t>
            </a:r>
            <a:r>
              <a:rPr lang="en-US" altLang="zh-TW" sz="1600" dirty="0"/>
              <a:t> are shared. </a:t>
            </a:r>
            <a:endParaRPr lang="en-US" altLang="zh-TW" dirty="0"/>
          </a:p>
          <a:p>
            <a:r>
              <a:rPr lang="en-US" altLang="zh-TW" b="1" dirty="0"/>
              <a:t>Testing and Confinement</a:t>
            </a:r>
            <a:r>
              <a:rPr lang="en-US" altLang="zh-TW" dirty="0"/>
              <a:t> – </a:t>
            </a:r>
            <a:r>
              <a:rPr lang="zh-TW" altLang="en-US" dirty="0">
                <a:solidFill>
                  <a:schemeClr val="accent1">
                    <a:lumMod val="20000"/>
                    <a:lumOff val="80000"/>
                  </a:schemeClr>
                </a:solidFill>
              </a:rPr>
              <a:t>測試難題</a:t>
            </a:r>
            <a:br>
              <a:rPr lang="en-US" altLang="zh-TW" dirty="0"/>
            </a:br>
            <a:r>
              <a:rPr lang="en-US" altLang="zh-TW" sz="1600" dirty="0"/>
              <a:t>source that utilizes </a:t>
            </a:r>
            <a:r>
              <a:rPr lang="en-US" altLang="zh-TW" sz="1600" dirty="0" err="1"/>
              <a:t>globals</a:t>
            </a:r>
            <a:r>
              <a:rPr lang="en-US" altLang="zh-TW" sz="1600" dirty="0"/>
              <a:t> is somewhat more difficult to test because one cannot readily set up a 'clean' environment between runs. More generally, source that utilizes global services of any sort (e.g. reading and writing files or databases) that aren't explicitly provided to that source is difficult to test for the same reason. For communicating systems, the ability to test system invariants may require running more than one 'copy' of a system simultaneously, which is greatly hindered by any use of shared services - including global memory - that are not provided for sharing as part of the test. </a:t>
            </a:r>
            <a:endParaRPr lang="en-US" altLang="zh-TW" dirty="0"/>
          </a:p>
          <a:p>
            <a:endParaRPr lang="zh-TW" altLang="en-US" dirty="0"/>
          </a:p>
        </p:txBody>
      </p:sp>
      <p:pic>
        <p:nvPicPr>
          <p:cNvPr id="19460" name="Picture 2" descr="http://www.inkcreationsprint.com/sitebuildercontent/sitebuilderpictures/ICPics/Sin.jpg">
            <a:extLst>
              <a:ext uri="{FF2B5EF4-FFF2-40B4-BE49-F238E27FC236}">
                <a16:creationId xmlns:a16="http://schemas.microsoft.com/office/drawing/2014/main" id="{E1952554-3B18-47ED-9F55-A4A3ABA589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7510" y="212725"/>
            <a:ext cx="2274887"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a:extLst>
              <a:ext uri="{FF2B5EF4-FFF2-40B4-BE49-F238E27FC236}">
                <a16:creationId xmlns:a16="http://schemas.microsoft.com/office/drawing/2014/main" id="{F9CD50C0-8B9A-43EF-9834-DF5F81853862}"/>
              </a:ext>
            </a:extLst>
          </p:cNvPr>
          <p:cNvSpPr>
            <a:spLocks noGrp="1"/>
          </p:cNvSpPr>
          <p:nvPr>
            <p:ph type="title"/>
          </p:nvPr>
        </p:nvSpPr>
        <p:spPr>
          <a:xfrm>
            <a:off x="1547445" y="253536"/>
            <a:ext cx="9671539" cy="1143000"/>
          </a:xfrm>
        </p:spPr>
        <p:txBody>
          <a:bodyPr>
            <a:normAutofit/>
          </a:bodyPr>
          <a:lstStyle/>
          <a:p>
            <a:pPr marL="54864">
              <a:defRPr/>
            </a:pPr>
            <a:r>
              <a:rPr lang="en-US" altLang="zh-TW" sz="2800" dirty="0">
                <a:solidFill>
                  <a:schemeClr val="accent1">
                    <a:lumMod val="20000"/>
                    <a:lumOff val="80000"/>
                  </a:schemeClr>
                </a:solidFill>
              </a:rPr>
              <a:t>The stupid way in Java </a:t>
            </a:r>
            <a:r>
              <a:rPr lang="zh-TW" altLang="en-US" sz="2800" dirty="0">
                <a:solidFill>
                  <a:schemeClr val="accent1">
                    <a:lumMod val="20000"/>
                    <a:lumOff val="80000"/>
                  </a:schemeClr>
                </a:solidFill>
              </a:rPr>
              <a:t> </a:t>
            </a:r>
            <a:r>
              <a:rPr lang="en-US" altLang="zh-TW" sz="2800" dirty="0">
                <a:solidFill>
                  <a:schemeClr val="accent1">
                    <a:lumMod val="20000"/>
                    <a:lumOff val="80000"/>
                  </a:schemeClr>
                </a:solidFill>
              </a:rPr>
              <a:t>(pure OOPL) </a:t>
            </a:r>
            <a:br>
              <a:rPr lang="en-US" altLang="zh-TW" sz="2800" dirty="0">
                <a:solidFill>
                  <a:schemeClr val="accent1">
                    <a:lumMod val="20000"/>
                    <a:lumOff val="80000"/>
                  </a:schemeClr>
                </a:solidFill>
              </a:rPr>
            </a:br>
            <a:r>
              <a:rPr lang="en-US" altLang="zh-TW" sz="2800" dirty="0">
                <a:solidFill>
                  <a:schemeClr val="accent1">
                    <a:lumMod val="20000"/>
                    <a:lumOff val="80000"/>
                  </a:schemeClr>
                </a:solidFill>
              </a:rPr>
              <a:t>Often seen in first-timer </a:t>
            </a:r>
            <a:r>
              <a:rPr lang="en-US" altLang="zh-TW" sz="2800" dirty="0" err="1">
                <a:solidFill>
                  <a:schemeClr val="accent1">
                    <a:lumMod val="20000"/>
                    <a:lumOff val="80000"/>
                  </a:schemeClr>
                </a:solidFill>
              </a:rPr>
              <a:t>OOPers</a:t>
            </a:r>
            <a:endParaRPr lang="zh-TW" altLang="en-US" sz="2800" dirty="0">
              <a:solidFill>
                <a:schemeClr val="accent1">
                  <a:lumMod val="20000"/>
                  <a:lumOff val="80000"/>
                </a:schemeClr>
              </a:solidFill>
            </a:endParaRPr>
          </a:p>
        </p:txBody>
      </p:sp>
      <p:sp>
        <p:nvSpPr>
          <p:cNvPr id="20483" name="內容版面配置區 2">
            <a:extLst>
              <a:ext uri="{FF2B5EF4-FFF2-40B4-BE49-F238E27FC236}">
                <a16:creationId xmlns:a16="http://schemas.microsoft.com/office/drawing/2014/main" id="{5FE5BAAF-15B5-4E5E-B854-B09D78D9AF7C}"/>
              </a:ext>
            </a:extLst>
          </p:cNvPr>
          <p:cNvSpPr>
            <a:spLocks noGrp="1"/>
          </p:cNvSpPr>
          <p:nvPr>
            <p:ph idx="1"/>
          </p:nvPr>
        </p:nvSpPr>
        <p:spPr>
          <a:xfrm>
            <a:off x="803030" y="1396536"/>
            <a:ext cx="5949462" cy="4913862"/>
          </a:xfrm>
        </p:spPr>
        <p:txBody>
          <a:bodyPr>
            <a:normAutofit fontScale="85000" lnSpcReduction="20000"/>
          </a:bodyPr>
          <a:lstStyle/>
          <a:p>
            <a:pPr eaLnBrk="1" hangingPunct="1">
              <a:buFont typeface="Arial" panose="020B0604020202020204" pitchFamily="34" charset="0"/>
              <a:buNone/>
            </a:pPr>
            <a:r>
              <a:rPr lang="en-US" altLang="zh-TW" sz="1500" dirty="0"/>
              <a:t>class X {</a:t>
            </a:r>
          </a:p>
          <a:p>
            <a:pPr eaLnBrk="1" hangingPunct="1">
              <a:buFont typeface="Arial" panose="020B0604020202020204" pitchFamily="34" charset="0"/>
              <a:buNone/>
            </a:pPr>
            <a:r>
              <a:rPr lang="en-US" altLang="zh-TW" sz="1500" dirty="0"/>
              <a:t>   …….</a:t>
            </a:r>
          </a:p>
          <a:p>
            <a:pPr eaLnBrk="1" hangingPunct="1">
              <a:buFont typeface="Arial" panose="020B0604020202020204" pitchFamily="34" charset="0"/>
              <a:buNone/>
            </a:pPr>
            <a:r>
              <a:rPr lang="en-US" altLang="zh-TW" sz="1500" dirty="0"/>
              <a:t>};</a:t>
            </a:r>
          </a:p>
          <a:p>
            <a:pPr eaLnBrk="1" hangingPunct="1">
              <a:buFont typeface="Arial" panose="020B0604020202020204" pitchFamily="34" charset="0"/>
              <a:buNone/>
            </a:pPr>
            <a:r>
              <a:rPr lang="en-US" altLang="zh-TW" sz="1500" dirty="0"/>
              <a:t>Main() {</a:t>
            </a:r>
          </a:p>
          <a:p>
            <a:pPr eaLnBrk="1" hangingPunct="1">
              <a:buFont typeface="Arial" panose="020B0604020202020204" pitchFamily="34" charset="0"/>
              <a:buNone/>
            </a:pPr>
            <a:r>
              <a:rPr lang="en-US" altLang="zh-TW" sz="1500" dirty="0"/>
              <a:t>          X  </a:t>
            </a:r>
            <a:r>
              <a:rPr lang="en-US" altLang="zh-TW" sz="1500" dirty="0" err="1"/>
              <a:t>ux</a:t>
            </a:r>
            <a:r>
              <a:rPr lang="en-US" altLang="zh-TW" sz="1500" dirty="0"/>
              <a:t> = new X();</a:t>
            </a:r>
          </a:p>
          <a:p>
            <a:pPr eaLnBrk="1" hangingPunct="1">
              <a:buFont typeface="Arial" panose="020B0604020202020204" pitchFamily="34" charset="0"/>
              <a:buNone/>
            </a:pPr>
            <a:r>
              <a:rPr lang="en-US" altLang="zh-TW" sz="1500" dirty="0"/>
              <a:t>          ……..</a:t>
            </a:r>
          </a:p>
          <a:p>
            <a:pPr eaLnBrk="1" hangingPunct="1">
              <a:buFont typeface="Arial" panose="020B0604020202020204" pitchFamily="34" charset="0"/>
              <a:buNone/>
            </a:pPr>
            <a:r>
              <a:rPr lang="en-US" altLang="zh-TW" sz="1500" dirty="0"/>
              <a:t>          </a:t>
            </a:r>
            <a:r>
              <a:rPr lang="en-US" altLang="zh-TW" sz="1500" dirty="0" err="1"/>
              <a:t>b.dosomthing</a:t>
            </a:r>
            <a:r>
              <a:rPr lang="en-US" altLang="zh-TW" sz="1500" dirty="0"/>
              <a:t>(</a:t>
            </a:r>
            <a:r>
              <a:rPr lang="en-US" altLang="zh-TW" sz="1500" dirty="0" err="1"/>
              <a:t>ux</a:t>
            </a:r>
            <a:r>
              <a:rPr lang="en-US" altLang="zh-TW" sz="1500" dirty="0"/>
              <a:t>, ….) ;</a:t>
            </a:r>
          </a:p>
          <a:p>
            <a:pPr eaLnBrk="1" hangingPunct="1">
              <a:buFont typeface="Arial" panose="020B0604020202020204" pitchFamily="34" charset="0"/>
              <a:buNone/>
            </a:pPr>
            <a:r>
              <a:rPr lang="en-US" altLang="zh-TW" sz="1500" dirty="0"/>
              <a:t>          // we need object b to do something</a:t>
            </a:r>
          </a:p>
          <a:p>
            <a:pPr eaLnBrk="1" hangingPunct="1">
              <a:buFont typeface="Arial" panose="020B0604020202020204" pitchFamily="34" charset="0"/>
              <a:buNone/>
            </a:pPr>
            <a:r>
              <a:rPr lang="en-US" altLang="zh-TW" sz="1500" dirty="0"/>
              <a:t>          // but it needs cooperation of X</a:t>
            </a:r>
          </a:p>
          <a:p>
            <a:pPr eaLnBrk="1" hangingPunct="1">
              <a:buFont typeface="Arial" panose="020B0604020202020204" pitchFamily="34" charset="0"/>
              <a:buNone/>
            </a:pPr>
            <a:r>
              <a:rPr lang="en-US" altLang="zh-TW" sz="1500" dirty="0"/>
              <a:t>          // and </a:t>
            </a:r>
            <a:r>
              <a:rPr lang="en-US" altLang="zh-TW" sz="1500" dirty="0" err="1"/>
              <a:t>ux</a:t>
            </a:r>
            <a:r>
              <a:rPr lang="en-US" altLang="zh-TW" sz="1500" dirty="0"/>
              <a:t> is unique ;</a:t>
            </a:r>
          </a:p>
          <a:p>
            <a:pPr eaLnBrk="1" hangingPunct="1">
              <a:buFont typeface="Arial" panose="020B0604020202020204" pitchFamily="34" charset="0"/>
              <a:buNone/>
            </a:pPr>
            <a:r>
              <a:rPr lang="en-US" altLang="zh-TW" sz="1500" dirty="0"/>
              <a:t>}</a:t>
            </a:r>
          </a:p>
          <a:p>
            <a:pPr eaLnBrk="1" hangingPunct="1">
              <a:buFont typeface="Arial" panose="020B0604020202020204" pitchFamily="34" charset="0"/>
              <a:buNone/>
            </a:pPr>
            <a:r>
              <a:rPr lang="en-US" altLang="zh-TW" sz="1500" dirty="0"/>
              <a:t>Class B {</a:t>
            </a:r>
          </a:p>
          <a:p>
            <a:pPr eaLnBrk="1" hangingPunct="1">
              <a:buFont typeface="Arial" panose="020B0604020202020204" pitchFamily="34" charset="0"/>
              <a:buNone/>
            </a:pPr>
            <a:r>
              <a:rPr lang="en-US" altLang="zh-TW" sz="1500" dirty="0"/>
              <a:t> void </a:t>
            </a:r>
            <a:r>
              <a:rPr lang="en-US" altLang="zh-TW" sz="1500" dirty="0" err="1"/>
              <a:t>dosomething</a:t>
            </a:r>
            <a:r>
              <a:rPr lang="en-US" altLang="zh-TW" sz="1500" dirty="0"/>
              <a:t>(X  </a:t>
            </a:r>
            <a:r>
              <a:rPr lang="en-US" altLang="zh-TW" sz="1500" dirty="0" err="1"/>
              <a:t>ux</a:t>
            </a:r>
            <a:r>
              <a:rPr lang="en-US" altLang="zh-TW" sz="1500" dirty="0"/>
              <a:t>,..) {</a:t>
            </a:r>
          </a:p>
          <a:p>
            <a:pPr eaLnBrk="1" hangingPunct="1">
              <a:buFont typeface="Arial" panose="020B0604020202020204" pitchFamily="34" charset="0"/>
              <a:buNone/>
            </a:pPr>
            <a:r>
              <a:rPr lang="en-US" altLang="zh-TW" sz="1500" dirty="0"/>
              <a:t>       ……</a:t>
            </a:r>
          </a:p>
          <a:p>
            <a:pPr eaLnBrk="1" hangingPunct="1">
              <a:buFont typeface="Arial" panose="020B0604020202020204" pitchFamily="34" charset="0"/>
              <a:buNone/>
            </a:pPr>
            <a:r>
              <a:rPr lang="en-US" altLang="zh-TW" sz="1500" dirty="0"/>
              <a:t>      </a:t>
            </a:r>
            <a:r>
              <a:rPr lang="en-US" altLang="zh-TW" sz="1500" dirty="0" err="1"/>
              <a:t>C.domyjob</a:t>
            </a:r>
            <a:r>
              <a:rPr lang="en-US" altLang="zh-TW" sz="1500" dirty="0"/>
              <a:t>(</a:t>
            </a:r>
            <a:r>
              <a:rPr lang="en-US" altLang="zh-TW" sz="1500" dirty="0" err="1"/>
              <a:t>ux</a:t>
            </a:r>
            <a:r>
              <a:rPr lang="en-US" altLang="zh-TW" sz="1500" dirty="0"/>
              <a:t>, …);</a:t>
            </a:r>
          </a:p>
          <a:p>
            <a:pPr eaLnBrk="1" hangingPunct="1">
              <a:buFont typeface="Arial" panose="020B0604020202020204" pitchFamily="34" charset="0"/>
              <a:buNone/>
            </a:pPr>
            <a:r>
              <a:rPr lang="en-US" altLang="zh-TW" sz="1500" dirty="0"/>
              <a:t>      // ok we need c to do something</a:t>
            </a:r>
          </a:p>
          <a:p>
            <a:pPr eaLnBrk="1" hangingPunct="1">
              <a:buFont typeface="Arial" panose="020B0604020202020204" pitchFamily="34" charset="0"/>
              <a:buNone/>
            </a:pPr>
            <a:r>
              <a:rPr lang="en-US" altLang="zh-TW" sz="1500" dirty="0"/>
              <a:t>      // and it needs the cooperation of </a:t>
            </a:r>
            <a:r>
              <a:rPr lang="en-US" altLang="zh-TW" sz="1500" dirty="0" err="1"/>
              <a:t>ux</a:t>
            </a:r>
            <a:endParaRPr lang="en-US" altLang="zh-TW" sz="1500" dirty="0"/>
          </a:p>
          <a:p>
            <a:pPr eaLnBrk="1" hangingPunct="1">
              <a:buFont typeface="Arial" panose="020B0604020202020204" pitchFamily="34" charset="0"/>
              <a:buNone/>
            </a:pPr>
            <a:r>
              <a:rPr lang="en-US" altLang="zh-TW" sz="1500" dirty="0"/>
              <a:t>}</a:t>
            </a:r>
          </a:p>
          <a:p>
            <a:pPr eaLnBrk="1" hangingPunct="1">
              <a:buFont typeface="Arial" panose="020B0604020202020204" pitchFamily="34" charset="0"/>
              <a:buNone/>
            </a:pPr>
            <a:endParaRPr lang="en-US" altLang="zh-TW" sz="1200" dirty="0"/>
          </a:p>
          <a:p>
            <a:pPr eaLnBrk="1" hangingPunct="1">
              <a:buFont typeface="Arial" panose="020B0604020202020204" pitchFamily="34" charset="0"/>
              <a:buNone/>
            </a:pPr>
            <a:endParaRPr lang="en-US" altLang="zh-TW" sz="1200" dirty="0"/>
          </a:p>
          <a:p>
            <a:pPr eaLnBrk="1" hangingPunct="1"/>
            <a:endParaRPr lang="en-US" altLang="zh-TW" sz="1200" dirty="0"/>
          </a:p>
          <a:p>
            <a:pPr eaLnBrk="1" hangingPunct="1"/>
            <a:endParaRPr lang="zh-TW" altLang="en-US" sz="1200" dirty="0"/>
          </a:p>
        </p:txBody>
      </p:sp>
      <p:sp>
        <p:nvSpPr>
          <p:cNvPr id="4" name="直線圖說文字 1 3">
            <a:extLst>
              <a:ext uri="{FF2B5EF4-FFF2-40B4-BE49-F238E27FC236}">
                <a16:creationId xmlns:a16="http://schemas.microsoft.com/office/drawing/2014/main" id="{3057BDE7-4AEB-4883-AA7D-568EEE658F25}"/>
              </a:ext>
            </a:extLst>
          </p:cNvPr>
          <p:cNvSpPr/>
          <p:nvPr/>
        </p:nvSpPr>
        <p:spPr>
          <a:xfrm>
            <a:off x="7310439" y="2071689"/>
            <a:ext cx="2928937" cy="3286125"/>
          </a:xfrm>
          <a:prstGeom prst="borderCallout1">
            <a:avLst>
              <a:gd name="adj1" fmla="val 18750"/>
              <a:gd name="adj2" fmla="val -8333"/>
              <a:gd name="adj3" fmla="val 37279"/>
              <a:gd name="adj4" fmla="val -12025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TW" dirty="0"/>
              <a:t>In order to let other classes being able to access the unique object, we pass </a:t>
            </a:r>
            <a:r>
              <a:rPr lang="en-US" altLang="zh-TW" dirty="0" err="1"/>
              <a:t>ux</a:t>
            </a:r>
            <a:r>
              <a:rPr lang="en-US" altLang="zh-TW" dirty="0"/>
              <a:t>  all around</a:t>
            </a:r>
            <a:endParaRPr lang="zh-TW"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標題 1">
            <a:extLst>
              <a:ext uri="{FF2B5EF4-FFF2-40B4-BE49-F238E27FC236}">
                <a16:creationId xmlns:a16="http://schemas.microsoft.com/office/drawing/2014/main" id="{0EDD8C29-0912-424D-A557-44EBE591E7F9}"/>
              </a:ext>
            </a:extLst>
          </p:cNvPr>
          <p:cNvSpPr>
            <a:spLocks noGrp="1"/>
          </p:cNvSpPr>
          <p:nvPr>
            <p:ph type="title"/>
          </p:nvPr>
        </p:nvSpPr>
        <p:spPr>
          <a:xfrm>
            <a:off x="1981199" y="253536"/>
            <a:ext cx="9132277" cy="1143000"/>
          </a:xfrm>
        </p:spPr>
        <p:txBody>
          <a:bodyPr>
            <a:normAutofit fontScale="90000"/>
          </a:bodyPr>
          <a:lstStyle/>
          <a:p>
            <a:pPr marL="54864">
              <a:defRPr/>
            </a:pPr>
            <a:r>
              <a:rPr lang="en-US" altLang="zh-TW" dirty="0">
                <a:solidFill>
                  <a:schemeClr val="accent1">
                    <a:lumMod val="20000"/>
                    <a:lumOff val="80000"/>
                  </a:schemeClr>
                </a:solidFill>
              </a:rPr>
              <a:t>The Control Class Solution</a:t>
            </a:r>
            <a:br>
              <a:rPr lang="en-US" altLang="zh-TW" dirty="0">
                <a:solidFill>
                  <a:schemeClr val="accent1">
                    <a:lumMod val="20000"/>
                    <a:lumOff val="80000"/>
                  </a:schemeClr>
                </a:solidFill>
              </a:rPr>
            </a:br>
            <a:r>
              <a:rPr lang="en-US" altLang="zh-TW" dirty="0">
                <a:solidFill>
                  <a:schemeClr val="accent1">
                    <a:lumMod val="20000"/>
                    <a:lumOff val="80000"/>
                  </a:schemeClr>
                </a:solidFill>
              </a:rPr>
              <a:t>  (learned from experience)</a:t>
            </a:r>
            <a:endParaRPr lang="zh-TW" altLang="en-US" dirty="0">
              <a:solidFill>
                <a:schemeClr val="accent1">
                  <a:lumMod val="20000"/>
                  <a:lumOff val="80000"/>
                </a:schemeClr>
              </a:solidFill>
            </a:endParaRPr>
          </a:p>
        </p:txBody>
      </p:sp>
      <p:sp>
        <p:nvSpPr>
          <p:cNvPr id="3" name="內容版面配置區 2">
            <a:extLst>
              <a:ext uri="{FF2B5EF4-FFF2-40B4-BE49-F238E27FC236}">
                <a16:creationId xmlns:a16="http://schemas.microsoft.com/office/drawing/2014/main" id="{A3BF0E9A-255D-4AA9-84D6-08FFBB785B99}"/>
              </a:ext>
            </a:extLst>
          </p:cNvPr>
          <p:cNvSpPr>
            <a:spLocks noGrp="1"/>
          </p:cNvSpPr>
          <p:nvPr>
            <p:ph idx="1"/>
          </p:nvPr>
        </p:nvSpPr>
        <p:spPr>
          <a:xfrm>
            <a:off x="838200" y="1860794"/>
            <a:ext cx="10515600" cy="4351338"/>
          </a:xfrm>
        </p:spPr>
        <p:txBody>
          <a:bodyPr>
            <a:normAutofit/>
          </a:bodyPr>
          <a:lstStyle/>
          <a:p>
            <a:pPr>
              <a:spcBef>
                <a:spcPts val="0"/>
              </a:spcBef>
              <a:buNone/>
              <a:defRPr/>
            </a:pPr>
            <a:r>
              <a:rPr lang="en-US" altLang="zh-TW" sz="2400" dirty="0"/>
              <a:t>Class GLOBAL {</a:t>
            </a:r>
          </a:p>
          <a:p>
            <a:pPr>
              <a:spcBef>
                <a:spcPts val="0"/>
              </a:spcBef>
              <a:buNone/>
              <a:defRPr/>
            </a:pPr>
            <a:r>
              <a:rPr lang="en-US" altLang="zh-TW" sz="2400" dirty="0"/>
              <a:t>static X </a:t>
            </a:r>
            <a:r>
              <a:rPr lang="en-US" altLang="zh-TW" sz="2400" dirty="0" err="1"/>
              <a:t>ux</a:t>
            </a:r>
            <a:r>
              <a:rPr lang="en-US" altLang="zh-TW" sz="2400" dirty="0"/>
              <a:t> ;</a:t>
            </a:r>
          </a:p>
          <a:p>
            <a:pPr>
              <a:spcBef>
                <a:spcPts val="0"/>
              </a:spcBef>
              <a:buNone/>
              <a:defRPr/>
            </a:pPr>
            <a:r>
              <a:rPr lang="en-US" altLang="zh-TW" sz="2400" dirty="0"/>
              <a:t>Static void init() {</a:t>
            </a:r>
          </a:p>
          <a:p>
            <a:pPr>
              <a:spcBef>
                <a:spcPts val="0"/>
              </a:spcBef>
              <a:buNone/>
              <a:defRPr/>
            </a:pPr>
            <a:r>
              <a:rPr lang="en-US" altLang="zh-TW" sz="2400" dirty="0"/>
              <a:t>     </a:t>
            </a:r>
            <a:r>
              <a:rPr lang="en-US" altLang="zh-TW" sz="2400" dirty="0" err="1"/>
              <a:t>ux</a:t>
            </a:r>
            <a:r>
              <a:rPr lang="en-US" altLang="zh-TW" sz="2400" dirty="0"/>
              <a:t> = new X();</a:t>
            </a:r>
          </a:p>
          <a:p>
            <a:pPr>
              <a:spcBef>
                <a:spcPts val="0"/>
              </a:spcBef>
              <a:buNone/>
              <a:defRPr/>
            </a:pPr>
            <a:r>
              <a:rPr lang="en-US" altLang="zh-TW" sz="2400" dirty="0"/>
              <a:t>}</a:t>
            </a:r>
          </a:p>
          <a:p>
            <a:pPr>
              <a:spcBef>
                <a:spcPts val="0"/>
              </a:spcBef>
              <a:buNone/>
              <a:defRPr/>
            </a:pPr>
            <a:r>
              <a:rPr lang="en-US" altLang="zh-TW" sz="2400" dirty="0"/>
              <a:t>}</a:t>
            </a:r>
          </a:p>
          <a:p>
            <a:pPr>
              <a:spcBef>
                <a:spcPts val="0"/>
              </a:spcBef>
              <a:buNone/>
              <a:defRPr/>
            </a:pPr>
            <a:r>
              <a:rPr lang="en-US" altLang="zh-TW" sz="2400" dirty="0"/>
              <a:t>Somewhere in main() or in any class </a:t>
            </a:r>
          </a:p>
          <a:p>
            <a:pPr>
              <a:spcBef>
                <a:spcPts val="0"/>
              </a:spcBef>
              <a:buNone/>
              <a:defRPr/>
            </a:pPr>
            <a:r>
              <a:rPr lang="en-US" altLang="zh-TW" sz="2400" dirty="0"/>
              <a:t>      </a:t>
            </a:r>
            <a:r>
              <a:rPr lang="en-US" altLang="zh-TW" sz="2400" dirty="0" err="1"/>
              <a:t>GLOBAL.ux.dosomething</a:t>
            </a:r>
            <a:r>
              <a:rPr lang="en-US" altLang="zh-TW" sz="2400" dirty="0"/>
              <a:t>();</a:t>
            </a:r>
          </a:p>
          <a:p>
            <a:pPr>
              <a:spcBef>
                <a:spcPts val="0"/>
              </a:spcBef>
              <a:buNone/>
              <a:defRPr/>
            </a:pPr>
            <a:r>
              <a:rPr lang="en-US" altLang="zh-TW" sz="2400" dirty="0"/>
              <a:t>      </a:t>
            </a:r>
          </a:p>
          <a:p>
            <a:pPr>
              <a:spcBef>
                <a:spcPts val="0"/>
              </a:spcBef>
              <a:buNone/>
              <a:defRPr/>
            </a:pPr>
            <a:r>
              <a:rPr lang="en-US" altLang="zh-TW" sz="2400" dirty="0"/>
              <a:t>NOTE</a:t>
            </a:r>
            <a:r>
              <a:rPr lang="en-US" altLang="zh-TW" sz="2400" dirty="0">
                <a:solidFill>
                  <a:schemeClr val="accent6">
                    <a:lumMod val="75000"/>
                  </a:schemeClr>
                </a:solidFill>
              </a:rPr>
              <a:t>: you do not new an object from a control class</a:t>
            </a:r>
          </a:p>
          <a:p>
            <a:pPr>
              <a:spcBef>
                <a:spcPts val="0"/>
              </a:spcBef>
              <a:buNone/>
              <a:defRPr/>
            </a:pPr>
            <a:endParaRPr lang="en-US" altLang="zh-TW" sz="2400" dirty="0"/>
          </a:p>
          <a:p>
            <a:pPr>
              <a:spcBef>
                <a:spcPts val="0"/>
              </a:spcBef>
              <a:buNone/>
              <a:defRPr/>
            </a:pPr>
            <a:endParaRPr lang="zh-TW" altLang="en-US" sz="2400" dirty="0"/>
          </a:p>
        </p:txBody>
      </p:sp>
      <p:sp>
        <p:nvSpPr>
          <p:cNvPr id="4" name="直線圖說文字 1 3">
            <a:extLst>
              <a:ext uri="{FF2B5EF4-FFF2-40B4-BE49-F238E27FC236}">
                <a16:creationId xmlns:a16="http://schemas.microsoft.com/office/drawing/2014/main" id="{9E22655E-0D30-4D80-A540-7C657D0F31C3}"/>
              </a:ext>
            </a:extLst>
          </p:cNvPr>
          <p:cNvSpPr/>
          <p:nvPr/>
        </p:nvSpPr>
        <p:spPr>
          <a:xfrm>
            <a:off x="8782050" y="5926382"/>
            <a:ext cx="1000125" cy="571500"/>
          </a:xfrm>
          <a:prstGeom prst="borderCallout1">
            <a:avLst>
              <a:gd name="adj1" fmla="val 18750"/>
              <a:gd name="adj2" fmla="val -8333"/>
              <a:gd name="adj3" fmla="val -233602"/>
              <a:gd name="adj4" fmla="val -661129"/>
            </a:avLst>
          </a:prstGeom>
          <a:ln>
            <a:solidFill>
              <a:srgbClr val="FF0000"/>
            </a:solidFill>
          </a:ln>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r>
              <a:rPr lang="en-US" altLang="zh-TW" dirty="0"/>
              <a:t>Class scope</a:t>
            </a:r>
            <a:endParaRPr lang="zh-TW" altLang="en-US" dirty="0"/>
          </a:p>
        </p:txBody>
      </p:sp>
      <p:sp>
        <p:nvSpPr>
          <p:cNvPr id="5" name="直線圖說文字 1 4">
            <a:extLst>
              <a:ext uri="{FF2B5EF4-FFF2-40B4-BE49-F238E27FC236}">
                <a16:creationId xmlns:a16="http://schemas.microsoft.com/office/drawing/2014/main" id="{34BD185F-6AAF-4B3E-8E32-965E7A223BE9}"/>
              </a:ext>
            </a:extLst>
          </p:cNvPr>
          <p:cNvSpPr/>
          <p:nvPr/>
        </p:nvSpPr>
        <p:spPr>
          <a:xfrm>
            <a:off x="8782050" y="1314084"/>
            <a:ext cx="2571750" cy="2286000"/>
          </a:xfrm>
          <a:prstGeom prst="borderCallout1">
            <a:avLst>
              <a:gd name="adj1" fmla="val 18750"/>
              <a:gd name="adj2" fmla="val -8333"/>
              <a:gd name="adj3" fmla="val 47591"/>
              <a:gd name="adj4" fmla="val -238605"/>
            </a:avLst>
          </a:prstGeom>
          <a:ln>
            <a:solidFill>
              <a:srgbClr val="FF0000"/>
            </a:solidFill>
          </a:ln>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r>
              <a:rPr lang="en-US" altLang="zh-TW" dirty="0"/>
              <a:t>Make the variable to be static so that it has only one instance which comes with class </a:t>
            </a:r>
            <a:r>
              <a:rPr lang="en-US" altLang="zh-TW" dirty="0">
                <a:solidFill>
                  <a:srgbClr val="FFFF00"/>
                </a:solidFill>
              </a:rPr>
              <a:t>not object</a:t>
            </a:r>
            <a:endParaRPr lang="zh-TW" altLang="en-US" dirty="0">
              <a:solidFill>
                <a:srgbClr val="FFFF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C993AF-DF2C-4384-86EC-DBDD4502A011}"/>
              </a:ext>
            </a:extLst>
          </p:cNvPr>
          <p:cNvSpPr>
            <a:spLocks noGrp="1"/>
          </p:cNvSpPr>
          <p:nvPr>
            <p:ph type="title"/>
          </p:nvPr>
        </p:nvSpPr>
        <p:spPr>
          <a:xfrm>
            <a:off x="1981200" y="523167"/>
            <a:ext cx="8229600" cy="1143000"/>
          </a:xfrm>
        </p:spPr>
        <p:txBody>
          <a:bodyPr/>
          <a:lstStyle/>
          <a:p>
            <a:pPr marL="54864">
              <a:defRPr/>
            </a:pPr>
            <a:r>
              <a:rPr lang="en-US" altLang="zh-TW" dirty="0">
                <a:solidFill>
                  <a:schemeClr val="accent1">
                    <a:lumMod val="20000"/>
                    <a:lumOff val="80000"/>
                  </a:schemeClr>
                </a:solidFill>
              </a:rPr>
              <a:t>OK, is that a problem?</a:t>
            </a:r>
            <a:endParaRPr lang="zh-TW" altLang="en-US" dirty="0">
              <a:solidFill>
                <a:schemeClr val="accent1">
                  <a:lumMod val="20000"/>
                  <a:lumOff val="80000"/>
                </a:schemeClr>
              </a:solidFill>
            </a:endParaRPr>
          </a:p>
        </p:txBody>
      </p:sp>
      <p:sp>
        <p:nvSpPr>
          <p:cNvPr id="22531" name="內容版面配置區 2">
            <a:extLst>
              <a:ext uri="{FF2B5EF4-FFF2-40B4-BE49-F238E27FC236}">
                <a16:creationId xmlns:a16="http://schemas.microsoft.com/office/drawing/2014/main" id="{8A699C5C-034B-4154-AD6C-5B5AF1FF18F2}"/>
              </a:ext>
            </a:extLst>
          </p:cNvPr>
          <p:cNvSpPr>
            <a:spLocks noGrp="1"/>
          </p:cNvSpPr>
          <p:nvPr>
            <p:ph idx="1"/>
          </p:nvPr>
        </p:nvSpPr>
        <p:spPr/>
        <p:txBody>
          <a:bodyPr/>
          <a:lstStyle/>
          <a:p>
            <a:pPr eaLnBrk="1" hangingPunct="1"/>
            <a:r>
              <a:rPr lang="en-US" altLang="zh-TW" dirty="0"/>
              <a:t>You assign an object to a global variable</a:t>
            </a:r>
          </a:p>
          <a:p>
            <a:pPr eaLnBrk="1" hangingPunct="1"/>
            <a:r>
              <a:rPr lang="en-US" altLang="zh-TW" dirty="0"/>
              <a:t>You call </a:t>
            </a:r>
            <a:r>
              <a:rPr lang="en-US" altLang="zh-TW" dirty="0" err="1"/>
              <a:t>init</a:t>
            </a:r>
            <a:r>
              <a:rPr lang="en-US" altLang="zh-TW" dirty="0"/>
              <a:t>() to create that object when your application begins</a:t>
            </a:r>
          </a:p>
          <a:p>
            <a:pPr eaLnBrk="1" hangingPunct="1"/>
            <a:r>
              <a:rPr lang="en-US" altLang="zh-TW" dirty="0"/>
              <a:t>If the object requires intensive resource and your application never run to the cases which use the object – this is not good.</a:t>
            </a:r>
          </a:p>
          <a:p>
            <a:pPr eaLnBrk="1" hangingPunct="1"/>
            <a:r>
              <a:rPr lang="en-US" altLang="zh-TW" dirty="0">
                <a:solidFill>
                  <a:srgbClr val="FF0000"/>
                </a:solidFill>
              </a:rPr>
              <a:t>We always want an object to be created only when they are needed</a:t>
            </a:r>
          </a:p>
          <a:p>
            <a:pPr eaLnBrk="1" hangingPunct="1"/>
            <a:r>
              <a:rPr lang="en-US" altLang="zh-TW" dirty="0">
                <a:solidFill>
                  <a:srgbClr val="00B050"/>
                </a:solidFill>
              </a:rPr>
              <a:t>Bad example: You have many image objects and you load them all in the beginning</a:t>
            </a:r>
            <a:endParaRPr lang="zh-TW" altLang="en-US" dirty="0">
              <a:solidFill>
                <a:srgbClr val="00B05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ACA336-D598-40B2-A610-B3BD800F2283}"/>
              </a:ext>
            </a:extLst>
          </p:cNvPr>
          <p:cNvSpPr>
            <a:spLocks noGrp="1"/>
          </p:cNvSpPr>
          <p:nvPr>
            <p:ph type="title"/>
          </p:nvPr>
        </p:nvSpPr>
        <p:spPr/>
        <p:txBody>
          <a:bodyPr/>
          <a:lstStyle/>
          <a:p>
            <a:r>
              <a:rPr lang="en-US" altLang="zh-TW" dirty="0"/>
              <a:t>The Singleton Pattern</a:t>
            </a:r>
            <a:endParaRPr lang="zh-TW" altLang="en-US" dirty="0"/>
          </a:p>
        </p:txBody>
      </p:sp>
      <p:sp>
        <p:nvSpPr>
          <p:cNvPr id="3" name="內容版面配置區 2">
            <a:extLst>
              <a:ext uri="{FF2B5EF4-FFF2-40B4-BE49-F238E27FC236}">
                <a16:creationId xmlns:a16="http://schemas.microsoft.com/office/drawing/2014/main" id="{4417508D-631A-4FF5-8AD9-20D8F903CEEC}"/>
              </a:ext>
            </a:extLst>
          </p:cNvPr>
          <p:cNvSpPr>
            <a:spLocks noGrp="1"/>
          </p:cNvSpPr>
          <p:nvPr>
            <p:ph idx="1"/>
          </p:nvPr>
        </p:nvSpPr>
        <p:spPr/>
        <p:txBody>
          <a:bodyPr>
            <a:normAutofit fontScale="92500" lnSpcReduction="20000"/>
          </a:bodyPr>
          <a:lstStyle/>
          <a:p>
            <a:r>
              <a:rPr lang="en-US" altLang="zh-TW" dirty="0">
                <a:solidFill>
                  <a:schemeClr val="accent1">
                    <a:lumMod val="20000"/>
                    <a:lumOff val="80000"/>
                  </a:schemeClr>
                </a:solidFill>
              </a:rPr>
              <a:t>public class Singleton {</a:t>
            </a:r>
          </a:p>
          <a:p>
            <a:pPr marL="0" indent="0">
              <a:buNone/>
            </a:pPr>
            <a:r>
              <a:rPr lang="en-US" altLang="zh-TW" dirty="0">
                <a:solidFill>
                  <a:schemeClr val="accent1">
                    <a:lumMod val="20000"/>
                    <a:lumOff val="80000"/>
                  </a:schemeClr>
                </a:solidFill>
              </a:rPr>
              <a:t>	private static Singleton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a:t>
            </a:r>
            <a:r>
              <a:rPr lang="en-US" altLang="zh-TW" dirty="0"/>
              <a:t>private</a:t>
            </a:r>
            <a:r>
              <a:rPr lang="en-US" altLang="zh-TW" dirty="0">
                <a:solidFill>
                  <a:schemeClr val="accent1">
                    <a:lumMod val="20000"/>
                    <a:lumOff val="80000"/>
                  </a:schemeClr>
                </a:solidFill>
              </a:rPr>
              <a:t> Singleton() { }</a:t>
            </a:r>
          </a:p>
          <a:p>
            <a:pPr marL="0" indent="0">
              <a:buNone/>
            </a:pPr>
            <a:r>
              <a:rPr lang="en-US" altLang="zh-TW" dirty="0">
                <a:solidFill>
                  <a:schemeClr val="accent1">
                    <a:lumMod val="20000"/>
                    <a:lumOff val="80000"/>
                  </a:schemeClr>
                </a:solidFill>
              </a:rPr>
              <a:t>        	</a:t>
            </a:r>
            <a:r>
              <a:rPr lang="en-US" altLang="zh-TW" dirty="0"/>
              <a:t>public static </a:t>
            </a:r>
            <a:r>
              <a:rPr lang="en-US" altLang="zh-TW" dirty="0">
                <a:solidFill>
                  <a:schemeClr val="accent1">
                    <a:lumMod val="20000"/>
                    <a:lumOff val="80000"/>
                  </a:schemeClr>
                </a:solidFill>
              </a:rPr>
              <a:t>Singleton </a:t>
            </a:r>
            <a:r>
              <a:rPr lang="en-US" altLang="zh-TW" dirty="0" err="1">
                <a:solidFill>
                  <a:schemeClr val="accent1">
                    <a:lumMod val="20000"/>
                    <a:lumOff val="80000"/>
                  </a:schemeClr>
                </a:solidFill>
              </a:rPr>
              <a:t>getInstance</a:t>
            </a: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if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 null) {</a:t>
            </a:r>
          </a:p>
          <a:p>
            <a:pPr marL="0" indent="0">
              <a:buNone/>
            </a:pPr>
            <a:r>
              <a:rPr lang="en-US" altLang="zh-TW" dirty="0">
                <a:solidFill>
                  <a:schemeClr val="accent1">
                    <a:lumMod val="20000"/>
                    <a:lumOff val="80000"/>
                  </a:schemeClr>
                </a:solidFill>
              </a:rPr>
              <a:t>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 new Singleton();</a:t>
            </a:r>
          </a:p>
          <a:p>
            <a:pPr marL="0" indent="0">
              <a:buNone/>
            </a:pP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return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a:t>
            </a:r>
            <a:endParaRPr lang="zh-TW" altLang="en-US" dirty="0">
              <a:solidFill>
                <a:schemeClr val="accent1">
                  <a:lumMod val="20000"/>
                  <a:lumOff val="80000"/>
                </a:schemeClr>
              </a:solidFill>
            </a:endParaRPr>
          </a:p>
        </p:txBody>
      </p:sp>
    </p:spTree>
    <p:extLst>
      <p:ext uri="{BB962C8B-B14F-4D97-AF65-F5344CB8AC3E}">
        <p14:creationId xmlns:p14="http://schemas.microsoft.com/office/powerpoint/2010/main" val="3819807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標題 1">
            <a:extLst>
              <a:ext uri="{FF2B5EF4-FFF2-40B4-BE49-F238E27FC236}">
                <a16:creationId xmlns:a16="http://schemas.microsoft.com/office/drawing/2014/main" id="{D32951B1-C08B-4A8E-935C-C2A81DC82DE9}"/>
              </a:ext>
            </a:extLst>
          </p:cNvPr>
          <p:cNvSpPr>
            <a:spLocks noGrp="1"/>
          </p:cNvSpPr>
          <p:nvPr>
            <p:ph type="title"/>
          </p:nvPr>
        </p:nvSpPr>
        <p:spPr>
          <a:xfrm>
            <a:off x="1981200" y="499721"/>
            <a:ext cx="8229600" cy="1143000"/>
          </a:xfrm>
        </p:spPr>
        <p:txBody>
          <a:bodyPr/>
          <a:lstStyle/>
          <a:p>
            <a:pPr marL="54864">
              <a:defRPr/>
            </a:pPr>
            <a:r>
              <a:rPr lang="en-US" altLang="zh-TW" dirty="0"/>
              <a:t>The keys to singleton</a:t>
            </a:r>
            <a:endParaRPr lang="zh-TW" altLang="en-US" dirty="0"/>
          </a:p>
        </p:txBody>
      </p:sp>
      <p:sp>
        <p:nvSpPr>
          <p:cNvPr id="24579" name="內容版面配置區 4">
            <a:extLst>
              <a:ext uri="{FF2B5EF4-FFF2-40B4-BE49-F238E27FC236}">
                <a16:creationId xmlns:a16="http://schemas.microsoft.com/office/drawing/2014/main" id="{37EC5C07-A83A-4BC3-970C-E87088D9AB70}"/>
              </a:ext>
            </a:extLst>
          </p:cNvPr>
          <p:cNvSpPr>
            <a:spLocks noGrp="1"/>
          </p:cNvSpPr>
          <p:nvPr>
            <p:ph idx="1"/>
          </p:nvPr>
        </p:nvSpPr>
        <p:spPr/>
        <p:txBody>
          <a:bodyPr/>
          <a:lstStyle/>
          <a:p>
            <a:pPr eaLnBrk="1" hangingPunct="1"/>
            <a:r>
              <a:rPr lang="en-US" altLang="zh-TW" dirty="0">
                <a:solidFill>
                  <a:schemeClr val="tx2">
                    <a:lumMod val="20000"/>
                    <a:lumOff val="80000"/>
                  </a:schemeClr>
                </a:solidFill>
              </a:rPr>
              <a:t>No public constructor to allow any program to “new” the object</a:t>
            </a:r>
          </a:p>
          <a:p>
            <a:pPr eaLnBrk="1" hangingPunct="1"/>
            <a:r>
              <a:rPr lang="en-US" altLang="zh-TW" dirty="0">
                <a:solidFill>
                  <a:schemeClr val="tx2">
                    <a:lumMod val="20000"/>
                    <a:lumOff val="80000"/>
                  </a:schemeClr>
                </a:solidFill>
              </a:rPr>
              <a:t> The new object is created in the </a:t>
            </a:r>
            <a:r>
              <a:rPr lang="en-US" altLang="zh-TW" dirty="0" err="1">
                <a:solidFill>
                  <a:schemeClr val="tx2">
                    <a:lumMod val="20000"/>
                    <a:lumOff val="80000"/>
                  </a:schemeClr>
                </a:solidFill>
              </a:rPr>
              <a:t>getInstance</a:t>
            </a:r>
            <a:r>
              <a:rPr lang="en-US" altLang="zh-TW" dirty="0">
                <a:solidFill>
                  <a:schemeClr val="tx2">
                    <a:lumMod val="20000"/>
                    <a:lumOff val="80000"/>
                  </a:schemeClr>
                </a:solidFill>
              </a:rPr>
              <a:t>()</a:t>
            </a:r>
          </a:p>
          <a:p>
            <a:pPr eaLnBrk="1" hangingPunct="1"/>
            <a:r>
              <a:rPr lang="en-US" altLang="zh-TW" dirty="0">
                <a:solidFill>
                  <a:schemeClr val="tx2">
                    <a:lumMod val="20000"/>
                    <a:lumOff val="80000"/>
                  </a:schemeClr>
                </a:solidFill>
              </a:rPr>
              <a:t>The variable inside the singleton is declared as static</a:t>
            </a:r>
          </a:p>
          <a:p>
            <a:pPr eaLnBrk="1" hangingPunct="1">
              <a:buFont typeface="Wingdings 2" panose="05020102010507070707" pitchFamily="18" charset="2"/>
              <a:buNone/>
            </a:pPr>
            <a:endParaRPr lang="en-US" altLang="zh-TW" dirty="0">
              <a:solidFill>
                <a:schemeClr val="tx2">
                  <a:lumMod val="20000"/>
                  <a:lumOff val="80000"/>
                </a:schemeClr>
              </a:solidFill>
            </a:endParaRPr>
          </a:p>
          <a:p>
            <a:pPr eaLnBrk="1" hangingPunct="1"/>
            <a:endParaRPr lang="zh-TW" altLang="en-US" dirty="0">
              <a:solidFill>
                <a:schemeClr val="tx2">
                  <a:lumMod val="20000"/>
                  <a:lumOff val="8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EC16D5-9CBB-4A02-82A7-CAB9E7BE6BC1}"/>
              </a:ext>
            </a:extLst>
          </p:cNvPr>
          <p:cNvSpPr>
            <a:spLocks noGrp="1"/>
          </p:cNvSpPr>
          <p:nvPr>
            <p:ph type="title"/>
          </p:nvPr>
        </p:nvSpPr>
        <p:spPr/>
        <p:txBody>
          <a:bodyPr>
            <a:normAutofit/>
          </a:bodyPr>
          <a:lstStyle/>
          <a:p>
            <a:pPr>
              <a:defRPr/>
            </a:pPr>
            <a:r>
              <a:rPr lang="en-US" altLang="zh-TW" dirty="0"/>
              <a:t>How to use a singleton object?</a:t>
            </a:r>
            <a:endParaRPr lang="zh-TW" altLang="en-US" dirty="0"/>
          </a:p>
        </p:txBody>
      </p:sp>
      <p:sp>
        <p:nvSpPr>
          <p:cNvPr id="25603" name="內容版面配置區 2">
            <a:extLst>
              <a:ext uri="{FF2B5EF4-FFF2-40B4-BE49-F238E27FC236}">
                <a16:creationId xmlns:a16="http://schemas.microsoft.com/office/drawing/2014/main" id="{F820DD0C-0C96-476E-8E5D-6D00F7763748}"/>
              </a:ext>
            </a:extLst>
          </p:cNvPr>
          <p:cNvSpPr>
            <a:spLocks noGrp="1"/>
          </p:cNvSpPr>
          <p:nvPr>
            <p:ph idx="1"/>
          </p:nvPr>
        </p:nvSpPr>
        <p:spPr/>
        <p:txBody>
          <a:bodyPr>
            <a:normAutofit lnSpcReduction="10000"/>
          </a:bodyPr>
          <a:lstStyle/>
          <a:p>
            <a:r>
              <a:rPr lang="en-US" altLang="zh-TW" dirty="0">
                <a:solidFill>
                  <a:schemeClr val="accent1">
                    <a:lumMod val="20000"/>
                    <a:lumOff val="80000"/>
                  </a:schemeClr>
                </a:solidFill>
              </a:rPr>
              <a:t>suppose you have a singleton object called</a:t>
            </a:r>
          </a:p>
          <a:p>
            <a:pPr marL="457200" lvl="1" indent="0">
              <a:buNone/>
            </a:pPr>
            <a:r>
              <a:rPr lang="en-US" altLang="zh-TW" dirty="0">
                <a:solidFill>
                  <a:schemeClr val="accent1">
                    <a:lumMod val="20000"/>
                    <a:lumOff val="80000"/>
                  </a:schemeClr>
                </a:solidFill>
              </a:rPr>
              <a:t>class wife {</a:t>
            </a:r>
          </a:p>
          <a:p>
            <a:pPr marL="457200" lvl="1" indent="0">
              <a:buNone/>
            </a:pPr>
            <a:r>
              <a:rPr lang="en-US" altLang="zh-TW" dirty="0">
                <a:solidFill>
                  <a:schemeClr val="accent1">
                    <a:lumMod val="20000"/>
                    <a:lumOff val="80000"/>
                  </a:schemeClr>
                </a:solidFill>
              </a:rPr>
              <a:t>   public wife* </a:t>
            </a:r>
            <a:r>
              <a:rPr lang="en-US" altLang="zh-TW" dirty="0" err="1">
                <a:solidFill>
                  <a:schemeClr val="accent1">
                    <a:lumMod val="20000"/>
                    <a:lumOff val="80000"/>
                  </a:schemeClr>
                </a:solidFill>
              </a:rPr>
              <a:t>getInstance</a:t>
            </a:r>
            <a:r>
              <a:rPr lang="en-US" altLang="zh-TW" dirty="0">
                <a:solidFill>
                  <a:schemeClr val="accent1">
                    <a:lumMod val="20000"/>
                    <a:lumOff val="80000"/>
                  </a:schemeClr>
                </a:solidFill>
              </a:rPr>
              <a:t>();</a:t>
            </a:r>
          </a:p>
          <a:p>
            <a:pPr marL="457200" lvl="1" indent="0">
              <a:buNone/>
            </a:pPr>
            <a:r>
              <a:rPr lang="en-US" altLang="zh-TW" dirty="0">
                <a:solidFill>
                  <a:schemeClr val="accent1">
                    <a:lumMod val="20000"/>
                    <a:lumOff val="80000"/>
                  </a:schemeClr>
                </a:solidFill>
              </a:rPr>
              <a:t>   void </a:t>
            </a:r>
            <a:r>
              <a:rPr lang="en-US" altLang="zh-TW" dirty="0" err="1">
                <a:solidFill>
                  <a:schemeClr val="accent1">
                    <a:lumMod val="20000"/>
                    <a:lumOff val="80000"/>
                  </a:schemeClr>
                </a:solidFill>
              </a:rPr>
              <a:t>getMoney</a:t>
            </a:r>
            <a:r>
              <a:rPr lang="en-US" altLang="zh-TW" dirty="0">
                <a:solidFill>
                  <a:schemeClr val="accent1">
                    <a:lumMod val="20000"/>
                    <a:lumOff val="80000"/>
                  </a:schemeClr>
                </a:solidFill>
              </a:rPr>
              <a:t>();</a:t>
            </a:r>
          </a:p>
          <a:p>
            <a:pPr marL="457200" lvl="1" indent="0">
              <a:buNone/>
            </a:pPr>
            <a:r>
              <a:rPr lang="en-US" altLang="zh-TW" dirty="0">
                <a:solidFill>
                  <a:schemeClr val="accent1">
                    <a:lumMod val="20000"/>
                    <a:lumOff val="80000"/>
                  </a:schemeClr>
                </a:solidFill>
              </a:rPr>
              <a:t>}</a:t>
            </a:r>
          </a:p>
          <a:p>
            <a:r>
              <a:rPr lang="en-US" altLang="zh-TW" dirty="0">
                <a:solidFill>
                  <a:schemeClr val="accent1">
                    <a:lumMod val="20000"/>
                    <a:lumOff val="80000"/>
                  </a:schemeClr>
                </a:solidFill>
              </a:rPr>
              <a:t>to call singleton methods</a:t>
            </a:r>
          </a:p>
          <a:p>
            <a:r>
              <a:rPr lang="en-US" altLang="zh-TW" dirty="0">
                <a:solidFill>
                  <a:schemeClr val="accent1">
                    <a:lumMod val="20000"/>
                    <a:lumOff val="80000"/>
                  </a:schemeClr>
                </a:solidFill>
              </a:rPr>
              <a:t> in C++</a:t>
            </a:r>
          </a:p>
          <a:p>
            <a:pPr marL="0" indent="0">
              <a:buNone/>
            </a:pPr>
            <a:r>
              <a:rPr lang="en-US" altLang="zh-TW" dirty="0">
                <a:solidFill>
                  <a:schemeClr val="accent1">
                    <a:lumMod val="20000"/>
                    <a:lumOff val="80000"/>
                  </a:schemeClr>
                </a:solidFill>
              </a:rPr>
              <a:t>	</a:t>
            </a:r>
            <a:r>
              <a:rPr lang="en-US" altLang="zh-TW" dirty="0" err="1">
                <a:solidFill>
                  <a:schemeClr val="accent1">
                    <a:lumMod val="20000"/>
                    <a:lumOff val="80000"/>
                  </a:schemeClr>
                </a:solidFill>
              </a:rPr>
              <a:t>wife.getInstance</a:t>
            </a:r>
            <a:r>
              <a:rPr lang="en-US" altLang="zh-TW" dirty="0">
                <a:solidFill>
                  <a:schemeClr val="accent1">
                    <a:lumMod val="20000"/>
                    <a:lumOff val="80000"/>
                  </a:schemeClr>
                </a:solidFill>
              </a:rPr>
              <a:t>()-&gt;</a:t>
            </a:r>
            <a:r>
              <a:rPr lang="en-US" altLang="zh-TW" dirty="0" err="1">
                <a:solidFill>
                  <a:schemeClr val="accent1">
                    <a:lumMod val="20000"/>
                    <a:lumOff val="80000"/>
                  </a:schemeClr>
                </a:solidFill>
              </a:rPr>
              <a:t>getMoney</a:t>
            </a:r>
            <a:r>
              <a:rPr lang="en-US" altLang="zh-TW" dirty="0">
                <a:solidFill>
                  <a:schemeClr val="accent1">
                    <a:lumMod val="20000"/>
                    <a:lumOff val="80000"/>
                  </a:schemeClr>
                </a:solidFill>
              </a:rPr>
              <a:t>()</a:t>
            </a:r>
          </a:p>
          <a:p>
            <a:r>
              <a:rPr lang="en-US" altLang="zh-TW" dirty="0">
                <a:solidFill>
                  <a:schemeClr val="accent1">
                    <a:lumMod val="20000"/>
                    <a:lumOff val="80000"/>
                  </a:schemeClr>
                </a:solidFill>
              </a:rPr>
              <a:t> in Java or C#</a:t>
            </a:r>
          </a:p>
          <a:p>
            <a:pPr marL="0" indent="0">
              <a:buNone/>
            </a:pPr>
            <a:r>
              <a:rPr lang="en-US" altLang="zh-TW" dirty="0">
                <a:solidFill>
                  <a:schemeClr val="accent1">
                    <a:lumMod val="20000"/>
                    <a:lumOff val="80000"/>
                  </a:schemeClr>
                </a:solidFill>
              </a:rPr>
              <a:t>	</a:t>
            </a:r>
            <a:r>
              <a:rPr lang="en-US" altLang="zh-TW" dirty="0" err="1">
                <a:solidFill>
                  <a:schemeClr val="accent1">
                    <a:lumMod val="20000"/>
                    <a:lumOff val="80000"/>
                  </a:schemeClr>
                </a:solidFill>
              </a:rPr>
              <a:t>wife.getInstance</a:t>
            </a:r>
            <a:r>
              <a:rPr lang="en-US" altLang="zh-TW" dirty="0">
                <a:solidFill>
                  <a:schemeClr val="accent1">
                    <a:lumMod val="20000"/>
                    <a:lumOff val="80000"/>
                  </a:schemeClr>
                </a:solidFill>
              </a:rPr>
              <a:t>().</a:t>
            </a:r>
            <a:r>
              <a:rPr lang="en-US" altLang="zh-TW" dirty="0" err="1">
                <a:solidFill>
                  <a:schemeClr val="accent1">
                    <a:lumMod val="20000"/>
                    <a:lumOff val="80000"/>
                  </a:schemeClr>
                </a:solidFill>
              </a:rPr>
              <a:t>getMoney</a:t>
            </a:r>
            <a:r>
              <a:rPr lang="en-US" altLang="zh-TW" dirty="0">
                <a:solidFill>
                  <a:schemeClr val="accent1">
                    <a:lumMod val="20000"/>
                    <a:lumOff val="80000"/>
                  </a:schemeClr>
                </a:solidFill>
              </a:rPr>
              <a:t>()</a:t>
            </a:r>
            <a:endParaRPr lang="zh-TW" altLang="en-US" dirty="0">
              <a:solidFill>
                <a:schemeClr val="accent1">
                  <a:lumMod val="20000"/>
                  <a:lumOff val="8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9D988B-ED49-4A03-A0F1-40B15F375FFC}"/>
              </a:ext>
            </a:extLst>
          </p:cNvPr>
          <p:cNvSpPr>
            <a:spLocks noGrp="1"/>
          </p:cNvSpPr>
          <p:nvPr>
            <p:ph type="title"/>
          </p:nvPr>
        </p:nvSpPr>
        <p:spPr>
          <a:xfrm>
            <a:off x="1781907" y="405936"/>
            <a:ext cx="8229600" cy="1143000"/>
          </a:xfrm>
        </p:spPr>
        <p:txBody>
          <a:bodyPr/>
          <a:lstStyle/>
          <a:p>
            <a:pPr marL="54864">
              <a:defRPr/>
            </a:pPr>
            <a:r>
              <a:rPr lang="en-US" altLang="zh-TW" dirty="0"/>
              <a:t>Singleton with multithreading</a:t>
            </a:r>
            <a:endParaRPr lang="zh-TW" altLang="en-US" dirty="0"/>
          </a:p>
        </p:txBody>
      </p:sp>
      <p:sp>
        <p:nvSpPr>
          <p:cNvPr id="27651" name="內容版面配置區 2">
            <a:extLst>
              <a:ext uri="{FF2B5EF4-FFF2-40B4-BE49-F238E27FC236}">
                <a16:creationId xmlns:a16="http://schemas.microsoft.com/office/drawing/2014/main" id="{A29C7817-864B-4241-B809-6EDD017474A6}"/>
              </a:ext>
            </a:extLst>
          </p:cNvPr>
          <p:cNvSpPr>
            <a:spLocks noGrp="1"/>
          </p:cNvSpPr>
          <p:nvPr>
            <p:ph idx="1"/>
          </p:nvPr>
        </p:nvSpPr>
        <p:spPr/>
        <p:txBody>
          <a:bodyPr/>
          <a:lstStyle/>
          <a:p>
            <a:pPr eaLnBrk="1" hangingPunct="1"/>
            <a:r>
              <a:rPr lang="en-US" altLang="zh-TW" dirty="0">
                <a:solidFill>
                  <a:schemeClr val="accent1">
                    <a:lumMod val="20000"/>
                    <a:lumOff val="80000"/>
                  </a:schemeClr>
                </a:solidFill>
              </a:rPr>
              <a:t>Sometimes.  In a multithreading applications, a singleton will be accessed by more than one thread.</a:t>
            </a:r>
          </a:p>
          <a:p>
            <a:pPr eaLnBrk="1" hangingPunct="1"/>
            <a:r>
              <a:rPr lang="en-US" altLang="zh-TW" dirty="0">
                <a:solidFill>
                  <a:schemeClr val="accent1">
                    <a:lumMod val="20000"/>
                    <a:lumOff val="80000"/>
                  </a:schemeClr>
                </a:solidFill>
              </a:rPr>
              <a:t>The synchronization problem arises </a:t>
            </a:r>
          </a:p>
          <a:p>
            <a:pPr eaLnBrk="1" hangingPunct="1"/>
            <a:r>
              <a:rPr lang="en-US" altLang="zh-TW" dirty="0">
                <a:solidFill>
                  <a:schemeClr val="accent1">
                    <a:lumMod val="20000"/>
                    <a:lumOff val="80000"/>
                  </a:schemeClr>
                </a:solidFill>
              </a:rPr>
              <a:t> </a:t>
            </a:r>
            <a:endParaRPr lang="zh-TW" altLang="en-US" dirty="0">
              <a:solidFill>
                <a:schemeClr val="accent1">
                  <a:lumMod val="20000"/>
                  <a:lumOff val="8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ACA336-D598-40B2-A610-B3BD800F2283}"/>
              </a:ext>
            </a:extLst>
          </p:cNvPr>
          <p:cNvSpPr>
            <a:spLocks noGrp="1"/>
          </p:cNvSpPr>
          <p:nvPr>
            <p:ph type="title"/>
          </p:nvPr>
        </p:nvSpPr>
        <p:spPr/>
        <p:txBody>
          <a:bodyPr>
            <a:normAutofit/>
          </a:bodyPr>
          <a:lstStyle/>
          <a:p>
            <a:r>
              <a:rPr lang="en-US" altLang="zh-TW" sz="3200" dirty="0"/>
              <a:t>The Singleton Pattern for Multi-thread-Safe – first solution </a:t>
            </a:r>
            <a:endParaRPr lang="zh-TW" altLang="en-US" sz="3200" dirty="0"/>
          </a:p>
        </p:txBody>
      </p:sp>
      <p:sp>
        <p:nvSpPr>
          <p:cNvPr id="3" name="內容版面配置區 2">
            <a:extLst>
              <a:ext uri="{FF2B5EF4-FFF2-40B4-BE49-F238E27FC236}">
                <a16:creationId xmlns:a16="http://schemas.microsoft.com/office/drawing/2014/main" id="{4417508D-631A-4FF5-8AD9-20D8F903CEEC}"/>
              </a:ext>
            </a:extLst>
          </p:cNvPr>
          <p:cNvSpPr>
            <a:spLocks noGrp="1"/>
          </p:cNvSpPr>
          <p:nvPr>
            <p:ph idx="1"/>
          </p:nvPr>
        </p:nvSpPr>
        <p:spPr/>
        <p:txBody>
          <a:bodyPr>
            <a:normAutofit fontScale="92500" lnSpcReduction="20000"/>
          </a:bodyPr>
          <a:lstStyle/>
          <a:p>
            <a:r>
              <a:rPr lang="en-US" altLang="zh-TW" dirty="0">
                <a:solidFill>
                  <a:schemeClr val="accent1">
                    <a:lumMod val="20000"/>
                    <a:lumOff val="80000"/>
                  </a:schemeClr>
                </a:solidFill>
              </a:rPr>
              <a:t>public class Singleton {</a:t>
            </a:r>
          </a:p>
          <a:p>
            <a:pPr marL="0" indent="0">
              <a:buNone/>
            </a:pPr>
            <a:r>
              <a:rPr lang="en-US" altLang="zh-TW" dirty="0">
                <a:solidFill>
                  <a:schemeClr val="accent1">
                    <a:lumMod val="20000"/>
                    <a:lumOff val="80000"/>
                  </a:schemeClr>
                </a:solidFill>
              </a:rPr>
              <a:t>	private </a:t>
            </a:r>
            <a:r>
              <a:rPr lang="en-US" altLang="zh-TW" dirty="0">
                <a:solidFill>
                  <a:srgbClr val="FF0000"/>
                </a:solidFill>
              </a:rPr>
              <a:t>volatile</a:t>
            </a:r>
            <a:r>
              <a:rPr lang="en-US" altLang="zh-TW" dirty="0">
                <a:solidFill>
                  <a:schemeClr val="accent1">
                    <a:lumMod val="20000"/>
                    <a:lumOff val="80000"/>
                  </a:schemeClr>
                </a:solidFill>
              </a:rPr>
              <a:t> static Singleton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a:t>
            </a:r>
            <a:r>
              <a:rPr lang="en-US" altLang="zh-TW" dirty="0"/>
              <a:t>private</a:t>
            </a:r>
            <a:r>
              <a:rPr lang="en-US" altLang="zh-TW" dirty="0">
                <a:solidFill>
                  <a:schemeClr val="accent1">
                    <a:lumMod val="20000"/>
                    <a:lumOff val="80000"/>
                  </a:schemeClr>
                </a:solidFill>
              </a:rPr>
              <a:t> Singleton() { }</a:t>
            </a:r>
          </a:p>
          <a:p>
            <a:pPr marL="0" indent="0">
              <a:buNone/>
            </a:pPr>
            <a:r>
              <a:rPr lang="en-US" altLang="zh-TW" dirty="0">
                <a:solidFill>
                  <a:schemeClr val="accent1">
                    <a:lumMod val="20000"/>
                    <a:lumOff val="80000"/>
                  </a:schemeClr>
                </a:solidFill>
              </a:rPr>
              <a:t>        	</a:t>
            </a:r>
            <a:r>
              <a:rPr lang="en-US" altLang="zh-TW" dirty="0"/>
              <a:t>public static synchronized </a:t>
            </a:r>
            <a:r>
              <a:rPr lang="en-US" altLang="zh-TW" dirty="0">
                <a:solidFill>
                  <a:schemeClr val="accent1">
                    <a:lumMod val="20000"/>
                    <a:lumOff val="80000"/>
                  </a:schemeClr>
                </a:solidFill>
              </a:rPr>
              <a:t>Singleton </a:t>
            </a:r>
            <a:r>
              <a:rPr lang="en-US" altLang="zh-TW" dirty="0" err="1">
                <a:solidFill>
                  <a:schemeClr val="accent1">
                    <a:lumMod val="20000"/>
                    <a:lumOff val="80000"/>
                  </a:schemeClr>
                </a:solidFill>
              </a:rPr>
              <a:t>getInstance</a:t>
            </a: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if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 null) {</a:t>
            </a:r>
          </a:p>
          <a:p>
            <a:pPr marL="0" indent="0">
              <a:buNone/>
            </a:pPr>
            <a:r>
              <a:rPr lang="en-US" altLang="zh-TW" dirty="0">
                <a:solidFill>
                  <a:schemeClr val="accent1">
                    <a:lumMod val="20000"/>
                    <a:lumOff val="80000"/>
                  </a:schemeClr>
                </a:solidFill>
              </a:rPr>
              <a:t>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 new Singleton();</a:t>
            </a:r>
          </a:p>
          <a:p>
            <a:pPr marL="0" indent="0">
              <a:buNone/>
            </a:pP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return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a:t>
            </a:r>
            <a:endParaRPr lang="zh-TW" altLang="en-US" dirty="0">
              <a:solidFill>
                <a:schemeClr val="accent1">
                  <a:lumMod val="20000"/>
                  <a:lumOff val="80000"/>
                </a:schemeClr>
              </a:solidFill>
            </a:endParaRPr>
          </a:p>
        </p:txBody>
      </p:sp>
    </p:spTree>
    <p:extLst>
      <p:ext uri="{BB962C8B-B14F-4D97-AF65-F5344CB8AC3E}">
        <p14:creationId xmlns:p14="http://schemas.microsoft.com/office/powerpoint/2010/main" val="227191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ACA336-D598-40B2-A610-B3BD800F2283}"/>
              </a:ext>
            </a:extLst>
          </p:cNvPr>
          <p:cNvSpPr>
            <a:spLocks noGrp="1"/>
          </p:cNvSpPr>
          <p:nvPr>
            <p:ph type="title"/>
          </p:nvPr>
        </p:nvSpPr>
        <p:spPr/>
        <p:txBody>
          <a:bodyPr>
            <a:normAutofit/>
          </a:bodyPr>
          <a:lstStyle/>
          <a:p>
            <a:r>
              <a:rPr lang="en-US" altLang="zh-TW" sz="3200" dirty="0"/>
              <a:t>The Singleton Pattern for Multi-thread-Safe – Double Check lock solution </a:t>
            </a:r>
            <a:endParaRPr lang="zh-TW" altLang="en-US" sz="3200" dirty="0"/>
          </a:p>
        </p:txBody>
      </p:sp>
      <p:sp>
        <p:nvSpPr>
          <p:cNvPr id="3" name="內容版面配置區 2">
            <a:extLst>
              <a:ext uri="{FF2B5EF4-FFF2-40B4-BE49-F238E27FC236}">
                <a16:creationId xmlns:a16="http://schemas.microsoft.com/office/drawing/2014/main" id="{4417508D-631A-4FF5-8AD9-20D8F903CEEC}"/>
              </a:ext>
            </a:extLst>
          </p:cNvPr>
          <p:cNvSpPr>
            <a:spLocks noGrp="1"/>
          </p:cNvSpPr>
          <p:nvPr>
            <p:ph idx="1"/>
          </p:nvPr>
        </p:nvSpPr>
        <p:spPr/>
        <p:txBody>
          <a:bodyPr>
            <a:normAutofit fontScale="62500" lnSpcReduction="20000"/>
          </a:bodyPr>
          <a:lstStyle/>
          <a:p>
            <a:r>
              <a:rPr lang="en-US" altLang="zh-TW" dirty="0">
                <a:solidFill>
                  <a:schemeClr val="accent1">
                    <a:lumMod val="20000"/>
                    <a:lumOff val="80000"/>
                  </a:schemeClr>
                </a:solidFill>
              </a:rPr>
              <a:t>public class Singleton {</a:t>
            </a:r>
          </a:p>
          <a:p>
            <a:pPr marL="0" indent="0">
              <a:buNone/>
            </a:pPr>
            <a:r>
              <a:rPr lang="en-US" altLang="zh-TW" dirty="0">
                <a:solidFill>
                  <a:schemeClr val="accent1">
                    <a:lumMod val="20000"/>
                    <a:lumOff val="80000"/>
                  </a:schemeClr>
                </a:solidFill>
              </a:rPr>
              <a:t>	private static Singleton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a:t>
            </a:r>
            <a:r>
              <a:rPr lang="en-US" altLang="zh-TW" dirty="0"/>
              <a:t>private</a:t>
            </a:r>
            <a:r>
              <a:rPr lang="en-US" altLang="zh-TW" dirty="0">
                <a:solidFill>
                  <a:schemeClr val="accent1">
                    <a:lumMod val="20000"/>
                    <a:lumOff val="80000"/>
                  </a:schemeClr>
                </a:solidFill>
              </a:rPr>
              <a:t> Singleton() { }</a:t>
            </a:r>
          </a:p>
          <a:p>
            <a:pPr marL="0" indent="0">
              <a:buNone/>
            </a:pPr>
            <a:r>
              <a:rPr lang="en-US" altLang="zh-TW" dirty="0">
                <a:solidFill>
                  <a:schemeClr val="accent1">
                    <a:lumMod val="20000"/>
                    <a:lumOff val="80000"/>
                  </a:schemeClr>
                </a:solidFill>
              </a:rPr>
              <a:t>        	</a:t>
            </a:r>
            <a:r>
              <a:rPr lang="en-US" altLang="zh-TW" dirty="0"/>
              <a:t>public static  </a:t>
            </a:r>
            <a:r>
              <a:rPr lang="en-US" altLang="zh-TW" dirty="0">
                <a:solidFill>
                  <a:schemeClr val="accent1">
                    <a:lumMod val="20000"/>
                    <a:lumOff val="80000"/>
                  </a:schemeClr>
                </a:solidFill>
              </a:rPr>
              <a:t>Singleton </a:t>
            </a:r>
            <a:r>
              <a:rPr lang="en-US" altLang="zh-TW" dirty="0" err="1">
                <a:solidFill>
                  <a:schemeClr val="accent1">
                    <a:lumMod val="20000"/>
                    <a:lumOff val="80000"/>
                  </a:schemeClr>
                </a:solidFill>
              </a:rPr>
              <a:t>getInstance</a:t>
            </a: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if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 null) {</a:t>
            </a:r>
          </a:p>
          <a:p>
            <a:pPr marL="0" indent="0">
              <a:buNone/>
            </a:pPr>
            <a:r>
              <a:rPr lang="en-US" altLang="zh-TW" dirty="0">
                <a:solidFill>
                  <a:schemeClr val="accent1">
                    <a:lumMod val="20000"/>
                    <a:lumOff val="80000"/>
                  </a:schemeClr>
                </a:solidFill>
              </a:rPr>
              <a:t>                                   synchronized (</a:t>
            </a:r>
            <a:r>
              <a:rPr lang="en-US" altLang="zh-TW" dirty="0" err="1">
                <a:solidFill>
                  <a:schemeClr val="accent1">
                    <a:lumMod val="20000"/>
                    <a:lumOff val="80000"/>
                  </a:schemeClr>
                </a:solidFill>
              </a:rPr>
              <a:t>Singleton.class</a:t>
            </a: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if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 null) {</a:t>
            </a:r>
          </a:p>
          <a:p>
            <a:pPr marL="0" indent="0">
              <a:buNone/>
            </a:pPr>
            <a:r>
              <a:rPr lang="en-US" altLang="zh-TW" dirty="0">
                <a:solidFill>
                  <a:schemeClr val="accent1">
                    <a:lumMod val="20000"/>
                    <a:lumOff val="80000"/>
                  </a:schemeClr>
                </a:solidFill>
              </a:rPr>
              <a:t>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 new Singleton();</a:t>
            </a:r>
          </a:p>
          <a:p>
            <a:pPr marL="0" indent="0">
              <a:buNone/>
            </a:pP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return </a:t>
            </a:r>
            <a:r>
              <a:rPr lang="en-US" altLang="zh-TW" dirty="0" err="1">
                <a:solidFill>
                  <a:schemeClr val="accent1">
                    <a:lumMod val="20000"/>
                    <a:lumOff val="80000"/>
                  </a:schemeClr>
                </a:solidFill>
              </a:rPr>
              <a:t>uniqueInstance</a:t>
            </a: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	}</a:t>
            </a:r>
          </a:p>
          <a:p>
            <a:pPr marL="0" indent="0">
              <a:buNone/>
            </a:pPr>
            <a:r>
              <a:rPr lang="en-US" altLang="zh-TW" dirty="0">
                <a:solidFill>
                  <a:schemeClr val="accent1">
                    <a:lumMod val="20000"/>
                    <a:lumOff val="80000"/>
                  </a:schemeClr>
                </a:solidFill>
              </a:rPr>
              <a:t>}</a:t>
            </a:r>
            <a:endParaRPr lang="zh-TW" altLang="en-US" dirty="0">
              <a:solidFill>
                <a:schemeClr val="accent1">
                  <a:lumMod val="20000"/>
                  <a:lumOff val="80000"/>
                </a:schemeClr>
              </a:solidFill>
            </a:endParaRPr>
          </a:p>
        </p:txBody>
      </p:sp>
    </p:spTree>
    <p:extLst>
      <p:ext uri="{BB962C8B-B14F-4D97-AF65-F5344CB8AC3E}">
        <p14:creationId xmlns:p14="http://schemas.microsoft.com/office/powerpoint/2010/main" val="4207638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4460C5BB-F025-40CE-90D2-A5F72661AE16}"/>
              </a:ext>
            </a:extLst>
          </p:cNvPr>
          <p:cNvSpPr>
            <a:spLocks noGrp="1"/>
          </p:cNvSpPr>
          <p:nvPr>
            <p:ph type="title"/>
          </p:nvPr>
        </p:nvSpPr>
        <p:spPr/>
        <p:txBody>
          <a:bodyPr>
            <a:normAutofit/>
          </a:bodyPr>
          <a:lstStyle/>
          <a:p>
            <a:pPr>
              <a:defRPr/>
            </a:pPr>
            <a:r>
              <a:rPr lang="en-US" altLang="zh-TW" dirty="0">
                <a:solidFill>
                  <a:srgbClr val="FFC000"/>
                </a:solidFill>
              </a:rPr>
              <a:t>What the hell is “</a:t>
            </a:r>
            <a:r>
              <a:rPr lang="en-US" altLang="zh-TW" dirty="0" err="1">
                <a:solidFill>
                  <a:srgbClr val="FFC000"/>
                </a:solidFill>
              </a:rPr>
              <a:t>singleton.class</a:t>
            </a:r>
            <a:r>
              <a:rPr lang="en-US" altLang="zh-TW" dirty="0">
                <a:solidFill>
                  <a:srgbClr val="FFC000"/>
                </a:solidFill>
              </a:rPr>
              <a:t>”?</a:t>
            </a:r>
            <a:endParaRPr lang="zh-TW" altLang="en-US" dirty="0">
              <a:solidFill>
                <a:srgbClr val="FFC000"/>
              </a:solidFill>
            </a:endParaRPr>
          </a:p>
        </p:txBody>
      </p:sp>
      <p:sp>
        <p:nvSpPr>
          <p:cNvPr id="33795" name="內容版面配置區 3">
            <a:extLst>
              <a:ext uri="{FF2B5EF4-FFF2-40B4-BE49-F238E27FC236}">
                <a16:creationId xmlns:a16="http://schemas.microsoft.com/office/drawing/2014/main" id="{1A2CFFCE-8ACB-4204-89B2-5FD4CF0B3C8C}"/>
              </a:ext>
            </a:extLst>
          </p:cNvPr>
          <p:cNvSpPr>
            <a:spLocks noGrp="1"/>
          </p:cNvSpPr>
          <p:nvPr>
            <p:ph idx="1"/>
          </p:nvPr>
        </p:nvSpPr>
        <p:spPr/>
        <p:txBody>
          <a:bodyPr/>
          <a:lstStyle/>
          <a:p>
            <a:r>
              <a:rPr lang="en-US" altLang="zh-TW" sz="2400" dirty="0">
                <a:solidFill>
                  <a:schemeClr val="tx2">
                    <a:lumMod val="20000"/>
                    <a:lumOff val="80000"/>
                  </a:schemeClr>
                </a:solidFill>
              </a:rPr>
              <a:t>Every Java object created, including every Class loaded, has an associated </a:t>
            </a:r>
            <a:r>
              <a:rPr lang="en-US" altLang="zh-TW" sz="2400" b="1" dirty="0">
                <a:solidFill>
                  <a:schemeClr val="tx2">
                    <a:lumMod val="20000"/>
                    <a:lumOff val="80000"/>
                  </a:schemeClr>
                </a:solidFill>
              </a:rPr>
              <a:t>lock</a:t>
            </a:r>
            <a:r>
              <a:rPr lang="en-US" altLang="zh-TW" sz="2400" dirty="0">
                <a:solidFill>
                  <a:schemeClr val="tx2">
                    <a:lumMod val="20000"/>
                    <a:lumOff val="80000"/>
                  </a:schemeClr>
                </a:solidFill>
              </a:rPr>
              <a:t> or </a:t>
            </a:r>
            <a:r>
              <a:rPr lang="en-US" altLang="zh-TW" sz="2400" b="1" dirty="0">
                <a:solidFill>
                  <a:schemeClr val="tx2">
                    <a:lumMod val="20000"/>
                    <a:lumOff val="80000"/>
                  </a:schemeClr>
                </a:solidFill>
              </a:rPr>
              <a:t>monitor</a:t>
            </a:r>
            <a:r>
              <a:rPr lang="en-US" altLang="zh-TW" sz="2400" dirty="0">
                <a:solidFill>
                  <a:schemeClr val="tx2">
                    <a:lumMod val="20000"/>
                    <a:lumOff val="80000"/>
                  </a:schemeClr>
                </a:solidFill>
              </a:rPr>
              <a:t>. Putting code inside a synchronized block makes the compiler append instructions to </a:t>
            </a:r>
            <a:r>
              <a:rPr lang="en-US" altLang="zh-TW" sz="2400" b="1" dirty="0">
                <a:solidFill>
                  <a:schemeClr val="tx2">
                    <a:lumMod val="20000"/>
                    <a:lumOff val="80000"/>
                  </a:schemeClr>
                </a:solidFill>
              </a:rPr>
              <a:t>acquire</a:t>
            </a:r>
            <a:r>
              <a:rPr lang="en-US" altLang="zh-TW" sz="2400" dirty="0">
                <a:solidFill>
                  <a:schemeClr val="tx2">
                    <a:lumMod val="20000"/>
                    <a:lumOff val="80000"/>
                  </a:schemeClr>
                </a:solidFill>
              </a:rPr>
              <a:t> the lock on the specified object before executing the code, and </a:t>
            </a:r>
            <a:r>
              <a:rPr lang="en-US" altLang="zh-TW" sz="2400" b="1" dirty="0">
                <a:solidFill>
                  <a:schemeClr val="tx2">
                    <a:lumMod val="20000"/>
                    <a:lumOff val="80000"/>
                  </a:schemeClr>
                </a:solidFill>
              </a:rPr>
              <a:t>release</a:t>
            </a:r>
            <a:r>
              <a:rPr lang="en-US" altLang="zh-TW" sz="2400" dirty="0">
                <a:solidFill>
                  <a:schemeClr val="tx2">
                    <a:lumMod val="20000"/>
                    <a:lumOff val="80000"/>
                  </a:schemeClr>
                </a:solidFill>
              </a:rPr>
              <a:t> it afterwards (either because the code finishes normally or abnormally).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B3A646-6487-467B-8FB5-86132EDAC86E}"/>
              </a:ext>
            </a:extLst>
          </p:cNvPr>
          <p:cNvSpPr>
            <a:spLocks noGrp="1"/>
          </p:cNvSpPr>
          <p:nvPr>
            <p:ph type="title"/>
          </p:nvPr>
        </p:nvSpPr>
        <p:spPr/>
        <p:txBody>
          <a:bodyPr>
            <a:normAutofit/>
          </a:bodyPr>
          <a:lstStyle/>
          <a:p>
            <a:pPr marL="54864">
              <a:defRPr/>
            </a:pPr>
            <a:r>
              <a:rPr lang="en-US" altLang="zh-TW" dirty="0"/>
              <a:t>What is a </a:t>
            </a:r>
            <a:r>
              <a:rPr lang="en-US" altLang="zh-TW" dirty="0">
                <a:solidFill>
                  <a:schemeClr val="accent1">
                    <a:lumMod val="20000"/>
                    <a:lumOff val="80000"/>
                  </a:schemeClr>
                </a:solidFill>
              </a:rPr>
              <a:t>volatile</a:t>
            </a:r>
            <a:r>
              <a:rPr lang="en-US" altLang="zh-TW" dirty="0"/>
              <a:t> keyword</a:t>
            </a:r>
            <a:br>
              <a:rPr lang="en-US" altLang="zh-TW" dirty="0"/>
            </a:br>
            <a:r>
              <a:rPr lang="en-US" altLang="zh-TW" dirty="0"/>
              <a:t>in Java</a:t>
            </a:r>
            <a:endParaRPr lang="zh-TW" altLang="en-US" dirty="0"/>
          </a:p>
        </p:txBody>
      </p:sp>
      <p:sp>
        <p:nvSpPr>
          <p:cNvPr id="34819" name="內容版面配置區 2">
            <a:extLst>
              <a:ext uri="{FF2B5EF4-FFF2-40B4-BE49-F238E27FC236}">
                <a16:creationId xmlns:a16="http://schemas.microsoft.com/office/drawing/2014/main" id="{87240293-B9F6-4AF8-9D0D-5689799B20C5}"/>
              </a:ext>
            </a:extLst>
          </p:cNvPr>
          <p:cNvSpPr>
            <a:spLocks noGrp="1"/>
          </p:cNvSpPr>
          <p:nvPr>
            <p:ph idx="1"/>
          </p:nvPr>
        </p:nvSpPr>
        <p:spPr/>
        <p:txBody>
          <a:bodyPr/>
          <a:lstStyle/>
          <a:p>
            <a:r>
              <a:rPr lang="en-US" altLang="zh-TW" dirty="0">
                <a:solidFill>
                  <a:schemeClr val="bg2"/>
                </a:solidFill>
              </a:rPr>
              <a:t>It's probably fair to say that on the whole, the volatile keyword in Java is poorly documented, poorly understood, and rarely used. To make matters worse, its formal definition actually changed as of Java 5.</a:t>
            </a:r>
          </a:p>
          <a:p>
            <a:r>
              <a:rPr lang="en-US" altLang="zh-TW" dirty="0">
                <a:solidFill>
                  <a:schemeClr val="bg2"/>
                </a:solidFill>
              </a:rPr>
              <a:t>Essentially, volatile is used to indicate that a </a:t>
            </a:r>
            <a:r>
              <a:rPr lang="en-US" altLang="zh-TW" b="1" dirty="0">
                <a:solidFill>
                  <a:schemeClr val="bg2"/>
                </a:solidFill>
              </a:rPr>
              <a:t>variable's value will be modified by different </a:t>
            </a:r>
            <a:r>
              <a:rPr lang="en-US" altLang="zh-TW" b="1" dirty="0">
                <a:solidFill>
                  <a:schemeClr val="bg2"/>
                </a:solidFill>
                <a:hlinkClick r:id="rId2" action="ppaction://hlinkfile">
                  <a:extLst>
                    <a:ext uri="{A12FA001-AC4F-418D-AE19-62706E023703}">
                      <ahyp:hlinkClr xmlns:ahyp="http://schemas.microsoft.com/office/drawing/2018/hyperlinkcolor" val="tx"/>
                    </a:ext>
                  </a:extLst>
                </a:hlinkClick>
              </a:rPr>
              <a:t>threads</a:t>
            </a:r>
            <a:endParaRPr lang="zh-TW" altLang="en-US" dirty="0">
              <a:solidFill>
                <a:schemeClr val="bg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491AA5-F7B8-4BDA-964F-BC8A408A8CC7}"/>
              </a:ext>
            </a:extLst>
          </p:cNvPr>
          <p:cNvSpPr>
            <a:spLocks noGrp="1"/>
          </p:cNvSpPr>
          <p:nvPr>
            <p:ph type="title"/>
          </p:nvPr>
        </p:nvSpPr>
        <p:spPr/>
        <p:txBody>
          <a:bodyPr/>
          <a:lstStyle/>
          <a:p>
            <a:pPr>
              <a:defRPr/>
            </a:pPr>
            <a:endParaRPr lang="zh-TW" altLang="en-US"/>
          </a:p>
        </p:txBody>
      </p:sp>
      <p:sp>
        <p:nvSpPr>
          <p:cNvPr id="35843" name="內容版面配置區 2">
            <a:extLst>
              <a:ext uri="{FF2B5EF4-FFF2-40B4-BE49-F238E27FC236}">
                <a16:creationId xmlns:a16="http://schemas.microsoft.com/office/drawing/2014/main" id="{0DC25EE9-2679-4891-9891-9043EEC0E9FF}"/>
              </a:ext>
            </a:extLst>
          </p:cNvPr>
          <p:cNvSpPr>
            <a:spLocks noGrp="1"/>
          </p:cNvSpPr>
          <p:nvPr>
            <p:ph idx="1"/>
          </p:nvPr>
        </p:nvSpPr>
        <p:spPr/>
        <p:txBody>
          <a:bodyPr/>
          <a:lstStyle/>
          <a:p>
            <a:r>
              <a:rPr lang="en-US" altLang="zh-TW"/>
              <a:t>Declaring a volatile Java variable means: </a:t>
            </a:r>
          </a:p>
          <a:p>
            <a:pPr lvl="1"/>
            <a:r>
              <a:rPr lang="en-US" altLang="zh-TW"/>
              <a:t>The value of this variable will </a:t>
            </a:r>
            <a:r>
              <a:rPr lang="en-US" altLang="zh-TW" b="1"/>
              <a:t>never be cached thread-locally</a:t>
            </a:r>
            <a:r>
              <a:rPr lang="en-US" altLang="zh-TW"/>
              <a:t>: all reads and writes will go straight to "main memory"; </a:t>
            </a:r>
          </a:p>
          <a:p>
            <a:pPr lvl="1"/>
            <a:r>
              <a:rPr lang="en-US" altLang="zh-TW"/>
              <a:t>Access to the variable </a:t>
            </a:r>
            <a:r>
              <a:rPr lang="en-US" altLang="zh-TW" b="1"/>
              <a:t>acts as though it is enclosed in a </a:t>
            </a:r>
            <a:r>
              <a:rPr lang="en-US" altLang="zh-TW" b="1">
                <a:hlinkClick r:id="rId2" action="ppaction://hlinkfile"/>
              </a:rPr>
              <a:t>synchronized block</a:t>
            </a:r>
            <a:r>
              <a:rPr lang="en-US" altLang="zh-TW"/>
              <a:t>, synchronized on itself. </a:t>
            </a:r>
          </a:p>
          <a:p>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05C0C7-594F-49C7-B501-7631051F721E}"/>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8D43E6EF-945C-48B9-B291-FBB463A5F703}"/>
              </a:ext>
            </a:extLst>
          </p:cNvPr>
          <p:cNvSpPr>
            <a:spLocks noGrp="1"/>
          </p:cNvSpPr>
          <p:nvPr>
            <p:ph idx="1"/>
          </p:nvPr>
        </p:nvSpPr>
        <p:spPr>
          <a:xfrm>
            <a:off x="5472545" y="1825625"/>
            <a:ext cx="5881255" cy="4351338"/>
          </a:xfrm>
        </p:spPr>
        <p:txBody>
          <a:bodyPr/>
          <a:lstStyle/>
          <a:p>
            <a:r>
              <a:rPr lang="en-US" altLang="zh-TW" dirty="0">
                <a:solidFill>
                  <a:schemeClr val="bg2"/>
                </a:solidFill>
              </a:rPr>
              <a:t>Q</a:t>
            </a:r>
            <a:r>
              <a:rPr lang="en-US" altLang="zh-TW" dirty="0"/>
              <a:t>:  </a:t>
            </a:r>
            <a:r>
              <a:rPr lang="zh-TW" altLang="en-US" dirty="0"/>
              <a:t>一個 </a:t>
            </a:r>
            <a:r>
              <a:rPr lang="en-US" altLang="zh-TW" dirty="0"/>
              <a:t>singleton</a:t>
            </a:r>
            <a:r>
              <a:rPr lang="zh-TW" altLang="en-US" dirty="0"/>
              <a:t>，程式碼很多地方也都可以存取啊，你確定跟 </a:t>
            </a:r>
            <a:r>
              <a:rPr lang="en-US" altLang="zh-TW" dirty="0"/>
              <a:t>global variable </a:t>
            </a:r>
            <a:r>
              <a:rPr lang="zh-TW" altLang="en-US" dirty="0"/>
              <a:t>有什麼不一樣</a:t>
            </a:r>
            <a:r>
              <a:rPr lang="en-US" altLang="zh-TW" dirty="0"/>
              <a:t>?</a:t>
            </a:r>
          </a:p>
          <a:p>
            <a:r>
              <a:rPr lang="en-US" altLang="zh-TW" dirty="0">
                <a:solidFill>
                  <a:schemeClr val="bg2"/>
                </a:solidFill>
              </a:rPr>
              <a:t>A</a:t>
            </a:r>
            <a:r>
              <a:rPr lang="en-US" altLang="zh-TW" dirty="0"/>
              <a:t>:</a:t>
            </a:r>
            <a:r>
              <a:rPr lang="zh-TW" altLang="en-US" dirty="0"/>
              <a:t> </a:t>
            </a:r>
            <a:r>
              <a:rPr lang="en-US" altLang="zh-TW" dirty="0"/>
              <a:t>singleton </a:t>
            </a:r>
            <a:r>
              <a:rPr lang="zh-TW" altLang="en-US" dirty="0"/>
              <a:t>可以解決 </a:t>
            </a:r>
            <a:r>
              <a:rPr lang="en-US" altLang="zh-TW" dirty="0"/>
              <a:t>namespace pollution </a:t>
            </a:r>
            <a:r>
              <a:rPr lang="zh-TW" altLang="en-US" dirty="0"/>
              <a:t>等等一些的問題 </a:t>
            </a:r>
            <a:r>
              <a:rPr lang="en-US" altLang="zh-TW" dirty="0"/>
              <a:t>but still it  is just a lazy initialized global variable. </a:t>
            </a:r>
            <a:r>
              <a:rPr lang="zh-TW" altLang="en-US" dirty="0"/>
              <a:t>它確保一個獨一無二的 </a:t>
            </a:r>
            <a:r>
              <a:rPr lang="en-US" altLang="zh-TW" dirty="0"/>
              <a:t>instance </a:t>
            </a:r>
            <a:r>
              <a:rPr lang="zh-TW" altLang="en-US" dirty="0"/>
              <a:t>可以存取。</a:t>
            </a:r>
          </a:p>
        </p:txBody>
      </p:sp>
      <p:pic>
        <p:nvPicPr>
          <p:cNvPr id="5" name="Picture 2">
            <a:extLst>
              <a:ext uri="{FF2B5EF4-FFF2-40B4-BE49-F238E27FC236}">
                <a16:creationId xmlns:a16="http://schemas.microsoft.com/office/drawing/2014/main" id="{A726EFE8-D520-4635-92CD-518F86EC26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65125"/>
            <a:ext cx="4357687" cy="620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7781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C43CB8-0013-47ED-A745-2607A2CFD7AE}"/>
              </a:ext>
            </a:extLst>
          </p:cNvPr>
          <p:cNvSpPr>
            <a:spLocks noGrp="1"/>
          </p:cNvSpPr>
          <p:nvPr>
            <p:ph type="title"/>
          </p:nvPr>
        </p:nvSpPr>
        <p:spPr/>
        <p:txBody>
          <a:bodyPr>
            <a:noAutofit/>
          </a:bodyPr>
          <a:lstStyle/>
          <a:p>
            <a:pPr>
              <a:defRPr/>
            </a:pPr>
            <a:r>
              <a:rPr lang="en-US" altLang="zh-TW" sz="2800" dirty="0"/>
              <a:t>Comparisons of Global variables and Singleton</a:t>
            </a:r>
            <a:endParaRPr lang="zh-TW" altLang="en-US" sz="2800" dirty="0"/>
          </a:p>
        </p:txBody>
      </p:sp>
      <p:sp>
        <p:nvSpPr>
          <p:cNvPr id="40963" name="內容版面配置區 2">
            <a:extLst>
              <a:ext uri="{FF2B5EF4-FFF2-40B4-BE49-F238E27FC236}">
                <a16:creationId xmlns:a16="http://schemas.microsoft.com/office/drawing/2014/main" id="{C94F12D4-ABC9-4C7F-85B8-F1F198F877AD}"/>
              </a:ext>
            </a:extLst>
          </p:cNvPr>
          <p:cNvSpPr>
            <a:spLocks noGrp="1"/>
          </p:cNvSpPr>
          <p:nvPr>
            <p:ph idx="1"/>
          </p:nvPr>
        </p:nvSpPr>
        <p:spPr/>
        <p:txBody>
          <a:bodyPr>
            <a:normAutofit lnSpcReduction="10000"/>
          </a:bodyPr>
          <a:lstStyle/>
          <a:p>
            <a:r>
              <a:rPr lang="en-US" altLang="zh-TW" sz="2400" b="1" dirty="0">
                <a:solidFill>
                  <a:srgbClr val="00B0F0"/>
                </a:solidFill>
              </a:rPr>
              <a:t>The difference</a:t>
            </a:r>
            <a:r>
              <a:rPr lang="en-US" altLang="zh-TW" sz="2400" dirty="0">
                <a:solidFill>
                  <a:schemeClr val="bg2"/>
                </a:solidFill>
              </a:rPr>
              <a:t>: I would not consider a singleton as a global variable unless the singleton exposed its internal variable through an accessor. Absent accessors, a singleton provides controlled access to the variable, greatly reducing the programming problems.</a:t>
            </a:r>
          </a:p>
          <a:p>
            <a:r>
              <a:rPr lang="en-US" altLang="zh-TW" sz="2400" b="1" dirty="0">
                <a:solidFill>
                  <a:srgbClr val="00B0F0"/>
                </a:solidFill>
              </a:rPr>
              <a:t>Cohesive Methods </a:t>
            </a:r>
            <a:r>
              <a:rPr lang="en-US" altLang="zh-TW" sz="2400" dirty="0">
                <a:solidFill>
                  <a:srgbClr val="00B0F0"/>
                </a:solidFill>
              </a:rPr>
              <a:t>: </a:t>
            </a:r>
            <a:r>
              <a:rPr lang="en-US" altLang="zh-TW" sz="2400" dirty="0">
                <a:solidFill>
                  <a:schemeClr val="bg2"/>
                </a:solidFill>
              </a:rPr>
              <a:t>One of the major arguments against global variables is that they defy the basic OO concept of cohesive methods. With a global variable all of the accesses and operations on the variable are scattered around the code. By pulling all of the methods into a single class or module, they can be evaluated and maintained as a unit.</a:t>
            </a:r>
          </a:p>
          <a:p>
            <a:r>
              <a:rPr lang="en-US" altLang="zh-TW" sz="2400" b="1" i="1" dirty="0">
                <a:solidFill>
                  <a:srgbClr val="00B0F0"/>
                </a:solidFill>
              </a:rPr>
              <a:t>Should I simply convert a global variable to Singleton to resolve the evil? </a:t>
            </a:r>
            <a:r>
              <a:rPr lang="en-US" altLang="zh-TW" sz="2400" i="1" dirty="0">
                <a:solidFill>
                  <a:schemeClr val="bg2"/>
                </a:solidFill>
              </a:rPr>
              <a:t>Converting to the </a:t>
            </a:r>
            <a:r>
              <a:rPr lang="en-US" altLang="zh-TW" sz="2400" i="1" dirty="0" err="1">
                <a:solidFill>
                  <a:schemeClr val="bg2"/>
                </a:solidFill>
                <a:hlinkClick r:id="rId2" action="ppaction://hlinkfile">
                  <a:extLst>
                    <a:ext uri="{A12FA001-AC4F-418D-AE19-62706E023703}">
                      <ahyp:hlinkClr xmlns:ahyp="http://schemas.microsoft.com/office/drawing/2018/hyperlinkcolor" val="tx"/>
                    </a:ext>
                  </a:extLst>
                </a:hlinkClick>
              </a:rPr>
              <a:t>SingletonPattern</a:t>
            </a:r>
            <a:r>
              <a:rPr lang="en-US" altLang="zh-TW" sz="2400" i="1" dirty="0">
                <a:solidFill>
                  <a:schemeClr val="bg2"/>
                </a:solidFill>
              </a:rPr>
              <a:t> is common, but you may discover that it makes more sense for the data element to be a member of an existing singleton, or maybe even an instance variable.</a:t>
            </a:r>
            <a:endParaRPr lang="zh-TW" altLang="en-US" sz="2400" dirty="0">
              <a:solidFill>
                <a:schemeClr val="bg2"/>
              </a:solidFill>
            </a:endParaRPr>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1343</TotalTime>
  <Words>1608</Words>
  <Application>Microsoft Office PowerPoint</Application>
  <PresentationFormat>寬螢幕</PresentationFormat>
  <Paragraphs>128</Paragraphs>
  <Slides>22</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22</vt:i4>
      </vt:variant>
    </vt:vector>
  </HeadingPairs>
  <TitlesOfParts>
    <vt:vector size="30" baseType="lpstr">
      <vt:lpstr>新細明體</vt:lpstr>
      <vt:lpstr>標楷體</vt:lpstr>
      <vt:lpstr>Arial</vt:lpstr>
      <vt:lpstr>Arial Black</vt:lpstr>
      <vt:lpstr>Calibri</vt:lpstr>
      <vt:lpstr>Cambria</vt:lpstr>
      <vt:lpstr>Wingdings 2</vt:lpstr>
      <vt:lpstr>Office 佈景主題</vt:lpstr>
      <vt:lpstr>Singleton Design Pattern</vt:lpstr>
      <vt:lpstr>PowerPoint 簡報</vt:lpstr>
      <vt:lpstr>You may already know but cannot resist to use them in your code </vt:lpstr>
      <vt:lpstr>PowerPoint 簡報</vt:lpstr>
      <vt:lpstr>It could be worse !! If you don’t know why?</vt:lpstr>
      <vt:lpstr>Why Global Variables Should Be Avoided When Unnecessary! </vt:lpstr>
      <vt:lpstr>Side effects</vt:lpstr>
      <vt:lpstr>Side effects</vt:lpstr>
      <vt:lpstr>The stupid way in Java  (pure OOPL)  Often seen in first-timer OOPers</vt:lpstr>
      <vt:lpstr>The Control Class Solution   (learned from experience)</vt:lpstr>
      <vt:lpstr>OK, is that a problem?</vt:lpstr>
      <vt:lpstr>The Singleton Pattern</vt:lpstr>
      <vt:lpstr>The keys to singleton</vt:lpstr>
      <vt:lpstr>How to use a singleton object?</vt:lpstr>
      <vt:lpstr>Singleton with multithreading</vt:lpstr>
      <vt:lpstr>The Singleton Pattern for Multi-thread-Safe – first solution </vt:lpstr>
      <vt:lpstr>The Singleton Pattern for Multi-thread-Safe – Double Check lock solution </vt:lpstr>
      <vt:lpstr>What the hell is “singleton.class”?</vt:lpstr>
      <vt:lpstr>What is a volatile keyword in Java</vt:lpstr>
      <vt:lpstr>PowerPoint 簡報</vt:lpstr>
      <vt:lpstr>PowerPoint 簡報</vt:lpstr>
      <vt:lpstr>Comparisons of Global variables and Singleton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xUnit testing – basics  using VSCode and Java Junit 4  as example</dc:title>
  <dc:creator>ypcheng</dc:creator>
  <cp:lastModifiedBy>ypcheng</cp:lastModifiedBy>
  <cp:revision>66</cp:revision>
  <dcterms:created xsi:type="dcterms:W3CDTF">2021-10-16T14:33:40Z</dcterms:created>
  <dcterms:modified xsi:type="dcterms:W3CDTF">2021-10-21T09:44:04Z</dcterms:modified>
</cp:coreProperties>
</file>