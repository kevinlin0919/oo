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E3DF6-41BC-45CE-9091-CD1916148946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DBE14-38FF-4C0E-B197-9FE7302EFBF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946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76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88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819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061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2088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217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DBE14-38FF-4C0E-B197-9FE7302EFBF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92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Comparison of C++ and Java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Pass parameters to base class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1714488"/>
            <a:ext cx="4114800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C++</a:t>
            </a:r>
          </a:p>
          <a:p>
            <a:pPr>
              <a:buNone/>
            </a:pPr>
            <a:r>
              <a:rPr lang="en-US" altLang="zh-TW" dirty="0" smtClean="0"/>
              <a:t>class Pet</a:t>
            </a:r>
            <a:r>
              <a:rPr lang="zh-TW" altLang="en-US" dirty="0" smtClean="0"/>
              <a:t> </a:t>
            </a:r>
            <a:r>
              <a:rPr lang="en-US" altLang="zh-TW" dirty="0" smtClean="0"/>
              <a:t>{</a:t>
            </a:r>
            <a:br>
              <a:rPr lang="en-US" altLang="zh-TW" dirty="0" smtClean="0"/>
            </a:br>
            <a:r>
              <a:rPr lang="en-US" altLang="zh-TW" dirty="0" smtClean="0"/>
              <a:t>public:</a:t>
            </a:r>
            <a:br>
              <a:rPr lang="en-US" altLang="zh-TW" dirty="0" smtClean="0"/>
            </a:br>
            <a:r>
              <a:rPr lang="en-US" altLang="zh-TW" i="1" dirty="0" smtClean="0"/>
              <a:t>// Constructors, Destructors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b="1" dirty="0" smtClean="0">
                <a:solidFill>
                  <a:schemeClr val="hlink"/>
                </a:solidFill>
              </a:rPr>
              <a:t>Pet ()</a:t>
            </a:r>
            <a:r>
              <a:rPr lang="en-US" altLang="zh-TW" dirty="0" smtClean="0"/>
              <a:t> : weight(1), food("Pet Chow") {}</a:t>
            </a:r>
            <a:br>
              <a:rPr lang="en-US" altLang="zh-TW" dirty="0" smtClean="0"/>
            </a:br>
            <a:r>
              <a:rPr lang="en-US" altLang="zh-TW" b="1" dirty="0" smtClean="0">
                <a:solidFill>
                  <a:schemeClr val="hlink"/>
                </a:solidFill>
              </a:rPr>
              <a:t>Pet(</a:t>
            </a:r>
            <a:r>
              <a:rPr lang="en-US" altLang="zh-TW" b="1" dirty="0" err="1" smtClean="0">
                <a:solidFill>
                  <a:schemeClr val="hlink"/>
                </a:solidFill>
              </a:rPr>
              <a:t>int</a:t>
            </a:r>
            <a:r>
              <a:rPr lang="en-US" altLang="zh-TW" b="1" dirty="0" smtClean="0">
                <a:solidFill>
                  <a:schemeClr val="hlink"/>
                </a:solidFill>
              </a:rPr>
              <a:t> w)</a:t>
            </a:r>
            <a:r>
              <a:rPr lang="en-US" altLang="zh-TW" dirty="0" smtClean="0"/>
              <a:t> : weight(w), food("Pet Chow") {}</a:t>
            </a:r>
            <a:br>
              <a:rPr lang="en-US" altLang="zh-TW" dirty="0" smtClean="0"/>
            </a:br>
            <a:r>
              <a:rPr lang="en-US" altLang="zh-TW" b="1" dirty="0" smtClean="0">
                <a:solidFill>
                  <a:schemeClr val="hlink"/>
                </a:solidFill>
              </a:rPr>
              <a:t>Pet(</a:t>
            </a:r>
            <a:r>
              <a:rPr lang="en-US" altLang="zh-TW" b="1" dirty="0" err="1" smtClean="0">
                <a:solidFill>
                  <a:schemeClr val="hlink"/>
                </a:solidFill>
              </a:rPr>
              <a:t>int</a:t>
            </a:r>
            <a:r>
              <a:rPr lang="en-US" altLang="zh-TW" b="1" dirty="0" smtClean="0">
                <a:solidFill>
                  <a:schemeClr val="hlink"/>
                </a:solidFill>
              </a:rPr>
              <a:t> w, string f)</a:t>
            </a:r>
            <a:r>
              <a:rPr lang="en-US" altLang="zh-TW" dirty="0" smtClean="0"/>
              <a:t> : weight(w), food(f) {}</a:t>
            </a:r>
            <a:br>
              <a:rPr lang="en-US" altLang="zh-TW" dirty="0" smtClean="0"/>
            </a:br>
            <a:r>
              <a:rPr lang="en-US" altLang="zh-TW" dirty="0" smtClean="0"/>
              <a:t>~Pet() {}</a:t>
            </a:r>
          </a:p>
          <a:p>
            <a:pPr>
              <a:buNone/>
            </a:pPr>
            <a:r>
              <a:rPr lang="en-US" altLang="zh-TW" dirty="0" smtClean="0"/>
              <a:t>}</a:t>
            </a:r>
          </a:p>
          <a:p>
            <a:pPr>
              <a:buNone/>
            </a:pPr>
            <a:r>
              <a:rPr lang="en-US" altLang="zh-TW" dirty="0" smtClean="0"/>
              <a:t>class Rat: public Pet</a:t>
            </a:r>
            <a:r>
              <a:rPr lang="zh-TW" altLang="en-US" dirty="0" smtClean="0"/>
              <a:t> </a:t>
            </a:r>
            <a:r>
              <a:rPr lang="en-US" altLang="zh-TW" dirty="0" smtClean="0"/>
              <a:t>{</a:t>
            </a:r>
            <a:br>
              <a:rPr lang="en-US" altLang="zh-TW" dirty="0" smtClean="0"/>
            </a:br>
            <a:r>
              <a:rPr lang="en-US" altLang="zh-TW" dirty="0" smtClean="0"/>
              <a:t>public:</a:t>
            </a:r>
            <a:br>
              <a:rPr lang="en-US" altLang="zh-TW" dirty="0" smtClean="0"/>
            </a:br>
            <a:r>
              <a:rPr lang="en-US" altLang="zh-TW" b="1" dirty="0" smtClean="0">
                <a:solidFill>
                  <a:schemeClr val="hlink"/>
                </a:solidFill>
              </a:rPr>
              <a:t>Rat() {}</a:t>
            </a:r>
            <a:br>
              <a:rPr lang="en-US" altLang="zh-TW" b="1" dirty="0" smtClean="0">
                <a:solidFill>
                  <a:schemeClr val="hlink"/>
                </a:solidFill>
              </a:rPr>
            </a:br>
            <a:r>
              <a:rPr lang="en-US" altLang="zh-TW" b="1" dirty="0" smtClean="0">
                <a:solidFill>
                  <a:schemeClr val="hlink"/>
                </a:solidFill>
              </a:rPr>
              <a:t>Rat(</a:t>
            </a:r>
            <a:r>
              <a:rPr lang="en-US" altLang="zh-TW" b="1" dirty="0" err="1" smtClean="0">
                <a:solidFill>
                  <a:schemeClr val="hlink"/>
                </a:solidFill>
              </a:rPr>
              <a:t>int</a:t>
            </a:r>
            <a:r>
              <a:rPr lang="en-US" altLang="zh-TW" b="1" dirty="0" smtClean="0">
                <a:solidFill>
                  <a:schemeClr val="hlink"/>
                </a:solidFill>
              </a:rPr>
              <a:t> w)</a:t>
            </a:r>
            <a:r>
              <a:rPr lang="en-US" altLang="zh-TW" dirty="0" smtClean="0"/>
              <a:t> : Pet(w) {}</a:t>
            </a:r>
            <a:br>
              <a:rPr lang="en-US" altLang="zh-TW" dirty="0" smtClean="0"/>
            </a:br>
            <a:r>
              <a:rPr lang="en-US" altLang="zh-TW" b="1" dirty="0" smtClean="0">
                <a:solidFill>
                  <a:schemeClr val="hlink"/>
                </a:solidFill>
              </a:rPr>
              <a:t>Rat(</a:t>
            </a:r>
            <a:r>
              <a:rPr lang="en-US" altLang="zh-TW" b="1" dirty="0" err="1" smtClean="0">
                <a:solidFill>
                  <a:schemeClr val="hlink"/>
                </a:solidFill>
              </a:rPr>
              <a:t>int</a:t>
            </a:r>
            <a:r>
              <a:rPr lang="en-US" altLang="zh-TW" b="1" dirty="0" smtClean="0">
                <a:solidFill>
                  <a:schemeClr val="hlink"/>
                </a:solidFill>
              </a:rPr>
              <a:t> w, string f)</a:t>
            </a:r>
            <a:r>
              <a:rPr lang="en-US" altLang="zh-TW" dirty="0" smtClean="0"/>
              <a:t> : Pet(</a:t>
            </a:r>
            <a:r>
              <a:rPr lang="en-US" altLang="zh-TW" dirty="0" err="1" smtClean="0"/>
              <a:t>w,f</a:t>
            </a:r>
            <a:r>
              <a:rPr lang="en-US" altLang="zh-TW" dirty="0" smtClean="0"/>
              <a:t>) {}</a:t>
            </a:r>
            <a:br>
              <a:rPr lang="en-US" altLang="zh-TW" dirty="0" smtClean="0"/>
            </a:br>
            <a:r>
              <a:rPr lang="en-US" altLang="zh-TW" dirty="0" smtClean="0"/>
              <a:t>~Rat() {}</a:t>
            </a:r>
          </a:p>
          <a:p>
            <a:pPr>
              <a:buNone/>
            </a:pP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4786314" y="1857364"/>
            <a:ext cx="411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Pet</a:t>
            </a:r>
            <a:r>
              <a:rPr kumimoji="0" lang="zh-TW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public: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Constructors, Destructors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Pet ()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{}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Pet(</a:t>
            </a:r>
            <a:r>
              <a:rPr kumimoji="0" lang="en-US" altLang="zh-TW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w)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{}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Pet(</a:t>
            </a:r>
            <a:r>
              <a:rPr kumimoji="0" lang="en-US" altLang="zh-TW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w, string f)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{}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~Pet() {}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Rat: public Pet</a:t>
            </a:r>
            <a:r>
              <a:rPr kumimoji="0" lang="zh-TW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public: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Rat() {}</a:t>
            </a:r>
            <a:b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Rat(</a:t>
            </a:r>
            <a:r>
              <a:rPr kumimoji="0" lang="en-US" altLang="zh-TW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w)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TW" alt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super(w) ;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               …….</a:t>
            </a:r>
            <a:endParaRPr kumimoji="0" lang="en-US" altLang="zh-TW" sz="32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      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Rat(</a:t>
            </a:r>
            <a:r>
              <a:rPr kumimoji="0" lang="en-US" altLang="zh-TW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w, string f)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                super(</a:t>
            </a:r>
            <a:r>
              <a:rPr lang="en-US" altLang="zh-TW" sz="3200" dirty="0" err="1" smtClean="0"/>
              <a:t>w,f</a:t>
            </a:r>
            <a:r>
              <a:rPr lang="en-US" altLang="zh-TW" sz="3200" dirty="0" smtClean="0"/>
              <a:t>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……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       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~Rat() {}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Array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614734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altLang="zh-TW" dirty="0" smtClean="0"/>
              <a:t>C++</a:t>
            </a:r>
          </a:p>
          <a:p>
            <a:pPr>
              <a:buNone/>
            </a:pPr>
            <a:r>
              <a:rPr lang="en-US" altLang="zh-TW" dirty="0" smtClean="0"/>
              <a:t>class Pet {</a:t>
            </a:r>
          </a:p>
          <a:p>
            <a:pPr>
              <a:buNone/>
            </a:pPr>
            <a:r>
              <a:rPr lang="en-US" altLang="zh-TW" dirty="0" smtClean="0"/>
              <a:t> };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Usage</a:t>
            </a:r>
          </a:p>
          <a:p>
            <a:pPr>
              <a:buNone/>
            </a:pPr>
            <a:r>
              <a:rPr lang="en-US" altLang="zh-TW" dirty="0" smtClean="0"/>
              <a:t>Pet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allpets</a:t>
            </a:r>
            <a:r>
              <a:rPr lang="en-US" altLang="zh-TW" dirty="0" smtClean="0"/>
              <a:t>[100] ;</a:t>
            </a:r>
          </a:p>
          <a:p>
            <a:pPr>
              <a:buNone/>
            </a:pPr>
            <a:r>
              <a:rPr lang="en-US" altLang="zh-TW" dirty="0" smtClean="0">
                <a:solidFill>
                  <a:schemeClr val="accent3">
                    <a:lumMod val="75000"/>
                  </a:schemeClr>
                </a:solidFill>
              </a:rPr>
              <a:t>// declare 100 objects, memory space is </a:t>
            </a:r>
            <a:r>
              <a:rPr lang="en-US" altLang="zh-TW" dirty="0" err="1" smtClean="0">
                <a:solidFill>
                  <a:schemeClr val="accent3">
                    <a:lumMod val="75000"/>
                  </a:schemeClr>
                </a:solidFill>
              </a:rPr>
              <a:t>allcated</a:t>
            </a:r>
            <a:r>
              <a:rPr lang="en-US" altLang="zh-TW" dirty="0" smtClean="0">
                <a:solidFill>
                  <a:schemeClr val="accent3">
                    <a:lumMod val="75000"/>
                  </a:schemeClr>
                </a:solidFill>
              </a:rPr>
              <a:t>. Constructor is called 100 times</a:t>
            </a:r>
          </a:p>
          <a:p>
            <a:pPr>
              <a:buNone/>
            </a:pP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4857752" y="1714488"/>
            <a:ext cx="3614734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Java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Pet 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Usage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Pet</a:t>
            </a:r>
            <a:r>
              <a:rPr kumimoji="0" lang="zh-TW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allpets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[100] 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TW" altLang="en-US" sz="32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3">
                    <a:lumMod val="75000"/>
                  </a:schemeClr>
                </a:solidFill>
              </a:rPr>
              <a:t>declare 100 reference, no objects are allocated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---- somewhere -----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for (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=0; 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&lt;100; 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++) 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TW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allpets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TW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new Pet();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baseline="0" dirty="0" smtClean="0"/>
              <a:t>}</a:t>
            </a: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Parameter Passing to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C++</a:t>
            </a:r>
          </a:p>
          <a:p>
            <a:pPr>
              <a:buNone/>
            </a:pPr>
            <a:r>
              <a:rPr lang="en-US" altLang="zh-TW" dirty="0" smtClean="0"/>
              <a:t>For all primitive type or class type, they can be passed by </a:t>
            </a:r>
          </a:p>
          <a:p>
            <a:r>
              <a:rPr lang="en-US" altLang="zh-TW" dirty="0" smtClean="0"/>
              <a:t>pass by value </a:t>
            </a:r>
          </a:p>
          <a:p>
            <a:r>
              <a:rPr lang="en-US" altLang="zh-TW" dirty="0" smtClean="0"/>
              <a:t>pass by address</a:t>
            </a:r>
          </a:p>
          <a:p>
            <a:r>
              <a:rPr lang="en-US" altLang="zh-TW" dirty="0" smtClean="0"/>
              <a:t>pass by reference 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4643438" y="1714488"/>
            <a:ext cx="411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3200" dirty="0" smtClean="0"/>
              <a:t>Java</a:t>
            </a: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Primitive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Types (</a:t>
            </a:r>
            <a:r>
              <a:rPr kumimoji="0" lang="en-US" altLang="zh-TW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char, float, double…)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TW" sz="3200" baseline="0" dirty="0" smtClean="0">
                <a:solidFill>
                  <a:srgbClr val="FF0000"/>
                </a:solidFill>
              </a:rPr>
              <a:t>Only pass by</a:t>
            </a:r>
            <a:r>
              <a:rPr lang="en-US" altLang="zh-TW" sz="3200" dirty="0" smtClean="0">
                <a:solidFill>
                  <a:srgbClr val="FF0000"/>
                </a:solidFill>
              </a:rPr>
              <a:t> value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types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(a.k.a., objects)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TW" sz="3200" dirty="0" smtClean="0">
                <a:solidFill>
                  <a:srgbClr val="FF0000"/>
                </a:solidFill>
              </a:rPr>
              <a:t>o</a:t>
            </a:r>
            <a:r>
              <a:rPr kumimoji="0" lang="en-US" altLang="zh-TW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nly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pass by reference 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Object allocation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357158" y="1571612"/>
            <a:ext cx="411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C++ </a:t>
            </a: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(for primitive types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any class types)</a:t>
            </a:r>
            <a:endParaRPr kumimoji="0" lang="en-US" altLang="zh-TW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Global</a:t>
            </a:r>
            <a:r>
              <a:rPr kumimoji="0" lang="en-US" altLang="zh-TW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variable (in data segment)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TW" sz="3200" baseline="0" dirty="0" smtClean="0"/>
              <a:t>Local variable ( in stack)</a:t>
            </a:r>
            <a:r>
              <a:rPr lang="en-US" altLang="zh-TW" sz="3200" dirty="0" smtClean="0"/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Heap variable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4643438" y="1571612"/>
            <a:ext cx="411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Java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Global</a:t>
            </a:r>
            <a:r>
              <a:rPr kumimoji="0" lang="en-US" altLang="zh-TW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variable : can  be approximated via </a:t>
            </a:r>
            <a:r>
              <a:rPr kumimoji="0" lang="en-US" altLang="zh-TW" sz="28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static</a:t>
            </a:r>
            <a:r>
              <a:rPr kumimoji="0" lang="en-US" altLang="zh-TW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inside a class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TW" sz="2800" baseline="0" dirty="0" smtClean="0"/>
              <a:t>Local variable</a:t>
            </a:r>
            <a:r>
              <a:rPr lang="en-US" altLang="zh-TW" sz="2800" dirty="0" smtClean="0"/>
              <a:t> (for primitive types only)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Heap variable (for</a:t>
            </a:r>
            <a:r>
              <a:rPr kumimoji="0" lang="en-US" altLang="zh-TW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any class types or primitive types)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class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323528" y="1623369"/>
            <a:ext cx="411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</a:t>
            </a: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++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 smtClean="0"/>
              <a:t>Class human 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     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400" dirty="0" smtClean="0">
                <a:solidFill>
                  <a:srgbClr val="FF0000"/>
                </a:solidFill>
              </a:rPr>
              <a:t> weight 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     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400" dirty="0" smtClean="0">
                <a:solidFill>
                  <a:srgbClr val="FF0000"/>
                </a:solidFill>
              </a:rPr>
              <a:t> height 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Public: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v</a:t>
            </a:r>
            <a:r>
              <a:rPr lang="en-US" altLang="zh-TW" sz="2400" dirty="0" smtClean="0">
                <a:solidFill>
                  <a:srgbClr val="FF0000"/>
                </a:solidFill>
              </a:rPr>
              <a:t>irtual void walk()=0;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v</a:t>
            </a:r>
            <a:r>
              <a:rPr lang="en-US" altLang="zh-TW" sz="2400" dirty="0" smtClean="0">
                <a:solidFill>
                  <a:srgbClr val="FF0000"/>
                </a:solidFill>
              </a:rPr>
              <a:t>irtual void speak()=0;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}</a:t>
            </a:r>
            <a:endParaRPr lang="en-US" altLang="zh-TW" sz="2400" dirty="0" smtClean="0">
              <a:solidFill>
                <a:srgbClr val="FF0000"/>
              </a:solidFill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4424680" y="1592858"/>
            <a:ext cx="411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</a:t>
            </a: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++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/>
              <a:t>p</a:t>
            </a:r>
            <a:r>
              <a:rPr lang="en-US" altLang="zh-TW" sz="2400" dirty="0" smtClean="0"/>
              <a:t>ublic abstract Class human {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     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400" dirty="0" smtClean="0">
                <a:solidFill>
                  <a:srgbClr val="FF0000"/>
                </a:solidFill>
              </a:rPr>
              <a:t> weight 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     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400" dirty="0" smtClean="0">
                <a:solidFill>
                  <a:srgbClr val="FF0000"/>
                </a:solidFill>
              </a:rPr>
              <a:t> height 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public abstract void walk() 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Public  abstract speak();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}</a:t>
            </a:r>
            <a:endParaRPr lang="en-US" altLang="zh-TW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Inheritance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525963"/>
          </a:xfrm>
        </p:spPr>
        <p:txBody>
          <a:bodyPr/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C++</a:t>
            </a:r>
          </a:p>
          <a:p>
            <a:r>
              <a:rPr lang="en-US" altLang="zh-TW" dirty="0" smtClean="0"/>
              <a:t>Pass parameter to constructor from subclass to base class</a:t>
            </a:r>
          </a:p>
          <a:p>
            <a:pPr lvl="1"/>
            <a:r>
              <a:rPr lang="en-US" altLang="zh-TW" dirty="0" smtClean="0"/>
              <a:t>Use initialization member list 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4644008" y="1600199"/>
            <a:ext cx="40427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solidFill>
                  <a:srgbClr val="FF0000"/>
                </a:solidFill>
              </a:rPr>
              <a:t>Java</a:t>
            </a:r>
          </a:p>
          <a:p>
            <a:endParaRPr lang="en-US" altLang="zh-TW" b="1" dirty="0" smtClean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79404" y="22048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srgbClr val="421F00"/>
                </a:solidFill>
                <a:latin typeface="Tiresias PCfont Z"/>
              </a:rPr>
              <a:t>In the constructor, if you use </a:t>
            </a:r>
            <a:r>
              <a:rPr lang="en-US" altLang="zh-TW" b="1" dirty="0">
                <a:solidFill>
                  <a:srgbClr val="000475"/>
                </a:solidFill>
                <a:latin typeface="Consolas" panose="020B0609020204030204" pitchFamily="49" charset="0"/>
              </a:rPr>
              <a:t>super()</a:t>
            </a:r>
            <a:r>
              <a:rPr lang="en-US" altLang="zh-TW" dirty="0">
                <a:solidFill>
                  <a:srgbClr val="421F00"/>
                </a:solidFill>
                <a:latin typeface="Tiresias PCfont Z"/>
              </a:rPr>
              <a:t>, it must be the very first code, and you can not access any </a:t>
            </a:r>
            <a:r>
              <a:rPr lang="en-US" altLang="zh-TW" b="1" dirty="0">
                <a:solidFill>
                  <a:srgbClr val="000475"/>
                </a:solidFill>
                <a:latin typeface="Consolas" panose="020B0609020204030204" pitchFamily="49" charset="0"/>
              </a:rPr>
              <a:t>this</a:t>
            </a:r>
            <a:r>
              <a:rPr lang="en-US" altLang="zh-TW" dirty="0">
                <a:solidFill>
                  <a:srgbClr val="421F00"/>
                </a:solidFill>
                <a:latin typeface="Tiresias PCfont Z"/>
              </a:rPr>
              <a:t>. </a:t>
            </a:r>
            <a:r>
              <a:rPr lang="en-US" altLang="zh-TW" dirty="0">
                <a:solidFill>
                  <a:srgbClr val="008B8B"/>
                </a:solidFill>
                <a:latin typeface="Consolas" panose="020B0609020204030204" pitchFamily="49" charset="0"/>
              </a:rPr>
              <a:t>xxx</a:t>
            </a:r>
            <a:r>
              <a:rPr lang="en-US" altLang="zh-TW" dirty="0">
                <a:solidFill>
                  <a:srgbClr val="421F00"/>
                </a:solidFill>
                <a:latin typeface="Tiresias PCfont Z"/>
              </a:rPr>
              <a:t> variables or methods to compute its parameters.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417179"/>
            <a:ext cx="3542928" cy="3164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291</Words>
  <Application>Microsoft Office PowerPoint</Application>
  <PresentationFormat>如螢幕大小 (4:3)</PresentationFormat>
  <Paragraphs>84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Tiresias PCfont Z</vt:lpstr>
      <vt:lpstr>新細明體</vt:lpstr>
      <vt:lpstr>Arial</vt:lpstr>
      <vt:lpstr>Calibri</vt:lpstr>
      <vt:lpstr>Consolas</vt:lpstr>
      <vt:lpstr>Office 佈景主題</vt:lpstr>
      <vt:lpstr>Comparison of C++ and Java</vt:lpstr>
      <vt:lpstr>Pass parameters to base class</vt:lpstr>
      <vt:lpstr>Array </vt:lpstr>
      <vt:lpstr>Parameter Passing to methods</vt:lpstr>
      <vt:lpstr>Object allocation</vt:lpstr>
      <vt:lpstr>Abstract class</vt:lpstr>
      <vt:lpstr>Inheritance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C++ and Java</dc:title>
  <cp:lastModifiedBy>user</cp:lastModifiedBy>
  <cp:revision>5</cp:revision>
  <dcterms:modified xsi:type="dcterms:W3CDTF">2013-10-31T05:34:58Z</dcterms:modified>
</cp:coreProperties>
</file>