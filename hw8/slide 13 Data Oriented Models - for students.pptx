
<file path=[Content_Types].xml><?xml version="1.0" encoding="utf-8"?>
<Types xmlns="http://schemas.openxmlformats.org/package/2006/content-types">
  <Default ContentType="application/vnd.openxmlformats-officedocument.vmlDrawing" Extension="vml"/>
  <Default ContentType="application/x-fontdata" Extension="fntdata"/>
  <Default ContentType="application/vnd.openxmlformats-officedocument.oleObject" Extension="bin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oleObject" PartName="/ppt/embeddings/oleObject13.bin"/>
  <Override ContentType="application/vnd.openxmlformats-officedocument.oleObject" PartName="/ppt/embeddings/oleObject9.bin"/>
  <Override ContentType="application/vnd.openxmlformats-officedocument.oleObject" PartName="/ppt/embeddings/oleObject6.bin"/>
  <Override ContentType="application/vnd.openxmlformats-officedocument.oleObject" PartName="/ppt/embeddings/oleObject4.bin"/>
  <Override ContentType="application/vnd.openxmlformats-officedocument.oleObject" PartName="/ppt/embeddings/oleObject1.bin"/>
  <Override ContentType="application/vnd.openxmlformats-officedocument.oleObject" PartName="/ppt/embeddings/oleObject11.bin"/>
  <Override ContentType="application/vnd.openxmlformats-officedocument.oleObject" PartName="/ppt/embeddings/oleObject8.bin"/>
  <Override ContentType="application/vnd.openxmlformats-officedocument.oleObject" PartName="/ppt/embeddings/oleObject14.bin"/>
  <Override ContentType="application/vnd.openxmlformats-officedocument.oleObject" PartName="/ppt/embeddings/oleObject12.bin"/>
  <Override ContentType="application/vnd.openxmlformats-officedocument.oleObject" PartName="/ppt/embeddings/oleObject3.bin"/>
  <Override ContentType="application/vnd.openxmlformats-officedocument.oleObject" PartName="/ppt/embeddings/oleObject5.bin"/>
  <Override ContentType="application/vnd.openxmlformats-officedocument.oleObject" PartName="/ppt/embeddings/oleObject7.bin"/>
  <Override ContentType="application/vnd.openxmlformats-officedocument.oleObject" PartName="/ppt/embeddings/oleObject2.bin"/>
  <Override ContentType="application/vnd.openxmlformats-officedocument.oleObject" PartName="/ppt/embeddings/oleObject10.bin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0" r:id="rId6"/>
    <p:sldMasterId id="2147483652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</p:sldIdLst>
  <p:sldSz cy="6858000" cx="9144000"/>
  <p:notesSz cx="6858000" cy="9144000"/>
  <p:embeddedFontLst>
    <p:embeddedFont>
      <p:font typeface="Century Schoolbook"/>
      <p:regular r:id="rId70"/>
      <p:bold r:id="rId71"/>
      <p:italic r:id="rId72"/>
      <p:boldItalic r:id="rId73"/>
    </p:embeddedFont>
    <p:embeddedFont>
      <p:font typeface="Noto Sans Symbols"/>
      <p:regular r:id="rId74"/>
      <p:bold r:id="rId7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6" roundtripDataSignature="AMtx7mjjuWun6CElsRS+4WzhuW6ybBXo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9D07636-7856-4C42-ABBA-2780AEB86C70}">
  <a:tblStyle styleId="{F9D07636-7856-4C42-ABBA-2780AEB86C70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2.xml"/><Relationship Id="rId42" Type="http://schemas.openxmlformats.org/officeDocument/2006/relationships/slide" Target="slides/slide34.xml"/><Relationship Id="rId41" Type="http://schemas.openxmlformats.org/officeDocument/2006/relationships/slide" Target="slides/slide33.xml"/><Relationship Id="rId44" Type="http://schemas.openxmlformats.org/officeDocument/2006/relationships/slide" Target="slides/slide36.xml"/><Relationship Id="rId43" Type="http://schemas.openxmlformats.org/officeDocument/2006/relationships/slide" Target="slides/slide35.xml"/><Relationship Id="rId46" Type="http://schemas.openxmlformats.org/officeDocument/2006/relationships/slide" Target="slides/slide38.xml"/><Relationship Id="rId45" Type="http://schemas.openxmlformats.org/officeDocument/2006/relationships/slide" Target="slides/slide3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48" Type="http://schemas.openxmlformats.org/officeDocument/2006/relationships/slide" Target="slides/slide40.xml"/><Relationship Id="rId47" Type="http://schemas.openxmlformats.org/officeDocument/2006/relationships/slide" Target="slides/slide39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73" Type="http://schemas.openxmlformats.org/officeDocument/2006/relationships/font" Target="fonts/CenturySchoolbook-boldItalic.fntdata"/><Relationship Id="rId72" Type="http://schemas.openxmlformats.org/officeDocument/2006/relationships/font" Target="fonts/CenturySchoolbook-italic.fntdata"/><Relationship Id="rId31" Type="http://schemas.openxmlformats.org/officeDocument/2006/relationships/slide" Target="slides/slide23.xml"/><Relationship Id="rId75" Type="http://schemas.openxmlformats.org/officeDocument/2006/relationships/font" Target="fonts/NotoSansSymbols-bold.fntdata"/><Relationship Id="rId30" Type="http://schemas.openxmlformats.org/officeDocument/2006/relationships/slide" Target="slides/slide22.xml"/><Relationship Id="rId74" Type="http://schemas.openxmlformats.org/officeDocument/2006/relationships/font" Target="fonts/NotoSansSymbols-regular.fntdata"/><Relationship Id="rId33" Type="http://schemas.openxmlformats.org/officeDocument/2006/relationships/slide" Target="slides/slide25.xml"/><Relationship Id="rId32" Type="http://schemas.openxmlformats.org/officeDocument/2006/relationships/slide" Target="slides/slide24.xml"/><Relationship Id="rId76" Type="http://customschemas.google.com/relationships/presentationmetadata" Target="metadata"/><Relationship Id="rId35" Type="http://schemas.openxmlformats.org/officeDocument/2006/relationships/slide" Target="slides/slide27.xml"/><Relationship Id="rId34" Type="http://schemas.openxmlformats.org/officeDocument/2006/relationships/slide" Target="slides/slide26.xml"/><Relationship Id="rId71" Type="http://schemas.openxmlformats.org/officeDocument/2006/relationships/font" Target="fonts/CenturySchoolbook-bold.fntdata"/><Relationship Id="rId70" Type="http://schemas.openxmlformats.org/officeDocument/2006/relationships/font" Target="fonts/CenturySchoolbook-regular.fntdata"/><Relationship Id="rId37" Type="http://schemas.openxmlformats.org/officeDocument/2006/relationships/slide" Target="slides/slide29.xml"/><Relationship Id="rId36" Type="http://schemas.openxmlformats.org/officeDocument/2006/relationships/slide" Target="slides/slide28.xml"/><Relationship Id="rId39" Type="http://schemas.openxmlformats.org/officeDocument/2006/relationships/slide" Target="slides/slide31.xml"/><Relationship Id="rId38" Type="http://schemas.openxmlformats.org/officeDocument/2006/relationships/slide" Target="slides/slide30.xml"/><Relationship Id="rId62" Type="http://schemas.openxmlformats.org/officeDocument/2006/relationships/slide" Target="slides/slide54.xml"/><Relationship Id="rId61" Type="http://schemas.openxmlformats.org/officeDocument/2006/relationships/slide" Target="slides/slide53.xml"/><Relationship Id="rId20" Type="http://schemas.openxmlformats.org/officeDocument/2006/relationships/slide" Target="slides/slide12.xml"/><Relationship Id="rId64" Type="http://schemas.openxmlformats.org/officeDocument/2006/relationships/slide" Target="slides/slide56.xml"/><Relationship Id="rId63" Type="http://schemas.openxmlformats.org/officeDocument/2006/relationships/slide" Target="slides/slide55.xml"/><Relationship Id="rId22" Type="http://schemas.openxmlformats.org/officeDocument/2006/relationships/slide" Target="slides/slide14.xml"/><Relationship Id="rId66" Type="http://schemas.openxmlformats.org/officeDocument/2006/relationships/slide" Target="slides/slide58.xml"/><Relationship Id="rId21" Type="http://schemas.openxmlformats.org/officeDocument/2006/relationships/slide" Target="slides/slide13.xml"/><Relationship Id="rId65" Type="http://schemas.openxmlformats.org/officeDocument/2006/relationships/slide" Target="slides/slide57.xml"/><Relationship Id="rId24" Type="http://schemas.openxmlformats.org/officeDocument/2006/relationships/slide" Target="slides/slide16.xml"/><Relationship Id="rId68" Type="http://schemas.openxmlformats.org/officeDocument/2006/relationships/slide" Target="slides/slide60.xml"/><Relationship Id="rId23" Type="http://schemas.openxmlformats.org/officeDocument/2006/relationships/slide" Target="slides/slide15.xml"/><Relationship Id="rId67" Type="http://schemas.openxmlformats.org/officeDocument/2006/relationships/slide" Target="slides/slide59.xml"/><Relationship Id="rId60" Type="http://schemas.openxmlformats.org/officeDocument/2006/relationships/slide" Target="slides/slide52.xml"/><Relationship Id="rId26" Type="http://schemas.openxmlformats.org/officeDocument/2006/relationships/slide" Target="slides/slide18.xml"/><Relationship Id="rId25" Type="http://schemas.openxmlformats.org/officeDocument/2006/relationships/slide" Target="slides/slide17.xml"/><Relationship Id="rId69" Type="http://schemas.openxmlformats.org/officeDocument/2006/relationships/slide" Target="slides/slide61.xml"/><Relationship Id="rId28" Type="http://schemas.openxmlformats.org/officeDocument/2006/relationships/slide" Target="slides/slide20.xml"/><Relationship Id="rId27" Type="http://schemas.openxmlformats.org/officeDocument/2006/relationships/slide" Target="slides/slide19.xml"/><Relationship Id="rId29" Type="http://schemas.openxmlformats.org/officeDocument/2006/relationships/slide" Target="slides/slide21.xml"/><Relationship Id="rId51" Type="http://schemas.openxmlformats.org/officeDocument/2006/relationships/slide" Target="slides/slide43.xml"/><Relationship Id="rId50" Type="http://schemas.openxmlformats.org/officeDocument/2006/relationships/slide" Target="slides/slide42.xml"/><Relationship Id="rId53" Type="http://schemas.openxmlformats.org/officeDocument/2006/relationships/slide" Target="slides/slide45.xml"/><Relationship Id="rId52" Type="http://schemas.openxmlformats.org/officeDocument/2006/relationships/slide" Target="slides/slide44.xml"/><Relationship Id="rId11" Type="http://schemas.openxmlformats.org/officeDocument/2006/relationships/slide" Target="slides/slide3.xml"/><Relationship Id="rId55" Type="http://schemas.openxmlformats.org/officeDocument/2006/relationships/slide" Target="slides/slide47.xml"/><Relationship Id="rId10" Type="http://schemas.openxmlformats.org/officeDocument/2006/relationships/slide" Target="slides/slide2.xml"/><Relationship Id="rId54" Type="http://schemas.openxmlformats.org/officeDocument/2006/relationships/slide" Target="slides/slide46.xml"/><Relationship Id="rId13" Type="http://schemas.openxmlformats.org/officeDocument/2006/relationships/slide" Target="slides/slide5.xml"/><Relationship Id="rId57" Type="http://schemas.openxmlformats.org/officeDocument/2006/relationships/slide" Target="slides/slide49.xml"/><Relationship Id="rId12" Type="http://schemas.openxmlformats.org/officeDocument/2006/relationships/slide" Target="slides/slide4.xml"/><Relationship Id="rId56" Type="http://schemas.openxmlformats.org/officeDocument/2006/relationships/slide" Target="slides/slide48.xml"/><Relationship Id="rId15" Type="http://schemas.openxmlformats.org/officeDocument/2006/relationships/slide" Target="slides/slide7.xml"/><Relationship Id="rId59" Type="http://schemas.openxmlformats.org/officeDocument/2006/relationships/slide" Target="slides/slide51.xml"/><Relationship Id="rId14" Type="http://schemas.openxmlformats.org/officeDocument/2006/relationships/slide" Target="slides/slide6.xml"/><Relationship Id="rId58" Type="http://schemas.openxmlformats.org/officeDocument/2006/relationships/slide" Target="slides/slide50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/Relationships>
</file>

<file path=ppt/drawings/_rels/vmlDrawing4.v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1.png"/><Relationship Id="rId3" Type="http://schemas.openxmlformats.org/officeDocument/2006/relationships/image" Target="../media/image1.png"/></Relationships>
</file>

<file path=ppt/drawings/_rels/vmlDrawing5.vml.rels><?xml version="1.0" encoding="UTF-8" standalone="yes"?><Relationships xmlns="http://schemas.openxmlformats.org/package/2006/relationships"><Relationship Id="rId1" Type="http://schemas.openxmlformats.org/officeDocument/2006/relationships/image" Target="../media/image21.png"/></Relationships>
</file>

<file path=ppt/drawings/_rels/vmlDrawing6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21.png"/></Relationships>
</file>

<file path=ppt/drawings/_rels/vmlDrawing7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8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9.vml.rels><?xml version="1.0" encoding="UTF-8" standalone="yes"?><Relationships xmlns="http://schemas.openxmlformats.org/package/2006/relationships"><Relationship Id="rId1" Type="http://schemas.openxmlformats.org/officeDocument/2006/relationships/image" Target="../media/image14.png"/></Relationships>
</file>

<file path=ppt/drawings/_rels/vmlDrawing10.vml.rels><?xml version="1.0" encoding="UTF-8" standalone="yes"?><Relationships xmlns="http://schemas.openxmlformats.org/package/2006/relationships"><Relationship Id="rId1" Type="http://schemas.openxmlformats.org/officeDocument/2006/relationships/image" Target="../media/image21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2" name="Google Shape;142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" name="Google Shape;157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4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" name="Google Shape;197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" name="Google Shape;207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0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3" name="Google Shape;253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0" name="Google Shape;260;p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1" name="Google Shape;271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7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9" name="Google Shape;279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9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0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4" name="Google Shape;304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8" name="Google Shape;318;p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3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5" name="Google Shape;325;p2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4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2" name="Google Shape;33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5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9" name="Google Shape;339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7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3" name="Google Shape;353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8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0" name="Google Shape;360;p2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9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7" name="Google Shape;367;p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0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4" name="Google Shape;374;p3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1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1" name="Google Shape;381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2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3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5" name="Google Shape;395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4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2" name="Google Shape;402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5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3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6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7" name="Google Shape;417;p3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7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p3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8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1" name="Google Shape;441;p3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9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8" name="Google Shape;448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40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8" name="Google Shape;458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41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9" name="Google Shape;469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2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6" name="Google Shape;486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43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4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7" name="Google Shape;527;p4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45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8" name="Google Shape;558;p4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6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6" name="Google Shape;576;p4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7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7" name="Google Shape;607;p4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8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14" name="Google Shape;614;p4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49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1" name="Google Shape;621;p4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50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8" name="Google Shape;628;p5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1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8" name="Google Shape;648;p5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2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p5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53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6" name="Google Shape;686;p5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54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7" name="Google Shape;707;p5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55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4" name="Google Shape;714;p5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56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8" name="Google Shape;728;p5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6" name="Google Shape;736;p57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8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3" name="Google Shape;743;p5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59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0" name="Google Shape;750;p5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7" name="Google Shape;757;p60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6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1:notes"/>
          <p:cNvSpPr/>
          <p:nvPr>
            <p:ph idx="2" type="sldImg"/>
          </p:nvPr>
        </p:nvSpPr>
        <p:spPr>
          <a:xfrm>
            <a:off x="1144587" y="688975"/>
            <a:ext cx="4568825" cy="34258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投影片" type="title">
  <p:cSld name="TITLE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3"/>
          <p:cNvSpPr txBox="1"/>
          <p:nvPr>
            <p:ph type="ctrTitle"/>
          </p:nvPr>
        </p:nvSpPr>
        <p:spPr>
          <a:xfrm>
            <a:off x="685800" y="1600200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57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3"/>
          <p:cNvSpPr txBox="1"/>
          <p:nvPr>
            <p:ph idx="1" type="subTitle"/>
          </p:nvPr>
        </p:nvSpPr>
        <p:spPr>
          <a:xfrm>
            <a:off x="1371600" y="37338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720"/>
              </a:spcBef>
              <a:spcAft>
                <a:spcPts val="0"/>
              </a:spcAft>
              <a:buSzPts val="2520"/>
              <a:buFont typeface="Noto Sans Symbols"/>
              <a:buNone/>
              <a:defRPr sz="3600"/>
            </a:lvl1pPr>
            <a:lvl2pPr lvl="1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lvl="2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3pPr>
            <a:lvl4pPr lvl="3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lvl="4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5pPr>
            <a:lvl6pPr lvl="5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6pPr>
            <a:lvl7pPr lvl="6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7pPr>
            <a:lvl8pPr lvl="7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8pPr>
            <a:lvl9pPr lvl="8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9pPr>
          </a:lstStyle>
          <a:p/>
        </p:txBody>
      </p:sp>
      <p:sp>
        <p:nvSpPr>
          <p:cNvPr id="30" name="Google Shape;30;p63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物件" type="obj">
  <p:cSld name="OBJEC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5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9pPr>
          </a:lstStyle>
          <a:p/>
        </p:txBody>
      </p:sp>
      <p:sp>
        <p:nvSpPr>
          <p:cNvPr id="58" name="Google Shape;58;p65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5"/>
          <p:cNvSpPr txBox="1"/>
          <p:nvPr>
            <p:ph idx="12" type="sldNum"/>
          </p:nvPr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7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7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7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標題" type="titleOnly">
  <p:cSld name="TITLE_ONLY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8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68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8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項物件" type="twoObj">
  <p:cSld name="TWO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6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69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◆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–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◆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–"/>
              <a:defRPr sz="1800"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9pPr>
          </a:lstStyle>
          <a:p/>
        </p:txBody>
      </p:sp>
      <p:sp>
        <p:nvSpPr>
          <p:cNvPr id="95" name="Google Shape;95;p69"/>
          <p:cNvSpPr txBox="1"/>
          <p:nvPr>
            <p:ph idx="2" type="body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3060" lvl="0" marL="457200" algn="l">
              <a:spcBef>
                <a:spcPts val="560"/>
              </a:spcBef>
              <a:spcAft>
                <a:spcPts val="0"/>
              </a:spcAft>
              <a:buSzPts val="1960"/>
              <a:buChar char="◆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–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◆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Char char="–"/>
              <a:defRPr sz="1800"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9pPr>
          </a:lstStyle>
          <a:p/>
        </p:txBody>
      </p:sp>
      <p:sp>
        <p:nvSpPr>
          <p:cNvPr id="96" name="Google Shape;96;p69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9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9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直排標題及文字" type="vertTitleAndTx">
  <p:cSld name="VERTICAL_TITLE_AND_VERTICAL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0"/>
          <p:cNvSpPr txBox="1"/>
          <p:nvPr>
            <p:ph type="title"/>
          </p:nvPr>
        </p:nvSpPr>
        <p:spPr>
          <a:xfrm rot="5400000">
            <a:off x="4731544" y="2175669"/>
            <a:ext cx="5853112" cy="20574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70"/>
          <p:cNvSpPr txBox="1"/>
          <p:nvPr>
            <p:ph idx="1" type="body"/>
          </p:nvPr>
        </p:nvSpPr>
        <p:spPr>
          <a:xfrm rot="5400000">
            <a:off x="540544" y="194469"/>
            <a:ext cx="5853112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9pPr>
          </a:lstStyle>
          <a:p/>
        </p:txBody>
      </p:sp>
      <p:sp>
        <p:nvSpPr>
          <p:cNvPr id="102" name="Google Shape;102;p70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70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70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及直排文字" type="vertTx">
  <p:cSld name="VERTICAL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71"/>
          <p:cNvSpPr txBox="1"/>
          <p:nvPr>
            <p:ph idx="1" type="body"/>
          </p:nvPr>
        </p:nvSpPr>
        <p:spPr>
          <a:xfrm rot="5400000">
            <a:off x="2306638" y="-249237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8610" lvl="0" marL="4572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Char char="–"/>
              <a:defRPr/>
            </a:lvl4pPr>
            <a:lvl5pPr indent="-308610" lvl="4" marL="22860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5pPr>
            <a:lvl6pPr indent="-308610" lvl="5" marL="27432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6pPr>
            <a:lvl7pPr indent="-308610" lvl="6" marL="32004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7pPr>
            <a:lvl8pPr indent="-308609" lvl="7" marL="36576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8pPr>
            <a:lvl9pPr indent="-308609" lvl="8" marL="41148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/>
            </a:lvl9pPr>
          </a:lstStyle>
          <a:p/>
        </p:txBody>
      </p:sp>
      <p:sp>
        <p:nvSpPr>
          <p:cNvPr id="108" name="Google Shape;108;p71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1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71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圖片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7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7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15" name="Google Shape;115;p7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7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7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標題的內容" type="objTx">
  <p:cSld name="OBJECT_WITH_CAPTIO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1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7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algn="l">
              <a:spcBef>
                <a:spcPts val="640"/>
              </a:spcBef>
              <a:spcAft>
                <a:spcPts val="0"/>
              </a:spcAft>
              <a:buSzPts val="2240"/>
              <a:buChar char="◆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Char char="–"/>
              <a:defRPr sz="28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◆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  <a:defRPr sz="2000"/>
            </a:lvl4pPr>
            <a:lvl5pPr indent="-317500" lvl="4" marL="2286000" algn="l">
              <a:spcBef>
                <a:spcPts val="400"/>
              </a:spcBef>
              <a:spcAft>
                <a:spcPts val="0"/>
              </a:spcAft>
              <a:buSzPts val="1400"/>
              <a:buChar char="◆"/>
              <a:defRPr sz="2000"/>
            </a:lvl5pPr>
            <a:lvl6pPr indent="-317500" lvl="5" marL="2743200" algn="l">
              <a:spcBef>
                <a:spcPts val="400"/>
              </a:spcBef>
              <a:spcAft>
                <a:spcPts val="0"/>
              </a:spcAft>
              <a:buSzPts val="1400"/>
              <a:buChar char="◆"/>
              <a:defRPr sz="2000"/>
            </a:lvl6pPr>
            <a:lvl7pPr indent="-317500" lvl="6" marL="3200400" algn="l">
              <a:spcBef>
                <a:spcPts val="400"/>
              </a:spcBef>
              <a:spcAft>
                <a:spcPts val="0"/>
              </a:spcAft>
              <a:buSzPts val="1400"/>
              <a:buChar char="◆"/>
              <a:defRPr sz="2000"/>
            </a:lvl7pPr>
            <a:lvl8pPr indent="-317500" lvl="7" marL="3657600" algn="l">
              <a:spcBef>
                <a:spcPts val="400"/>
              </a:spcBef>
              <a:spcAft>
                <a:spcPts val="0"/>
              </a:spcAft>
              <a:buSzPts val="1400"/>
              <a:buChar char="◆"/>
              <a:defRPr sz="2000"/>
            </a:lvl8pPr>
            <a:lvl9pPr indent="-317500" lvl="8" marL="4114800" algn="l">
              <a:spcBef>
                <a:spcPts val="400"/>
              </a:spcBef>
              <a:spcAft>
                <a:spcPts val="0"/>
              </a:spcAft>
              <a:buSzPts val="1400"/>
              <a:buChar char="◆"/>
              <a:defRPr sz="2000"/>
            </a:lvl9pPr>
          </a:lstStyle>
          <a:p/>
        </p:txBody>
      </p:sp>
      <p:sp>
        <p:nvSpPr>
          <p:cNvPr id="121" name="Google Shape;121;p7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lt1"/>
              </a:buClr>
              <a:buSzPts val="900"/>
              <a:buFont typeface="Verdana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SzPts val="630"/>
              <a:buNone/>
              <a:defRPr sz="900"/>
            </a:lvl9pPr>
          </a:lstStyle>
          <a:p/>
        </p:txBody>
      </p:sp>
      <p:sp>
        <p:nvSpPr>
          <p:cNvPr id="122" name="Google Shape;122;p73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73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73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對" type="twoTxTwoObj">
  <p:cSld name="TWO_OBJECTS_WITH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7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28" name="Google Shape;128;p7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◆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Char char="–"/>
              <a:defRPr sz="1600"/>
            </a:lvl4pPr>
            <a:lvl5pPr indent="-299720" lvl="4" marL="2286000" algn="l">
              <a:spcBef>
                <a:spcPts val="320"/>
              </a:spcBef>
              <a:spcAft>
                <a:spcPts val="0"/>
              </a:spcAft>
              <a:buSzPts val="1120"/>
              <a:buChar char="◆"/>
              <a:defRPr sz="1600"/>
            </a:lvl5pPr>
            <a:lvl6pPr indent="-299720" lvl="5" marL="2743200" algn="l">
              <a:spcBef>
                <a:spcPts val="320"/>
              </a:spcBef>
              <a:spcAft>
                <a:spcPts val="0"/>
              </a:spcAft>
              <a:buSzPts val="1120"/>
              <a:buChar char="◆"/>
              <a:defRPr sz="1600"/>
            </a:lvl6pPr>
            <a:lvl7pPr indent="-299720" lvl="6" marL="3200400" algn="l">
              <a:spcBef>
                <a:spcPts val="320"/>
              </a:spcBef>
              <a:spcAft>
                <a:spcPts val="0"/>
              </a:spcAft>
              <a:buSzPts val="1120"/>
              <a:buChar char="◆"/>
              <a:defRPr sz="1600"/>
            </a:lvl7pPr>
            <a:lvl8pPr indent="-299720" lvl="7" marL="3657600" algn="l">
              <a:spcBef>
                <a:spcPts val="320"/>
              </a:spcBef>
              <a:spcAft>
                <a:spcPts val="0"/>
              </a:spcAft>
              <a:buSzPts val="1120"/>
              <a:buChar char="◆"/>
              <a:defRPr sz="1600"/>
            </a:lvl8pPr>
            <a:lvl9pPr indent="-299720" lvl="8" marL="4114800" algn="l">
              <a:spcBef>
                <a:spcPts val="320"/>
              </a:spcBef>
              <a:spcAft>
                <a:spcPts val="0"/>
              </a:spcAft>
              <a:buSzPts val="1120"/>
              <a:buChar char="◆"/>
              <a:defRPr sz="1600"/>
            </a:lvl9pPr>
          </a:lstStyle>
          <a:p/>
        </p:txBody>
      </p:sp>
      <p:sp>
        <p:nvSpPr>
          <p:cNvPr id="129" name="Google Shape;129;p7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68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9pPr>
          </a:lstStyle>
          <a:p/>
        </p:txBody>
      </p:sp>
      <p:sp>
        <p:nvSpPr>
          <p:cNvPr id="130" name="Google Shape;130;p7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5280" lvl="0" marL="457200" algn="l">
              <a:spcBef>
                <a:spcPts val="480"/>
              </a:spcBef>
              <a:spcAft>
                <a:spcPts val="0"/>
              </a:spcAft>
              <a:buSzPts val="1680"/>
              <a:buChar char="◆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◆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Char char="–"/>
              <a:defRPr sz="1600"/>
            </a:lvl4pPr>
            <a:lvl5pPr indent="-299720" lvl="4" marL="2286000" algn="l">
              <a:spcBef>
                <a:spcPts val="320"/>
              </a:spcBef>
              <a:spcAft>
                <a:spcPts val="0"/>
              </a:spcAft>
              <a:buSzPts val="1120"/>
              <a:buChar char="◆"/>
              <a:defRPr sz="1600"/>
            </a:lvl5pPr>
            <a:lvl6pPr indent="-299720" lvl="5" marL="2743200" algn="l">
              <a:spcBef>
                <a:spcPts val="320"/>
              </a:spcBef>
              <a:spcAft>
                <a:spcPts val="0"/>
              </a:spcAft>
              <a:buSzPts val="1120"/>
              <a:buChar char="◆"/>
              <a:defRPr sz="1600"/>
            </a:lvl6pPr>
            <a:lvl7pPr indent="-299720" lvl="6" marL="3200400" algn="l">
              <a:spcBef>
                <a:spcPts val="320"/>
              </a:spcBef>
              <a:spcAft>
                <a:spcPts val="0"/>
              </a:spcAft>
              <a:buSzPts val="1120"/>
              <a:buChar char="◆"/>
              <a:defRPr sz="1600"/>
            </a:lvl7pPr>
            <a:lvl8pPr indent="-299720" lvl="7" marL="3657600" algn="l">
              <a:spcBef>
                <a:spcPts val="320"/>
              </a:spcBef>
              <a:spcAft>
                <a:spcPts val="0"/>
              </a:spcAft>
              <a:buSzPts val="1120"/>
              <a:buChar char="◆"/>
              <a:defRPr sz="1600"/>
            </a:lvl8pPr>
            <a:lvl9pPr indent="-299720" lvl="8" marL="4114800" algn="l">
              <a:spcBef>
                <a:spcPts val="320"/>
              </a:spcBef>
              <a:spcAft>
                <a:spcPts val="0"/>
              </a:spcAft>
              <a:buSzPts val="1120"/>
              <a:buChar char="◆"/>
              <a:defRPr sz="1600"/>
            </a:lvl9pPr>
          </a:lstStyle>
          <a:p/>
        </p:txBody>
      </p:sp>
      <p:sp>
        <p:nvSpPr>
          <p:cNvPr id="131" name="Google Shape;131;p7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4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區段標題" type="secHead">
  <p:cSld name="SECTION_HEAD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1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7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4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Verdana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9pPr>
          </a:lstStyle>
          <a:p/>
        </p:txBody>
      </p:sp>
      <p:sp>
        <p:nvSpPr>
          <p:cNvPr id="137" name="Google Shape;137;p75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5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75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<Relationship Id="rId4" Type="http://schemas.openxmlformats.org/officeDocument/2006/relationships/slideLayout" Target="../slideLayouts/slideLayout6.xml"/><Relationship Id="rId10" Type="http://schemas.openxmlformats.org/officeDocument/2006/relationships/theme" Target="../theme/theme4.xml"/><Relationship Id="rId9" Type="http://schemas.openxmlformats.org/officeDocument/2006/relationships/slideLayout" Target="../slideLayouts/slideLayout11.xml"/><Relationship Id="rId5" Type="http://schemas.openxmlformats.org/officeDocument/2006/relationships/slideLayout" Target="../slideLayouts/slideLayout7.xml"/><Relationship Id="rId6" Type="http://schemas.openxmlformats.org/officeDocument/2006/relationships/slideLayout" Target="../slideLayouts/slideLayout8.xml"/><Relationship Id="rId7" Type="http://schemas.openxmlformats.org/officeDocument/2006/relationships/slideLayout" Target="../slideLayouts/slideLayout9.xml"/><Relationship Id="rId8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100000">
              <a:srgbClr val="5D9E9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62"/>
          <p:cNvGrpSpPr/>
          <p:nvPr/>
        </p:nvGrpSpPr>
        <p:grpSpPr>
          <a:xfrm>
            <a:off x="4716462" y="5345112"/>
            <a:ext cx="4427537" cy="1512887"/>
            <a:chOff x="2971" y="3367"/>
            <a:chExt cx="2789" cy="953"/>
          </a:xfrm>
        </p:grpSpPr>
        <p:sp>
          <p:nvSpPr>
            <p:cNvPr id="7" name="Google Shape;7;p62"/>
            <p:cNvSpPr/>
            <p:nvPr/>
          </p:nvSpPr>
          <p:spPr>
            <a:xfrm>
              <a:off x="2971" y="3367"/>
              <a:ext cx="2789" cy="953"/>
            </a:xfrm>
            <a:custGeom>
              <a:rect b="b" l="l" r="r" t="t"/>
              <a:pathLst>
                <a:path extrusionOk="0" h="953" w="2780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8" name="Google Shape;8;p62"/>
            <p:cNvSpPr/>
            <p:nvPr/>
          </p:nvSpPr>
          <p:spPr>
            <a:xfrm>
              <a:off x="4602" y="4014"/>
              <a:ext cx="12" cy="18"/>
            </a:xfrm>
            <a:custGeom>
              <a:rect b="b" l="l" r="r" t="t"/>
              <a:pathLst>
                <a:path extrusionOk="0" h="18" w="12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9" name="Google Shape;9;p62"/>
            <p:cNvSpPr/>
            <p:nvPr/>
          </p:nvSpPr>
          <p:spPr>
            <a:xfrm>
              <a:off x="4596" y="3996"/>
              <a:ext cx="6" cy="18"/>
            </a:xfrm>
            <a:custGeom>
              <a:rect b="b" l="l" r="r" t="t"/>
              <a:pathLst>
                <a:path extrusionOk="0" h="18" w="6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0" name="Google Shape;10;p62"/>
            <p:cNvSpPr/>
            <p:nvPr/>
          </p:nvSpPr>
          <p:spPr>
            <a:xfrm>
              <a:off x="5180" y="3577"/>
              <a:ext cx="304" cy="741"/>
            </a:xfrm>
            <a:custGeom>
              <a:rect b="b" l="l" r="r" t="t"/>
              <a:pathLst>
                <a:path extrusionOk="0" h="741" w="304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1" name="Google Shape;11;p62"/>
            <p:cNvSpPr/>
            <p:nvPr/>
          </p:nvSpPr>
          <p:spPr>
            <a:xfrm>
              <a:off x="4918" y="3553"/>
              <a:ext cx="314" cy="767"/>
            </a:xfrm>
            <a:custGeom>
              <a:rect b="b" l="l" r="r" t="t"/>
              <a:pathLst>
                <a:path extrusionOk="0" h="767" w="314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2" name="Google Shape;12;p62"/>
            <p:cNvSpPr/>
            <p:nvPr/>
          </p:nvSpPr>
          <p:spPr>
            <a:xfrm>
              <a:off x="4700" y="3697"/>
              <a:ext cx="275" cy="623"/>
            </a:xfrm>
            <a:custGeom>
              <a:rect b="b" l="l" r="r" t="t"/>
              <a:pathLst>
                <a:path extrusionOk="0" h="623" w="275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3" name="Google Shape;13;p62"/>
            <p:cNvSpPr/>
            <p:nvPr/>
          </p:nvSpPr>
          <p:spPr>
            <a:xfrm>
              <a:off x="4522" y="3709"/>
              <a:ext cx="213" cy="611"/>
            </a:xfrm>
            <a:custGeom>
              <a:rect b="b" l="l" r="r" t="t"/>
              <a:pathLst>
                <a:path extrusionOk="0" h="611" w="213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4" name="Google Shape;14;p62"/>
            <p:cNvSpPr/>
            <p:nvPr/>
          </p:nvSpPr>
          <p:spPr>
            <a:xfrm>
              <a:off x="4292" y="3936"/>
              <a:ext cx="167" cy="384"/>
            </a:xfrm>
            <a:custGeom>
              <a:rect b="b" l="l" r="r" t="t"/>
              <a:pathLst>
                <a:path extrusionOk="0" h="384" w="167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5" name="Google Shape;15;p62"/>
            <p:cNvSpPr/>
            <p:nvPr/>
          </p:nvSpPr>
          <p:spPr>
            <a:xfrm>
              <a:off x="4100" y="4020"/>
              <a:ext cx="166" cy="300"/>
            </a:xfrm>
            <a:custGeom>
              <a:rect b="b" l="l" r="r" t="t"/>
              <a:pathLst>
                <a:path extrusionOk="0" h="300" w="166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6" name="Google Shape;16;p62"/>
            <p:cNvSpPr/>
            <p:nvPr/>
          </p:nvSpPr>
          <p:spPr>
            <a:xfrm>
              <a:off x="3910" y="4038"/>
              <a:ext cx="237" cy="282"/>
            </a:xfrm>
            <a:custGeom>
              <a:rect b="b" l="l" r="r" t="t"/>
              <a:pathLst>
                <a:path extrusionOk="0" h="282" w="237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7" name="Google Shape;17;p62"/>
            <p:cNvSpPr/>
            <p:nvPr/>
          </p:nvSpPr>
          <p:spPr>
            <a:xfrm>
              <a:off x="3674" y="4086"/>
              <a:ext cx="196" cy="234"/>
            </a:xfrm>
            <a:custGeom>
              <a:rect b="b" l="l" r="r" t="t"/>
              <a:pathLst>
                <a:path extrusionOk="0" h="234" w="196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" name="Google Shape;18;p62"/>
            <p:cNvSpPr/>
            <p:nvPr/>
          </p:nvSpPr>
          <p:spPr>
            <a:xfrm>
              <a:off x="3476" y="4068"/>
              <a:ext cx="190" cy="252"/>
            </a:xfrm>
            <a:custGeom>
              <a:rect b="b" l="l" r="r" t="t"/>
              <a:pathLst>
                <a:path extrusionOk="0" h="252" w="190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9" name="Google Shape;19;p62"/>
            <p:cNvSpPr/>
            <p:nvPr/>
          </p:nvSpPr>
          <p:spPr>
            <a:xfrm>
              <a:off x="3170" y="4188"/>
              <a:ext cx="230" cy="132"/>
            </a:xfrm>
            <a:custGeom>
              <a:rect b="b" l="l" r="r" t="t"/>
              <a:pathLst>
                <a:path extrusionOk="0" h="132" w="230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0" name="Google Shape;20;p62"/>
            <p:cNvSpPr/>
            <p:nvPr/>
          </p:nvSpPr>
          <p:spPr>
            <a:xfrm>
              <a:off x="3044" y="4218"/>
              <a:ext cx="89" cy="102"/>
            </a:xfrm>
            <a:custGeom>
              <a:rect b="b" l="l" r="r" t="t"/>
              <a:pathLst>
                <a:path extrusionOk="0" h="102" w="89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21" name="Google Shape;21;p62"/>
            <p:cNvSpPr/>
            <p:nvPr/>
          </p:nvSpPr>
          <p:spPr>
            <a:xfrm>
              <a:off x="5482" y="3367"/>
              <a:ext cx="278" cy="953"/>
            </a:xfrm>
            <a:custGeom>
              <a:rect b="b" l="l" r="r" t="t"/>
              <a:pathLst>
                <a:path extrusionOk="0" h="953" w="278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22" name="Google Shape;22;p6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6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Char char="–"/>
              <a:defRPr b="0" i="0" sz="2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  <a:defRPr b="0" i="0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4" name="Google Shape;24;p62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5" name="Google Shape;25;p62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26" name="Google Shape;26;p62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>
    <p:randomBar dir="vert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100000">
              <a:srgbClr val="5D9E9E"/>
            </a:gs>
          </a:gsLst>
          <a:lin ang="5400000" scaled="0"/>
        </a:gra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oogle Shape;34;p64"/>
          <p:cNvGrpSpPr/>
          <p:nvPr/>
        </p:nvGrpSpPr>
        <p:grpSpPr>
          <a:xfrm>
            <a:off x="4716462" y="5345112"/>
            <a:ext cx="4427537" cy="1512887"/>
            <a:chOff x="2971" y="3367"/>
            <a:chExt cx="2789" cy="953"/>
          </a:xfrm>
        </p:grpSpPr>
        <p:sp>
          <p:nvSpPr>
            <p:cNvPr id="35" name="Google Shape;35;p64"/>
            <p:cNvSpPr/>
            <p:nvPr/>
          </p:nvSpPr>
          <p:spPr>
            <a:xfrm>
              <a:off x="2971" y="3367"/>
              <a:ext cx="2789" cy="953"/>
            </a:xfrm>
            <a:custGeom>
              <a:rect b="b" l="l" r="r" t="t"/>
              <a:pathLst>
                <a:path extrusionOk="0" h="953" w="2780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6" name="Google Shape;36;p64"/>
            <p:cNvSpPr/>
            <p:nvPr/>
          </p:nvSpPr>
          <p:spPr>
            <a:xfrm>
              <a:off x="4602" y="4014"/>
              <a:ext cx="12" cy="18"/>
            </a:xfrm>
            <a:custGeom>
              <a:rect b="b" l="l" r="r" t="t"/>
              <a:pathLst>
                <a:path extrusionOk="0" h="18" w="12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7" name="Google Shape;37;p64"/>
            <p:cNvSpPr/>
            <p:nvPr/>
          </p:nvSpPr>
          <p:spPr>
            <a:xfrm>
              <a:off x="4596" y="3996"/>
              <a:ext cx="6" cy="18"/>
            </a:xfrm>
            <a:custGeom>
              <a:rect b="b" l="l" r="r" t="t"/>
              <a:pathLst>
                <a:path extrusionOk="0" h="18" w="6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8" name="Google Shape;38;p64"/>
            <p:cNvSpPr/>
            <p:nvPr/>
          </p:nvSpPr>
          <p:spPr>
            <a:xfrm>
              <a:off x="5180" y="3577"/>
              <a:ext cx="304" cy="741"/>
            </a:xfrm>
            <a:custGeom>
              <a:rect b="b" l="l" r="r" t="t"/>
              <a:pathLst>
                <a:path extrusionOk="0" h="741" w="304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39" name="Google Shape;39;p64"/>
            <p:cNvSpPr/>
            <p:nvPr/>
          </p:nvSpPr>
          <p:spPr>
            <a:xfrm>
              <a:off x="4918" y="3553"/>
              <a:ext cx="314" cy="767"/>
            </a:xfrm>
            <a:custGeom>
              <a:rect b="b" l="l" r="r" t="t"/>
              <a:pathLst>
                <a:path extrusionOk="0" h="767" w="314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0" name="Google Shape;40;p64"/>
            <p:cNvSpPr/>
            <p:nvPr/>
          </p:nvSpPr>
          <p:spPr>
            <a:xfrm>
              <a:off x="4700" y="3697"/>
              <a:ext cx="275" cy="623"/>
            </a:xfrm>
            <a:custGeom>
              <a:rect b="b" l="l" r="r" t="t"/>
              <a:pathLst>
                <a:path extrusionOk="0" h="623" w="275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1" name="Google Shape;41;p64"/>
            <p:cNvSpPr/>
            <p:nvPr/>
          </p:nvSpPr>
          <p:spPr>
            <a:xfrm>
              <a:off x="4522" y="3709"/>
              <a:ext cx="213" cy="611"/>
            </a:xfrm>
            <a:custGeom>
              <a:rect b="b" l="l" r="r" t="t"/>
              <a:pathLst>
                <a:path extrusionOk="0" h="611" w="213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2" name="Google Shape;42;p64"/>
            <p:cNvSpPr/>
            <p:nvPr/>
          </p:nvSpPr>
          <p:spPr>
            <a:xfrm>
              <a:off x="4292" y="3936"/>
              <a:ext cx="167" cy="384"/>
            </a:xfrm>
            <a:custGeom>
              <a:rect b="b" l="l" r="r" t="t"/>
              <a:pathLst>
                <a:path extrusionOk="0" h="384" w="167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3" name="Google Shape;43;p64"/>
            <p:cNvSpPr/>
            <p:nvPr/>
          </p:nvSpPr>
          <p:spPr>
            <a:xfrm>
              <a:off x="4100" y="4020"/>
              <a:ext cx="166" cy="300"/>
            </a:xfrm>
            <a:custGeom>
              <a:rect b="b" l="l" r="r" t="t"/>
              <a:pathLst>
                <a:path extrusionOk="0" h="300" w="166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4" name="Google Shape;44;p64"/>
            <p:cNvSpPr/>
            <p:nvPr/>
          </p:nvSpPr>
          <p:spPr>
            <a:xfrm>
              <a:off x="3910" y="4038"/>
              <a:ext cx="237" cy="282"/>
            </a:xfrm>
            <a:custGeom>
              <a:rect b="b" l="l" r="r" t="t"/>
              <a:pathLst>
                <a:path extrusionOk="0" h="282" w="237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5" name="Google Shape;45;p64"/>
            <p:cNvSpPr/>
            <p:nvPr/>
          </p:nvSpPr>
          <p:spPr>
            <a:xfrm>
              <a:off x="3674" y="4086"/>
              <a:ext cx="196" cy="234"/>
            </a:xfrm>
            <a:custGeom>
              <a:rect b="b" l="l" r="r" t="t"/>
              <a:pathLst>
                <a:path extrusionOk="0" h="234" w="196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6" name="Google Shape;46;p64"/>
            <p:cNvSpPr/>
            <p:nvPr/>
          </p:nvSpPr>
          <p:spPr>
            <a:xfrm>
              <a:off x="3476" y="4068"/>
              <a:ext cx="190" cy="252"/>
            </a:xfrm>
            <a:custGeom>
              <a:rect b="b" l="l" r="r" t="t"/>
              <a:pathLst>
                <a:path extrusionOk="0" h="252" w="190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7" name="Google Shape;47;p64"/>
            <p:cNvSpPr/>
            <p:nvPr/>
          </p:nvSpPr>
          <p:spPr>
            <a:xfrm>
              <a:off x="3170" y="4188"/>
              <a:ext cx="230" cy="132"/>
            </a:xfrm>
            <a:custGeom>
              <a:rect b="b" l="l" r="r" t="t"/>
              <a:pathLst>
                <a:path extrusionOk="0" h="132" w="230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8" name="Google Shape;48;p64"/>
            <p:cNvSpPr/>
            <p:nvPr/>
          </p:nvSpPr>
          <p:spPr>
            <a:xfrm>
              <a:off x="3044" y="4218"/>
              <a:ext cx="89" cy="102"/>
            </a:xfrm>
            <a:custGeom>
              <a:rect b="b" l="l" r="r" t="t"/>
              <a:pathLst>
                <a:path extrusionOk="0" h="102" w="89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49" name="Google Shape;49;p64"/>
            <p:cNvSpPr/>
            <p:nvPr/>
          </p:nvSpPr>
          <p:spPr>
            <a:xfrm>
              <a:off x="5482" y="3367"/>
              <a:ext cx="278" cy="953"/>
            </a:xfrm>
            <a:custGeom>
              <a:rect b="b" l="l" r="r" t="t"/>
              <a:pathLst>
                <a:path extrusionOk="0" h="953" w="278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50" name="Google Shape;50;p6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p6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Char char="–"/>
              <a:defRPr b="0" i="0" sz="2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  <a:defRPr b="0" i="0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2" name="Google Shape;52;p64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3" name="Google Shape;53;p64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54" name="Google Shape;54;p64"/>
          <p:cNvSpPr txBox="1"/>
          <p:nvPr>
            <p:ph idx="12" type="sldNum"/>
          </p:nvPr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transition>
    <p:randomBar dir="vert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dk2"/>
            </a:gs>
            <a:gs pos="100000">
              <a:srgbClr val="5D9E9E"/>
            </a:gs>
          </a:gsLst>
          <a:lin ang="5400000" scaled="0"/>
        </a:gra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66"/>
          <p:cNvGrpSpPr/>
          <p:nvPr/>
        </p:nvGrpSpPr>
        <p:grpSpPr>
          <a:xfrm>
            <a:off x="4716462" y="5345112"/>
            <a:ext cx="4427537" cy="1512887"/>
            <a:chOff x="2971" y="3367"/>
            <a:chExt cx="2789" cy="953"/>
          </a:xfrm>
        </p:grpSpPr>
        <p:sp>
          <p:nvSpPr>
            <p:cNvPr id="63" name="Google Shape;63;p66"/>
            <p:cNvSpPr/>
            <p:nvPr/>
          </p:nvSpPr>
          <p:spPr>
            <a:xfrm>
              <a:off x="2971" y="3367"/>
              <a:ext cx="2789" cy="953"/>
            </a:xfrm>
            <a:custGeom>
              <a:rect b="b" l="l" r="r" t="t"/>
              <a:pathLst>
                <a:path extrusionOk="0" h="953" w="2780">
                  <a:moveTo>
                    <a:pt x="2780" y="24"/>
                  </a:moveTo>
                  <a:lnTo>
                    <a:pt x="2774" y="24"/>
                  </a:lnTo>
                  <a:lnTo>
                    <a:pt x="2774" y="18"/>
                  </a:lnTo>
                  <a:lnTo>
                    <a:pt x="2768" y="18"/>
                  </a:lnTo>
                  <a:lnTo>
                    <a:pt x="2756" y="12"/>
                  </a:lnTo>
                  <a:lnTo>
                    <a:pt x="2738" y="6"/>
                  </a:lnTo>
                  <a:lnTo>
                    <a:pt x="2714" y="0"/>
                  </a:lnTo>
                  <a:lnTo>
                    <a:pt x="2678" y="24"/>
                  </a:lnTo>
                  <a:lnTo>
                    <a:pt x="2643" y="54"/>
                  </a:lnTo>
                  <a:lnTo>
                    <a:pt x="2619" y="90"/>
                  </a:lnTo>
                  <a:lnTo>
                    <a:pt x="2613" y="96"/>
                  </a:lnTo>
                  <a:lnTo>
                    <a:pt x="2613" y="102"/>
                  </a:lnTo>
                  <a:lnTo>
                    <a:pt x="2601" y="108"/>
                  </a:lnTo>
                  <a:lnTo>
                    <a:pt x="2583" y="120"/>
                  </a:lnTo>
                  <a:lnTo>
                    <a:pt x="2541" y="132"/>
                  </a:lnTo>
                  <a:lnTo>
                    <a:pt x="2511" y="156"/>
                  </a:lnTo>
                  <a:lnTo>
                    <a:pt x="2511" y="204"/>
                  </a:lnTo>
                  <a:lnTo>
                    <a:pt x="2511" y="210"/>
                  </a:lnTo>
                  <a:lnTo>
                    <a:pt x="2505" y="216"/>
                  </a:lnTo>
                  <a:lnTo>
                    <a:pt x="2505" y="222"/>
                  </a:lnTo>
                  <a:lnTo>
                    <a:pt x="2499" y="228"/>
                  </a:lnTo>
                  <a:lnTo>
                    <a:pt x="2499" y="240"/>
                  </a:lnTo>
                  <a:lnTo>
                    <a:pt x="2493" y="246"/>
                  </a:lnTo>
                  <a:lnTo>
                    <a:pt x="2487" y="246"/>
                  </a:lnTo>
                  <a:lnTo>
                    <a:pt x="2487" y="252"/>
                  </a:lnTo>
                  <a:lnTo>
                    <a:pt x="2481" y="252"/>
                  </a:lnTo>
                  <a:lnTo>
                    <a:pt x="2475" y="252"/>
                  </a:lnTo>
                  <a:lnTo>
                    <a:pt x="2469" y="252"/>
                  </a:lnTo>
                  <a:lnTo>
                    <a:pt x="2457" y="252"/>
                  </a:lnTo>
                  <a:lnTo>
                    <a:pt x="2439" y="258"/>
                  </a:lnTo>
                  <a:lnTo>
                    <a:pt x="2415" y="222"/>
                  </a:lnTo>
                  <a:lnTo>
                    <a:pt x="2397" y="210"/>
                  </a:lnTo>
                  <a:lnTo>
                    <a:pt x="2373" y="216"/>
                  </a:lnTo>
                  <a:lnTo>
                    <a:pt x="2332" y="216"/>
                  </a:lnTo>
                  <a:lnTo>
                    <a:pt x="2296" y="204"/>
                  </a:lnTo>
                  <a:lnTo>
                    <a:pt x="2260" y="192"/>
                  </a:lnTo>
                  <a:lnTo>
                    <a:pt x="2248" y="186"/>
                  </a:lnTo>
                  <a:lnTo>
                    <a:pt x="2242" y="186"/>
                  </a:lnTo>
                  <a:lnTo>
                    <a:pt x="2236" y="186"/>
                  </a:lnTo>
                  <a:lnTo>
                    <a:pt x="2230" y="186"/>
                  </a:lnTo>
                  <a:lnTo>
                    <a:pt x="2224" y="192"/>
                  </a:lnTo>
                  <a:lnTo>
                    <a:pt x="2218" y="192"/>
                  </a:lnTo>
                  <a:lnTo>
                    <a:pt x="2212" y="198"/>
                  </a:lnTo>
                  <a:lnTo>
                    <a:pt x="2194" y="204"/>
                  </a:lnTo>
                  <a:lnTo>
                    <a:pt x="2170" y="210"/>
                  </a:lnTo>
                  <a:lnTo>
                    <a:pt x="2146" y="228"/>
                  </a:lnTo>
                  <a:lnTo>
                    <a:pt x="2122" y="240"/>
                  </a:lnTo>
                  <a:lnTo>
                    <a:pt x="2116" y="240"/>
                  </a:lnTo>
                  <a:lnTo>
                    <a:pt x="2110" y="240"/>
                  </a:lnTo>
                  <a:lnTo>
                    <a:pt x="2104" y="240"/>
                  </a:lnTo>
                  <a:lnTo>
                    <a:pt x="2098" y="246"/>
                  </a:lnTo>
                  <a:lnTo>
                    <a:pt x="2092" y="246"/>
                  </a:lnTo>
                  <a:lnTo>
                    <a:pt x="2086" y="246"/>
                  </a:lnTo>
                  <a:lnTo>
                    <a:pt x="2080" y="252"/>
                  </a:lnTo>
                  <a:lnTo>
                    <a:pt x="2080" y="258"/>
                  </a:lnTo>
                  <a:lnTo>
                    <a:pt x="2074" y="258"/>
                  </a:lnTo>
                  <a:lnTo>
                    <a:pt x="2074" y="264"/>
                  </a:lnTo>
                  <a:lnTo>
                    <a:pt x="2074" y="270"/>
                  </a:lnTo>
                  <a:lnTo>
                    <a:pt x="2074" y="276"/>
                  </a:lnTo>
                  <a:lnTo>
                    <a:pt x="2069" y="288"/>
                  </a:lnTo>
                  <a:lnTo>
                    <a:pt x="2057" y="300"/>
                  </a:lnTo>
                  <a:lnTo>
                    <a:pt x="2051" y="300"/>
                  </a:lnTo>
                  <a:lnTo>
                    <a:pt x="2045" y="300"/>
                  </a:lnTo>
                  <a:lnTo>
                    <a:pt x="2039" y="306"/>
                  </a:lnTo>
                  <a:lnTo>
                    <a:pt x="2033" y="306"/>
                  </a:lnTo>
                  <a:lnTo>
                    <a:pt x="2033" y="312"/>
                  </a:lnTo>
                  <a:lnTo>
                    <a:pt x="2027" y="312"/>
                  </a:lnTo>
                  <a:lnTo>
                    <a:pt x="2027" y="318"/>
                  </a:lnTo>
                  <a:lnTo>
                    <a:pt x="2021" y="324"/>
                  </a:lnTo>
                  <a:lnTo>
                    <a:pt x="2015" y="330"/>
                  </a:lnTo>
                  <a:lnTo>
                    <a:pt x="2009" y="336"/>
                  </a:lnTo>
                  <a:lnTo>
                    <a:pt x="1997" y="336"/>
                  </a:lnTo>
                  <a:lnTo>
                    <a:pt x="1991" y="342"/>
                  </a:lnTo>
                  <a:lnTo>
                    <a:pt x="1985" y="342"/>
                  </a:lnTo>
                  <a:lnTo>
                    <a:pt x="1979" y="342"/>
                  </a:lnTo>
                  <a:lnTo>
                    <a:pt x="1961" y="336"/>
                  </a:lnTo>
                  <a:lnTo>
                    <a:pt x="1925" y="336"/>
                  </a:lnTo>
                  <a:lnTo>
                    <a:pt x="1919" y="336"/>
                  </a:lnTo>
                  <a:lnTo>
                    <a:pt x="1913" y="336"/>
                  </a:lnTo>
                  <a:lnTo>
                    <a:pt x="1895" y="330"/>
                  </a:lnTo>
                  <a:lnTo>
                    <a:pt x="1889" y="330"/>
                  </a:lnTo>
                  <a:lnTo>
                    <a:pt x="1883" y="330"/>
                  </a:lnTo>
                  <a:lnTo>
                    <a:pt x="1877" y="330"/>
                  </a:lnTo>
                  <a:lnTo>
                    <a:pt x="1871" y="336"/>
                  </a:lnTo>
                  <a:lnTo>
                    <a:pt x="1865" y="342"/>
                  </a:lnTo>
                  <a:lnTo>
                    <a:pt x="1859" y="348"/>
                  </a:lnTo>
                  <a:lnTo>
                    <a:pt x="1853" y="354"/>
                  </a:lnTo>
                  <a:lnTo>
                    <a:pt x="1847" y="354"/>
                  </a:lnTo>
                  <a:lnTo>
                    <a:pt x="1835" y="360"/>
                  </a:lnTo>
                  <a:lnTo>
                    <a:pt x="1829" y="360"/>
                  </a:lnTo>
                  <a:lnTo>
                    <a:pt x="1823" y="360"/>
                  </a:lnTo>
                  <a:lnTo>
                    <a:pt x="1817" y="360"/>
                  </a:lnTo>
                  <a:lnTo>
                    <a:pt x="1776" y="342"/>
                  </a:lnTo>
                  <a:lnTo>
                    <a:pt x="1770" y="342"/>
                  </a:lnTo>
                  <a:lnTo>
                    <a:pt x="1764" y="342"/>
                  </a:lnTo>
                  <a:lnTo>
                    <a:pt x="1758" y="342"/>
                  </a:lnTo>
                  <a:lnTo>
                    <a:pt x="1746" y="342"/>
                  </a:lnTo>
                  <a:lnTo>
                    <a:pt x="1740" y="342"/>
                  </a:lnTo>
                  <a:lnTo>
                    <a:pt x="1734" y="342"/>
                  </a:lnTo>
                  <a:lnTo>
                    <a:pt x="1728" y="348"/>
                  </a:lnTo>
                  <a:lnTo>
                    <a:pt x="1722" y="348"/>
                  </a:lnTo>
                  <a:lnTo>
                    <a:pt x="1716" y="354"/>
                  </a:lnTo>
                  <a:lnTo>
                    <a:pt x="1704" y="366"/>
                  </a:lnTo>
                  <a:lnTo>
                    <a:pt x="1698" y="378"/>
                  </a:lnTo>
                  <a:lnTo>
                    <a:pt x="1674" y="402"/>
                  </a:lnTo>
                  <a:lnTo>
                    <a:pt x="1656" y="425"/>
                  </a:lnTo>
                  <a:lnTo>
                    <a:pt x="1632" y="461"/>
                  </a:lnTo>
                  <a:lnTo>
                    <a:pt x="1614" y="509"/>
                  </a:lnTo>
                  <a:lnTo>
                    <a:pt x="1614" y="563"/>
                  </a:lnTo>
                  <a:lnTo>
                    <a:pt x="1614" y="569"/>
                  </a:lnTo>
                  <a:lnTo>
                    <a:pt x="1614" y="575"/>
                  </a:lnTo>
                  <a:lnTo>
                    <a:pt x="1614" y="581"/>
                  </a:lnTo>
                  <a:lnTo>
                    <a:pt x="1614" y="587"/>
                  </a:lnTo>
                  <a:lnTo>
                    <a:pt x="1614" y="593"/>
                  </a:lnTo>
                  <a:lnTo>
                    <a:pt x="1614" y="599"/>
                  </a:lnTo>
                  <a:lnTo>
                    <a:pt x="1614" y="605"/>
                  </a:lnTo>
                  <a:lnTo>
                    <a:pt x="1614" y="617"/>
                  </a:lnTo>
                  <a:lnTo>
                    <a:pt x="1620" y="641"/>
                  </a:lnTo>
                  <a:lnTo>
                    <a:pt x="1626" y="641"/>
                  </a:lnTo>
                  <a:lnTo>
                    <a:pt x="1632" y="647"/>
                  </a:lnTo>
                  <a:lnTo>
                    <a:pt x="1632" y="659"/>
                  </a:lnTo>
                  <a:lnTo>
                    <a:pt x="1638" y="659"/>
                  </a:lnTo>
                  <a:lnTo>
                    <a:pt x="1638" y="665"/>
                  </a:lnTo>
                  <a:lnTo>
                    <a:pt x="1638" y="671"/>
                  </a:lnTo>
                  <a:lnTo>
                    <a:pt x="1632" y="671"/>
                  </a:lnTo>
                  <a:lnTo>
                    <a:pt x="1632" y="677"/>
                  </a:lnTo>
                  <a:lnTo>
                    <a:pt x="1626" y="677"/>
                  </a:lnTo>
                  <a:lnTo>
                    <a:pt x="1620" y="683"/>
                  </a:lnTo>
                  <a:lnTo>
                    <a:pt x="1596" y="689"/>
                  </a:lnTo>
                  <a:lnTo>
                    <a:pt x="1572" y="689"/>
                  </a:lnTo>
                  <a:lnTo>
                    <a:pt x="1548" y="689"/>
                  </a:lnTo>
                  <a:lnTo>
                    <a:pt x="1542" y="689"/>
                  </a:lnTo>
                  <a:lnTo>
                    <a:pt x="1536" y="689"/>
                  </a:lnTo>
                  <a:lnTo>
                    <a:pt x="1518" y="683"/>
                  </a:lnTo>
                  <a:lnTo>
                    <a:pt x="1495" y="671"/>
                  </a:lnTo>
                  <a:lnTo>
                    <a:pt x="1465" y="629"/>
                  </a:lnTo>
                  <a:lnTo>
                    <a:pt x="1435" y="599"/>
                  </a:lnTo>
                  <a:lnTo>
                    <a:pt x="1405" y="581"/>
                  </a:lnTo>
                  <a:lnTo>
                    <a:pt x="1375" y="563"/>
                  </a:lnTo>
                  <a:lnTo>
                    <a:pt x="1333" y="587"/>
                  </a:lnTo>
                  <a:lnTo>
                    <a:pt x="1303" y="653"/>
                  </a:lnTo>
                  <a:lnTo>
                    <a:pt x="1261" y="665"/>
                  </a:lnTo>
                  <a:lnTo>
                    <a:pt x="1219" y="653"/>
                  </a:lnTo>
                  <a:lnTo>
                    <a:pt x="1184" y="671"/>
                  </a:lnTo>
                  <a:lnTo>
                    <a:pt x="1136" y="671"/>
                  </a:lnTo>
                  <a:lnTo>
                    <a:pt x="1106" y="671"/>
                  </a:lnTo>
                  <a:lnTo>
                    <a:pt x="1076" y="707"/>
                  </a:lnTo>
                  <a:lnTo>
                    <a:pt x="1016" y="731"/>
                  </a:lnTo>
                  <a:lnTo>
                    <a:pt x="944" y="761"/>
                  </a:lnTo>
                  <a:lnTo>
                    <a:pt x="921" y="773"/>
                  </a:lnTo>
                  <a:lnTo>
                    <a:pt x="867" y="773"/>
                  </a:lnTo>
                  <a:lnTo>
                    <a:pt x="813" y="743"/>
                  </a:lnTo>
                  <a:lnTo>
                    <a:pt x="783" y="719"/>
                  </a:lnTo>
                  <a:lnTo>
                    <a:pt x="741" y="713"/>
                  </a:lnTo>
                  <a:lnTo>
                    <a:pt x="693" y="701"/>
                  </a:lnTo>
                  <a:lnTo>
                    <a:pt x="628" y="701"/>
                  </a:lnTo>
                  <a:lnTo>
                    <a:pt x="616" y="701"/>
                  </a:lnTo>
                  <a:lnTo>
                    <a:pt x="598" y="695"/>
                  </a:lnTo>
                  <a:lnTo>
                    <a:pt x="580" y="695"/>
                  </a:lnTo>
                  <a:lnTo>
                    <a:pt x="568" y="695"/>
                  </a:lnTo>
                  <a:lnTo>
                    <a:pt x="562" y="701"/>
                  </a:lnTo>
                  <a:lnTo>
                    <a:pt x="556" y="701"/>
                  </a:lnTo>
                  <a:lnTo>
                    <a:pt x="550" y="707"/>
                  </a:lnTo>
                  <a:lnTo>
                    <a:pt x="544" y="713"/>
                  </a:lnTo>
                  <a:lnTo>
                    <a:pt x="520" y="731"/>
                  </a:lnTo>
                  <a:lnTo>
                    <a:pt x="496" y="749"/>
                  </a:lnTo>
                  <a:lnTo>
                    <a:pt x="460" y="785"/>
                  </a:lnTo>
                  <a:lnTo>
                    <a:pt x="454" y="791"/>
                  </a:lnTo>
                  <a:lnTo>
                    <a:pt x="436" y="809"/>
                  </a:lnTo>
                  <a:lnTo>
                    <a:pt x="424" y="815"/>
                  </a:lnTo>
                  <a:lnTo>
                    <a:pt x="418" y="821"/>
                  </a:lnTo>
                  <a:lnTo>
                    <a:pt x="412" y="821"/>
                  </a:lnTo>
                  <a:lnTo>
                    <a:pt x="406" y="821"/>
                  </a:lnTo>
                  <a:lnTo>
                    <a:pt x="400" y="821"/>
                  </a:lnTo>
                  <a:lnTo>
                    <a:pt x="394" y="821"/>
                  </a:lnTo>
                  <a:lnTo>
                    <a:pt x="388" y="821"/>
                  </a:lnTo>
                  <a:lnTo>
                    <a:pt x="382" y="821"/>
                  </a:lnTo>
                  <a:lnTo>
                    <a:pt x="370" y="821"/>
                  </a:lnTo>
                  <a:lnTo>
                    <a:pt x="358" y="821"/>
                  </a:lnTo>
                  <a:lnTo>
                    <a:pt x="352" y="821"/>
                  </a:lnTo>
                  <a:lnTo>
                    <a:pt x="335" y="827"/>
                  </a:lnTo>
                  <a:lnTo>
                    <a:pt x="329" y="827"/>
                  </a:lnTo>
                  <a:lnTo>
                    <a:pt x="233" y="839"/>
                  </a:lnTo>
                  <a:lnTo>
                    <a:pt x="227" y="845"/>
                  </a:lnTo>
                  <a:lnTo>
                    <a:pt x="209" y="851"/>
                  </a:lnTo>
                  <a:lnTo>
                    <a:pt x="197" y="851"/>
                  </a:lnTo>
                  <a:lnTo>
                    <a:pt x="185" y="857"/>
                  </a:lnTo>
                  <a:lnTo>
                    <a:pt x="179" y="857"/>
                  </a:lnTo>
                  <a:lnTo>
                    <a:pt x="173" y="857"/>
                  </a:lnTo>
                  <a:lnTo>
                    <a:pt x="167" y="857"/>
                  </a:lnTo>
                  <a:lnTo>
                    <a:pt x="149" y="851"/>
                  </a:lnTo>
                  <a:lnTo>
                    <a:pt x="137" y="851"/>
                  </a:lnTo>
                  <a:lnTo>
                    <a:pt x="125" y="851"/>
                  </a:lnTo>
                  <a:lnTo>
                    <a:pt x="119" y="857"/>
                  </a:lnTo>
                  <a:lnTo>
                    <a:pt x="113" y="857"/>
                  </a:lnTo>
                  <a:lnTo>
                    <a:pt x="107" y="857"/>
                  </a:lnTo>
                  <a:lnTo>
                    <a:pt x="101" y="863"/>
                  </a:lnTo>
                  <a:lnTo>
                    <a:pt x="101" y="869"/>
                  </a:lnTo>
                  <a:lnTo>
                    <a:pt x="101" y="875"/>
                  </a:lnTo>
                  <a:lnTo>
                    <a:pt x="95" y="875"/>
                  </a:lnTo>
                  <a:lnTo>
                    <a:pt x="95" y="881"/>
                  </a:lnTo>
                  <a:lnTo>
                    <a:pt x="89" y="881"/>
                  </a:lnTo>
                  <a:lnTo>
                    <a:pt x="83" y="887"/>
                  </a:lnTo>
                  <a:lnTo>
                    <a:pt x="77" y="887"/>
                  </a:lnTo>
                  <a:lnTo>
                    <a:pt x="60" y="893"/>
                  </a:lnTo>
                  <a:lnTo>
                    <a:pt x="54" y="899"/>
                  </a:lnTo>
                  <a:lnTo>
                    <a:pt x="48" y="899"/>
                  </a:lnTo>
                  <a:lnTo>
                    <a:pt x="48" y="905"/>
                  </a:lnTo>
                  <a:lnTo>
                    <a:pt x="0" y="953"/>
                  </a:lnTo>
                  <a:lnTo>
                    <a:pt x="2780" y="953"/>
                  </a:lnTo>
                  <a:lnTo>
                    <a:pt x="2780" y="24"/>
                  </a:lnTo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4" name="Google Shape;64;p66"/>
            <p:cNvSpPr/>
            <p:nvPr/>
          </p:nvSpPr>
          <p:spPr>
            <a:xfrm>
              <a:off x="4602" y="4014"/>
              <a:ext cx="12" cy="18"/>
            </a:xfrm>
            <a:custGeom>
              <a:rect b="b" l="l" r="r" t="t"/>
              <a:pathLst>
                <a:path extrusionOk="0" h="18" w="12">
                  <a:moveTo>
                    <a:pt x="12" y="18"/>
                  </a:moveTo>
                  <a:lnTo>
                    <a:pt x="12" y="12"/>
                  </a:lnTo>
                  <a:lnTo>
                    <a:pt x="6" y="6"/>
                  </a:lnTo>
                  <a:lnTo>
                    <a:pt x="6" y="6"/>
                  </a:lnTo>
                  <a:lnTo>
                    <a:pt x="0" y="0"/>
                  </a:lnTo>
                  <a:lnTo>
                    <a:pt x="12" y="18"/>
                  </a:lnTo>
                  <a:lnTo>
                    <a:pt x="12" y="18"/>
                  </a:lnTo>
                  <a:lnTo>
                    <a:pt x="12" y="18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5" name="Google Shape;65;p66"/>
            <p:cNvSpPr/>
            <p:nvPr/>
          </p:nvSpPr>
          <p:spPr>
            <a:xfrm>
              <a:off x="4596" y="3996"/>
              <a:ext cx="6" cy="18"/>
            </a:xfrm>
            <a:custGeom>
              <a:rect b="b" l="l" r="r" t="t"/>
              <a:pathLst>
                <a:path extrusionOk="0" h="18" w="6">
                  <a:moveTo>
                    <a:pt x="0" y="12"/>
                  </a:moveTo>
                  <a:lnTo>
                    <a:pt x="6" y="18"/>
                  </a:lnTo>
                  <a:lnTo>
                    <a:pt x="0" y="0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6" name="Google Shape;66;p66"/>
            <p:cNvSpPr/>
            <p:nvPr/>
          </p:nvSpPr>
          <p:spPr>
            <a:xfrm>
              <a:off x="5180" y="3577"/>
              <a:ext cx="304" cy="741"/>
            </a:xfrm>
            <a:custGeom>
              <a:rect b="b" l="l" r="r" t="t"/>
              <a:pathLst>
                <a:path extrusionOk="0" h="741" w="304">
                  <a:moveTo>
                    <a:pt x="280" y="42"/>
                  </a:moveTo>
                  <a:lnTo>
                    <a:pt x="274" y="42"/>
                  </a:lnTo>
                  <a:lnTo>
                    <a:pt x="268" y="42"/>
                  </a:lnTo>
                  <a:lnTo>
                    <a:pt x="256" y="42"/>
                  </a:lnTo>
                  <a:lnTo>
                    <a:pt x="238" y="48"/>
                  </a:lnTo>
                  <a:lnTo>
                    <a:pt x="214" y="12"/>
                  </a:lnTo>
                  <a:lnTo>
                    <a:pt x="196" y="0"/>
                  </a:lnTo>
                  <a:lnTo>
                    <a:pt x="196" y="0"/>
                  </a:lnTo>
                  <a:lnTo>
                    <a:pt x="164" y="167"/>
                  </a:lnTo>
                  <a:lnTo>
                    <a:pt x="144" y="217"/>
                  </a:lnTo>
                  <a:lnTo>
                    <a:pt x="110" y="281"/>
                  </a:lnTo>
                  <a:lnTo>
                    <a:pt x="96" y="327"/>
                  </a:lnTo>
                  <a:lnTo>
                    <a:pt x="124" y="405"/>
                  </a:lnTo>
                  <a:lnTo>
                    <a:pt x="100" y="463"/>
                  </a:lnTo>
                  <a:lnTo>
                    <a:pt x="68" y="503"/>
                  </a:lnTo>
                  <a:lnTo>
                    <a:pt x="30" y="539"/>
                  </a:lnTo>
                  <a:lnTo>
                    <a:pt x="24" y="613"/>
                  </a:lnTo>
                  <a:lnTo>
                    <a:pt x="0" y="741"/>
                  </a:lnTo>
                  <a:lnTo>
                    <a:pt x="202" y="741"/>
                  </a:lnTo>
                  <a:lnTo>
                    <a:pt x="180" y="639"/>
                  </a:lnTo>
                  <a:lnTo>
                    <a:pt x="192" y="589"/>
                  </a:lnTo>
                  <a:lnTo>
                    <a:pt x="178" y="539"/>
                  </a:lnTo>
                  <a:lnTo>
                    <a:pt x="190" y="499"/>
                  </a:lnTo>
                  <a:lnTo>
                    <a:pt x="184" y="465"/>
                  </a:lnTo>
                  <a:lnTo>
                    <a:pt x="192" y="391"/>
                  </a:lnTo>
                  <a:lnTo>
                    <a:pt x="216" y="313"/>
                  </a:lnTo>
                  <a:lnTo>
                    <a:pt x="238" y="249"/>
                  </a:lnTo>
                  <a:lnTo>
                    <a:pt x="268" y="185"/>
                  </a:lnTo>
                  <a:lnTo>
                    <a:pt x="284" y="159"/>
                  </a:lnTo>
                  <a:lnTo>
                    <a:pt x="304" y="12"/>
                  </a:lnTo>
                  <a:lnTo>
                    <a:pt x="298" y="24"/>
                  </a:lnTo>
                  <a:lnTo>
                    <a:pt x="292" y="30"/>
                  </a:lnTo>
                  <a:lnTo>
                    <a:pt x="292" y="36"/>
                  </a:lnTo>
                  <a:lnTo>
                    <a:pt x="286" y="36"/>
                  </a:lnTo>
                  <a:lnTo>
                    <a:pt x="286" y="42"/>
                  </a:lnTo>
                  <a:lnTo>
                    <a:pt x="280" y="42"/>
                  </a:lnTo>
                  <a:lnTo>
                    <a:pt x="280" y="42"/>
                  </a:lnTo>
                  <a:lnTo>
                    <a:pt x="280" y="4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7" name="Google Shape;67;p66"/>
            <p:cNvSpPr/>
            <p:nvPr/>
          </p:nvSpPr>
          <p:spPr>
            <a:xfrm>
              <a:off x="4918" y="3553"/>
              <a:ext cx="314" cy="767"/>
            </a:xfrm>
            <a:custGeom>
              <a:rect b="b" l="l" r="r" t="t"/>
              <a:pathLst>
                <a:path extrusionOk="0" h="767" w="314">
                  <a:moveTo>
                    <a:pt x="284" y="6"/>
                  </a:moveTo>
                  <a:lnTo>
                    <a:pt x="278" y="6"/>
                  </a:lnTo>
                  <a:lnTo>
                    <a:pt x="272" y="12"/>
                  </a:lnTo>
                  <a:lnTo>
                    <a:pt x="254" y="18"/>
                  </a:lnTo>
                  <a:lnTo>
                    <a:pt x="230" y="24"/>
                  </a:lnTo>
                  <a:lnTo>
                    <a:pt x="206" y="42"/>
                  </a:lnTo>
                  <a:lnTo>
                    <a:pt x="188" y="48"/>
                  </a:lnTo>
                  <a:lnTo>
                    <a:pt x="176" y="54"/>
                  </a:lnTo>
                  <a:lnTo>
                    <a:pt x="170" y="54"/>
                  </a:lnTo>
                  <a:lnTo>
                    <a:pt x="150" y="169"/>
                  </a:lnTo>
                  <a:lnTo>
                    <a:pt x="110" y="225"/>
                  </a:lnTo>
                  <a:lnTo>
                    <a:pt x="54" y="383"/>
                  </a:lnTo>
                  <a:lnTo>
                    <a:pt x="82" y="555"/>
                  </a:lnTo>
                  <a:lnTo>
                    <a:pt x="40" y="679"/>
                  </a:lnTo>
                  <a:lnTo>
                    <a:pt x="0" y="767"/>
                  </a:lnTo>
                  <a:lnTo>
                    <a:pt x="108" y="767"/>
                  </a:lnTo>
                  <a:lnTo>
                    <a:pt x="120" y="611"/>
                  </a:lnTo>
                  <a:lnTo>
                    <a:pt x="148" y="499"/>
                  </a:lnTo>
                  <a:lnTo>
                    <a:pt x="160" y="367"/>
                  </a:lnTo>
                  <a:lnTo>
                    <a:pt x="218" y="327"/>
                  </a:lnTo>
                  <a:lnTo>
                    <a:pt x="238" y="221"/>
                  </a:lnTo>
                  <a:lnTo>
                    <a:pt x="296" y="135"/>
                  </a:lnTo>
                  <a:lnTo>
                    <a:pt x="314" y="0"/>
                  </a:lnTo>
                  <a:lnTo>
                    <a:pt x="302" y="0"/>
                  </a:lnTo>
                  <a:lnTo>
                    <a:pt x="296" y="0"/>
                  </a:lnTo>
                  <a:lnTo>
                    <a:pt x="290" y="0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  <a:lnTo>
                    <a:pt x="284" y="6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8" name="Google Shape;68;p66"/>
            <p:cNvSpPr/>
            <p:nvPr/>
          </p:nvSpPr>
          <p:spPr>
            <a:xfrm>
              <a:off x="4700" y="3697"/>
              <a:ext cx="275" cy="623"/>
            </a:xfrm>
            <a:custGeom>
              <a:rect b="b" l="l" r="r" t="t"/>
              <a:pathLst>
                <a:path extrusionOk="0" h="623" w="275">
                  <a:moveTo>
                    <a:pt x="257" y="12"/>
                  </a:moveTo>
                  <a:lnTo>
                    <a:pt x="239" y="6"/>
                  </a:lnTo>
                  <a:lnTo>
                    <a:pt x="203" y="6"/>
                  </a:lnTo>
                  <a:lnTo>
                    <a:pt x="203" y="6"/>
                  </a:lnTo>
                  <a:lnTo>
                    <a:pt x="197" y="6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6" y="0"/>
                  </a:lnTo>
                  <a:lnTo>
                    <a:pt x="160" y="0"/>
                  </a:lnTo>
                  <a:lnTo>
                    <a:pt x="144" y="117"/>
                  </a:lnTo>
                  <a:lnTo>
                    <a:pt x="128" y="185"/>
                  </a:lnTo>
                  <a:lnTo>
                    <a:pt x="58" y="299"/>
                  </a:lnTo>
                  <a:lnTo>
                    <a:pt x="54" y="441"/>
                  </a:lnTo>
                  <a:lnTo>
                    <a:pt x="24" y="523"/>
                  </a:lnTo>
                  <a:lnTo>
                    <a:pt x="0" y="623"/>
                  </a:lnTo>
                  <a:lnTo>
                    <a:pt x="78" y="623"/>
                  </a:lnTo>
                  <a:lnTo>
                    <a:pt x="92" y="555"/>
                  </a:lnTo>
                  <a:lnTo>
                    <a:pt x="134" y="447"/>
                  </a:lnTo>
                  <a:lnTo>
                    <a:pt x="158" y="315"/>
                  </a:lnTo>
                  <a:lnTo>
                    <a:pt x="184" y="257"/>
                  </a:lnTo>
                  <a:lnTo>
                    <a:pt x="216" y="211"/>
                  </a:lnTo>
                  <a:lnTo>
                    <a:pt x="222" y="145"/>
                  </a:lnTo>
                  <a:lnTo>
                    <a:pt x="240" y="111"/>
                  </a:lnTo>
                  <a:lnTo>
                    <a:pt x="262" y="79"/>
                  </a:lnTo>
                  <a:lnTo>
                    <a:pt x="275" y="6"/>
                  </a:lnTo>
                  <a:lnTo>
                    <a:pt x="263" y="12"/>
                  </a:lnTo>
                  <a:lnTo>
                    <a:pt x="257" y="12"/>
                  </a:lnTo>
                  <a:lnTo>
                    <a:pt x="257" y="12"/>
                  </a:lnTo>
                  <a:lnTo>
                    <a:pt x="257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69" name="Google Shape;69;p66"/>
            <p:cNvSpPr/>
            <p:nvPr/>
          </p:nvSpPr>
          <p:spPr>
            <a:xfrm>
              <a:off x="4522" y="3709"/>
              <a:ext cx="213" cy="611"/>
            </a:xfrm>
            <a:custGeom>
              <a:rect b="b" l="l" r="r" t="t"/>
              <a:pathLst>
                <a:path extrusionOk="0" h="611" w="213">
                  <a:moveTo>
                    <a:pt x="171" y="12"/>
                  </a:moveTo>
                  <a:lnTo>
                    <a:pt x="159" y="24"/>
                  </a:lnTo>
                  <a:lnTo>
                    <a:pt x="153" y="36"/>
                  </a:lnTo>
                  <a:lnTo>
                    <a:pt x="128" y="60"/>
                  </a:lnTo>
                  <a:lnTo>
                    <a:pt x="110" y="83"/>
                  </a:lnTo>
                  <a:lnTo>
                    <a:pt x="86" y="119"/>
                  </a:lnTo>
                  <a:lnTo>
                    <a:pt x="68" y="167"/>
                  </a:lnTo>
                  <a:lnTo>
                    <a:pt x="68" y="221"/>
                  </a:lnTo>
                  <a:lnTo>
                    <a:pt x="68" y="227"/>
                  </a:lnTo>
                  <a:lnTo>
                    <a:pt x="68" y="233"/>
                  </a:lnTo>
                  <a:lnTo>
                    <a:pt x="68" y="239"/>
                  </a:lnTo>
                  <a:lnTo>
                    <a:pt x="68" y="245"/>
                  </a:lnTo>
                  <a:lnTo>
                    <a:pt x="68" y="251"/>
                  </a:lnTo>
                  <a:lnTo>
                    <a:pt x="68" y="251"/>
                  </a:lnTo>
                  <a:lnTo>
                    <a:pt x="68" y="257"/>
                  </a:lnTo>
                  <a:lnTo>
                    <a:pt x="68" y="269"/>
                  </a:lnTo>
                  <a:lnTo>
                    <a:pt x="74" y="287"/>
                  </a:lnTo>
                  <a:lnTo>
                    <a:pt x="80" y="305"/>
                  </a:lnTo>
                  <a:lnTo>
                    <a:pt x="86" y="311"/>
                  </a:lnTo>
                  <a:lnTo>
                    <a:pt x="86" y="311"/>
                  </a:lnTo>
                  <a:lnTo>
                    <a:pt x="92" y="317"/>
                  </a:lnTo>
                  <a:lnTo>
                    <a:pt x="92" y="323"/>
                  </a:lnTo>
                  <a:lnTo>
                    <a:pt x="92" y="323"/>
                  </a:lnTo>
                  <a:lnTo>
                    <a:pt x="24" y="437"/>
                  </a:lnTo>
                  <a:lnTo>
                    <a:pt x="18" y="471"/>
                  </a:lnTo>
                  <a:lnTo>
                    <a:pt x="0" y="547"/>
                  </a:lnTo>
                  <a:lnTo>
                    <a:pt x="50" y="611"/>
                  </a:lnTo>
                  <a:lnTo>
                    <a:pt x="114" y="611"/>
                  </a:lnTo>
                  <a:lnTo>
                    <a:pt x="104" y="555"/>
                  </a:lnTo>
                  <a:lnTo>
                    <a:pt x="120" y="515"/>
                  </a:lnTo>
                  <a:lnTo>
                    <a:pt x="150" y="449"/>
                  </a:lnTo>
                  <a:lnTo>
                    <a:pt x="166" y="377"/>
                  </a:lnTo>
                  <a:lnTo>
                    <a:pt x="156" y="295"/>
                  </a:lnTo>
                  <a:lnTo>
                    <a:pt x="170" y="203"/>
                  </a:lnTo>
                  <a:lnTo>
                    <a:pt x="212" y="95"/>
                  </a:lnTo>
                  <a:lnTo>
                    <a:pt x="213" y="0"/>
                  </a:lnTo>
                  <a:lnTo>
                    <a:pt x="207" y="0"/>
                  </a:lnTo>
                  <a:lnTo>
                    <a:pt x="201" y="0"/>
                  </a:lnTo>
                  <a:lnTo>
                    <a:pt x="195" y="0"/>
                  </a:lnTo>
                  <a:lnTo>
                    <a:pt x="189" y="0"/>
                  </a:lnTo>
                  <a:lnTo>
                    <a:pt x="183" y="6"/>
                  </a:lnTo>
                  <a:lnTo>
                    <a:pt x="177" y="6"/>
                  </a:lnTo>
                  <a:lnTo>
                    <a:pt x="171" y="12"/>
                  </a:lnTo>
                  <a:lnTo>
                    <a:pt x="171" y="12"/>
                  </a:lnTo>
                  <a:lnTo>
                    <a:pt x="171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0" name="Google Shape;70;p66"/>
            <p:cNvSpPr/>
            <p:nvPr/>
          </p:nvSpPr>
          <p:spPr>
            <a:xfrm>
              <a:off x="4292" y="3936"/>
              <a:ext cx="167" cy="384"/>
            </a:xfrm>
            <a:custGeom>
              <a:rect b="b" l="l" r="r" t="t"/>
              <a:pathLst>
                <a:path extrusionOk="0" h="384" w="167">
                  <a:moveTo>
                    <a:pt x="149" y="60"/>
                  </a:moveTo>
                  <a:lnTo>
                    <a:pt x="119" y="30"/>
                  </a:lnTo>
                  <a:lnTo>
                    <a:pt x="89" y="12"/>
                  </a:lnTo>
                  <a:lnTo>
                    <a:pt x="59" y="0"/>
                  </a:lnTo>
                  <a:lnTo>
                    <a:pt x="54" y="70"/>
                  </a:lnTo>
                  <a:lnTo>
                    <a:pt x="46" y="112"/>
                  </a:lnTo>
                  <a:lnTo>
                    <a:pt x="52" y="168"/>
                  </a:lnTo>
                  <a:lnTo>
                    <a:pt x="24" y="194"/>
                  </a:lnTo>
                  <a:lnTo>
                    <a:pt x="16" y="258"/>
                  </a:lnTo>
                  <a:lnTo>
                    <a:pt x="2" y="300"/>
                  </a:lnTo>
                  <a:lnTo>
                    <a:pt x="0" y="352"/>
                  </a:lnTo>
                  <a:lnTo>
                    <a:pt x="47" y="384"/>
                  </a:lnTo>
                  <a:lnTo>
                    <a:pt x="149" y="384"/>
                  </a:lnTo>
                  <a:lnTo>
                    <a:pt x="134" y="350"/>
                  </a:lnTo>
                  <a:lnTo>
                    <a:pt x="104" y="324"/>
                  </a:lnTo>
                  <a:lnTo>
                    <a:pt x="138" y="274"/>
                  </a:lnTo>
                  <a:lnTo>
                    <a:pt x="122" y="220"/>
                  </a:lnTo>
                  <a:lnTo>
                    <a:pt x="132" y="186"/>
                  </a:lnTo>
                  <a:lnTo>
                    <a:pt x="140" y="154"/>
                  </a:lnTo>
                  <a:lnTo>
                    <a:pt x="167" y="90"/>
                  </a:lnTo>
                  <a:lnTo>
                    <a:pt x="149" y="60"/>
                  </a:lnTo>
                  <a:lnTo>
                    <a:pt x="149" y="60"/>
                  </a:lnTo>
                  <a:lnTo>
                    <a:pt x="149" y="6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1" name="Google Shape;71;p66"/>
            <p:cNvSpPr/>
            <p:nvPr/>
          </p:nvSpPr>
          <p:spPr>
            <a:xfrm>
              <a:off x="4100" y="4020"/>
              <a:ext cx="166" cy="300"/>
            </a:xfrm>
            <a:custGeom>
              <a:rect b="b" l="l" r="r" t="t"/>
              <a:pathLst>
                <a:path extrusionOk="0" h="300" w="166">
                  <a:moveTo>
                    <a:pt x="136" y="12"/>
                  </a:moveTo>
                  <a:lnTo>
                    <a:pt x="100" y="0"/>
                  </a:lnTo>
                  <a:lnTo>
                    <a:pt x="78" y="64"/>
                  </a:lnTo>
                  <a:lnTo>
                    <a:pt x="70" y="126"/>
                  </a:lnTo>
                  <a:lnTo>
                    <a:pt x="46" y="184"/>
                  </a:lnTo>
                  <a:lnTo>
                    <a:pt x="58" y="232"/>
                  </a:lnTo>
                  <a:lnTo>
                    <a:pt x="38" y="268"/>
                  </a:lnTo>
                  <a:lnTo>
                    <a:pt x="0" y="300"/>
                  </a:lnTo>
                  <a:lnTo>
                    <a:pt x="160" y="300"/>
                  </a:lnTo>
                  <a:lnTo>
                    <a:pt x="136" y="272"/>
                  </a:lnTo>
                  <a:lnTo>
                    <a:pt x="98" y="234"/>
                  </a:lnTo>
                  <a:lnTo>
                    <a:pt x="130" y="188"/>
                  </a:lnTo>
                  <a:lnTo>
                    <a:pt x="138" y="134"/>
                  </a:lnTo>
                  <a:lnTo>
                    <a:pt x="144" y="94"/>
                  </a:lnTo>
                  <a:lnTo>
                    <a:pt x="164" y="60"/>
                  </a:lnTo>
                  <a:lnTo>
                    <a:pt x="166" y="0"/>
                  </a:lnTo>
                  <a:lnTo>
                    <a:pt x="136" y="12"/>
                  </a:lnTo>
                  <a:lnTo>
                    <a:pt x="136" y="12"/>
                  </a:lnTo>
                  <a:lnTo>
                    <a:pt x="136" y="12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2" name="Google Shape;72;p66"/>
            <p:cNvSpPr/>
            <p:nvPr/>
          </p:nvSpPr>
          <p:spPr>
            <a:xfrm>
              <a:off x="3910" y="4038"/>
              <a:ext cx="237" cy="282"/>
            </a:xfrm>
            <a:custGeom>
              <a:rect b="b" l="l" r="r" t="t"/>
              <a:pathLst>
                <a:path extrusionOk="0" h="282" w="237">
                  <a:moveTo>
                    <a:pt x="201" y="0"/>
                  </a:moveTo>
                  <a:lnTo>
                    <a:pt x="183" y="0"/>
                  </a:lnTo>
                  <a:lnTo>
                    <a:pt x="158" y="50"/>
                  </a:lnTo>
                  <a:lnTo>
                    <a:pt x="148" y="92"/>
                  </a:lnTo>
                  <a:lnTo>
                    <a:pt x="120" y="144"/>
                  </a:lnTo>
                  <a:lnTo>
                    <a:pt x="82" y="182"/>
                  </a:lnTo>
                  <a:lnTo>
                    <a:pt x="60" y="232"/>
                  </a:lnTo>
                  <a:lnTo>
                    <a:pt x="0" y="282"/>
                  </a:lnTo>
                  <a:lnTo>
                    <a:pt x="128" y="282"/>
                  </a:lnTo>
                  <a:lnTo>
                    <a:pt x="154" y="254"/>
                  </a:lnTo>
                  <a:lnTo>
                    <a:pt x="158" y="196"/>
                  </a:lnTo>
                  <a:lnTo>
                    <a:pt x="188" y="148"/>
                  </a:lnTo>
                  <a:lnTo>
                    <a:pt x="196" y="70"/>
                  </a:lnTo>
                  <a:lnTo>
                    <a:pt x="237" y="0"/>
                  </a:lnTo>
                  <a:lnTo>
                    <a:pt x="201" y="0"/>
                  </a:lnTo>
                  <a:lnTo>
                    <a:pt x="201" y="0"/>
                  </a:lnTo>
                  <a:lnTo>
                    <a:pt x="201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3" name="Google Shape;73;p66"/>
            <p:cNvSpPr/>
            <p:nvPr/>
          </p:nvSpPr>
          <p:spPr>
            <a:xfrm>
              <a:off x="3674" y="4086"/>
              <a:ext cx="196" cy="234"/>
            </a:xfrm>
            <a:custGeom>
              <a:rect b="b" l="l" r="r" t="t"/>
              <a:pathLst>
                <a:path extrusionOk="0" h="234" w="196">
                  <a:moveTo>
                    <a:pt x="167" y="54"/>
                  </a:moveTo>
                  <a:lnTo>
                    <a:pt x="113" y="24"/>
                  </a:lnTo>
                  <a:lnTo>
                    <a:pt x="83" y="0"/>
                  </a:lnTo>
                  <a:lnTo>
                    <a:pt x="80" y="62"/>
                  </a:lnTo>
                  <a:lnTo>
                    <a:pt x="58" y="100"/>
                  </a:lnTo>
                  <a:lnTo>
                    <a:pt x="54" y="160"/>
                  </a:lnTo>
                  <a:lnTo>
                    <a:pt x="36" y="202"/>
                  </a:lnTo>
                  <a:lnTo>
                    <a:pt x="0" y="234"/>
                  </a:lnTo>
                  <a:lnTo>
                    <a:pt x="146" y="234"/>
                  </a:lnTo>
                  <a:lnTo>
                    <a:pt x="170" y="198"/>
                  </a:lnTo>
                  <a:lnTo>
                    <a:pt x="158" y="138"/>
                  </a:lnTo>
                  <a:lnTo>
                    <a:pt x="196" y="100"/>
                  </a:lnTo>
                  <a:lnTo>
                    <a:pt x="191" y="54"/>
                  </a:lnTo>
                  <a:lnTo>
                    <a:pt x="167" y="54"/>
                  </a:lnTo>
                  <a:lnTo>
                    <a:pt x="167" y="54"/>
                  </a:lnTo>
                  <a:lnTo>
                    <a:pt x="167" y="54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4" name="Google Shape;74;p66"/>
            <p:cNvSpPr/>
            <p:nvPr/>
          </p:nvSpPr>
          <p:spPr>
            <a:xfrm>
              <a:off x="3476" y="4068"/>
              <a:ext cx="190" cy="252"/>
            </a:xfrm>
            <a:custGeom>
              <a:rect b="b" l="l" r="r" t="t"/>
              <a:pathLst>
                <a:path extrusionOk="0" h="252" w="190">
                  <a:moveTo>
                    <a:pt x="190" y="0"/>
                  </a:moveTo>
                  <a:lnTo>
                    <a:pt x="166" y="0"/>
                  </a:lnTo>
                  <a:lnTo>
                    <a:pt x="158" y="38"/>
                  </a:lnTo>
                  <a:lnTo>
                    <a:pt x="138" y="120"/>
                  </a:lnTo>
                  <a:lnTo>
                    <a:pt x="94" y="180"/>
                  </a:lnTo>
                  <a:lnTo>
                    <a:pt x="62" y="234"/>
                  </a:lnTo>
                  <a:lnTo>
                    <a:pt x="0" y="252"/>
                  </a:lnTo>
                  <a:lnTo>
                    <a:pt x="128" y="252"/>
                  </a:lnTo>
                  <a:lnTo>
                    <a:pt x="142" y="188"/>
                  </a:lnTo>
                  <a:lnTo>
                    <a:pt x="186" y="90"/>
                  </a:lnTo>
                  <a:lnTo>
                    <a:pt x="190" y="38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  <a:lnTo>
                    <a:pt x="190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5" name="Google Shape;75;p66"/>
            <p:cNvSpPr/>
            <p:nvPr/>
          </p:nvSpPr>
          <p:spPr>
            <a:xfrm>
              <a:off x="3170" y="4188"/>
              <a:ext cx="230" cy="132"/>
            </a:xfrm>
            <a:custGeom>
              <a:rect b="b" l="l" r="r" t="t"/>
              <a:pathLst>
                <a:path extrusionOk="0" h="132" w="230">
                  <a:moveTo>
                    <a:pt x="197" y="0"/>
                  </a:moveTo>
                  <a:lnTo>
                    <a:pt x="191" y="0"/>
                  </a:lnTo>
                  <a:lnTo>
                    <a:pt x="185" y="0"/>
                  </a:lnTo>
                  <a:lnTo>
                    <a:pt x="173" y="0"/>
                  </a:lnTo>
                  <a:lnTo>
                    <a:pt x="161" y="0"/>
                  </a:lnTo>
                  <a:lnTo>
                    <a:pt x="155" y="0"/>
                  </a:lnTo>
                  <a:lnTo>
                    <a:pt x="138" y="6"/>
                  </a:lnTo>
                  <a:lnTo>
                    <a:pt x="132" y="6"/>
                  </a:lnTo>
                  <a:lnTo>
                    <a:pt x="35" y="18"/>
                  </a:lnTo>
                  <a:lnTo>
                    <a:pt x="11" y="30"/>
                  </a:lnTo>
                  <a:lnTo>
                    <a:pt x="23" y="54"/>
                  </a:lnTo>
                  <a:lnTo>
                    <a:pt x="0" y="100"/>
                  </a:lnTo>
                  <a:lnTo>
                    <a:pt x="0" y="132"/>
                  </a:lnTo>
                  <a:lnTo>
                    <a:pt x="162" y="132"/>
                  </a:lnTo>
                  <a:lnTo>
                    <a:pt x="204" y="88"/>
                  </a:lnTo>
                  <a:lnTo>
                    <a:pt x="230" y="46"/>
                  </a:lnTo>
                  <a:lnTo>
                    <a:pt x="214" y="24"/>
                  </a:lnTo>
                  <a:lnTo>
                    <a:pt x="215" y="0"/>
                  </a:lnTo>
                  <a:lnTo>
                    <a:pt x="209" y="0"/>
                  </a:lnTo>
                  <a:lnTo>
                    <a:pt x="203" y="0"/>
                  </a:lnTo>
                  <a:lnTo>
                    <a:pt x="203" y="0"/>
                  </a:lnTo>
                  <a:lnTo>
                    <a:pt x="197" y="0"/>
                  </a:lnTo>
                  <a:lnTo>
                    <a:pt x="197" y="0"/>
                  </a:lnTo>
                  <a:lnTo>
                    <a:pt x="197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6" name="Google Shape;76;p66"/>
            <p:cNvSpPr/>
            <p:nvPr/>
          </p:nvSpPr>
          <p:spPr>
            <a:xfrm>
              <a:off x="3044" y="4218"/>
              <a:ext cx="89" cy="102"/>
            </a:xfrm>
            <a:custGeom>
              <a:rect b="b" l="l" r="r" t="t"/>
              <a:pathLst>
                <a:path extrusionOk="0" h="102" w="89">
                  <a:moveTo>
                    <a:pt x="71" y="0"/>
                  </a:moveTo>
                  <a:lnTo>
                    <a:pt x="66" y="48"/>
                  </a:lnTo>
                  <a:lnTo>
                    <a:pt x="30" y="72"/>
                  </a:lnTo>
                  <a:lnTo>
                    <a:pt x="0" y="102"/>
                  </a:lnTo>
                  <a:lnTo>
                    <a:pt x="66" y="102"/>
                  </a:lnTo>
                  <a:lnTo>
                    <a:pt x="88" y="56"/>
                  </a:lnTo>
                  <a:lnTo>
                    <a:pt x="89" y="6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1" y="0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77" name="Google Shape;77;p66"/>
            <p:cNvSpPr/>
            <p:nvPr/>
          </p:nvSpPr>
          <p:spPr>
            <a:xfrm>
              <a:off x="5482" y="3367"/>
              <a:ext cx="278" cy="953"/>
            </a:xfrm>
            <a:custGeom>
              <a:rect b="b" l="l" r="r" t="t"/>
              <a:pathLst>
                <a:path extrusionOk="0" h="953" w="278">
                  <a:moveTo>
                    <a:pt x="278" y="24"/>
                  </a:moveTo>
                  <a:lnTo>
                    <a:pt x="272" y="24"/>
                  </a:lnTo>
                  <a:lnTo>
                    <a:pt x="272" y="18"/>
                  </a:lnTo>
                  <a:lnTo>
                    <a:pt x="266" y="18"/>
                  </a:lnTo>
                  <a:lnTo>
                    <a:pt x="254" y="12"/>
                  </a:lnTo>
                  <a:lnTo>
                    <a:pt x="236" y="6"/>
                  </a:lnTo>
                  <a:lnTo>
                    <a:pt x="212" y="0"/>
                  </a:lnTo>
                  <a:lnTo>
                    <a:pt x="206" y="6"/>
                  </a:lnTo>
                  <a:lnTo>
                    <a:pt x="198" y="129"/>
                  </a:lnTo>
                  <a:lnTo>
                    <a:pt x="184" y="209"/>
                  </a:lnTo>
                  <a:lnTo>
                    <a:pt x="182" y="249"/>
                  </a:lnTo>
                  <a:lnTo>
                    <a:pt x="200" y="339"/>
                  </a:lnTo>
                  <a:lnTo>
                    <a:pt x="186" y="481"/>
                  </a:lnTo>
                  <a:lnTo>
                    <a:pt x="176" y="521"/>
                  </a:lnTo>
                  <a:lnTo>
                    <a:pt x="156" y="601"/>
                  </a:lnTo>
                  <a:lnTo>
                    <a:pt x="172" y="681"/>
                  </a:lnTo>
                  <a:lnTo>
                    <a:pt x="138" y="765"/>
                  </a:lnTo>
                  <a:lnTo>
                    <a:pt x="96" y="847"/>
                  </a:lnTo>
                  <a:lnTo>
                    <a:pt x="50" y="899"/>
                  </a:lnTo>
                  <a:lnTo>
                    <a:pt x="0" y="953"/>
                  </a:lnTo>
                  <a:lnTo>
                    <a:pt x="278" y="953"/>
                  </a:lnTo>
                  <a:lnTo>
                    <a:pt x="278" y="24"/>
                  </a:lnTo>
                  <a:lnTo>
                    <a:pt x="278" y="24"/>
                  </a:lnTo>
                  <a:lnTo>
                    <a:pt x="278" y="24"/>
                  </a:lnTo>
                </a:path>
              </a:pathLst>
            </a:custGeom>
            <a:gradFill>
              <a:gsLst>
                <a:gs pos="0">
                  <a:srgbClr val="008B8B"/>
                </a:gs>
                <a:gs pos="100000">
                  <a:schemeClr val="dk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</p:grpSp>
      <p:sp>
        <p:nvSpPr>
          <p:cNvPr id="78" name="Google Shape;78;p6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p66"/>
          <p:cNvSpPr txBox="1"/>
          <p:nvPr>
            <p:ph idx="10" type="dt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0" name="Google Shape;80;p66"/>
          <p:cNvSpPr txBox="1"/>
          <p:nvPr>
            <p:ph idx="11" type="ftr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  <p:sp>
        <p:nvSpPr>
          <p:cNvPr id="81" name="Google Shape;81;p66"/>
          <p:cNvSpPr txBox="1"/>
          <p:nvPr>
            <p:ph idx="12" type="sldNum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  <a:defRPr b="0" i="0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6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7084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  <a:defRPr b="0" i="0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Char char="–"/>
              <a:defRPr b="0" i="0" sz="2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indent="-33528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  <a:defRPr b="0" i="0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Verdana"/>
              <a:buChar char="–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indent="-3175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indent="-3175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indent="-3175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indent="-3175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indent="-3175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folHlink"/>
              </a:buClr>
              <a:buSzPts val="1400"/>
              <a:buFont typeface="Noto Sans Symbols"/>
              <a:buChar char="◆"/>
              <a:defRPr b="0" i="0" sz="20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</p:sldLayoutIdLst>
  <p:transition>
    <p:randomBar dir="vert"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6.png"/><Relationship Id="rId4" Type="http://schemas.openxmlformats.org/officeDocument/2006/relationships/image" Target="../media/image6.png"/><Relationship Id="rId11" Type="http://schemas.openxmlformats.org/officeDocument/2006/relationships/image" Target="../media/image10.png"/><Relationship Id="rId10" Type="http://schemas.openxmlformats.org/officeDocument/2006/relationships/image" Target="../media/image13.png"/><Relationship Id="rId12" Type="http://schemas.openxmlformats.org/officeDocument/2006/relationships/image" Target="../media/image9.png"/><Relationship Id="rId9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23.png"/><Relationship Id="rId8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vmlDrawing" Target="../drawings/vmlDrawing1.vml"/><Relationship Id="rId4" Type="http://schemas.openxmlformats.org/officeDocument/2006/relationships/oleObject" Target="../embeddings/oleObject1.bin"/><Relationship Id="rId5" Type="http://schemas.openxmlformats.org/officeDocument/2006/relationships/oleObject" Target="../embeddings/oleObject1.bin"/><Relationship Id="rId6" Type="http://schemas.openxmlformats.org/officeDocument/2006/relationships/image" Target="../media/image1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vmlDrawing" Target="../drawings/vmlDrawing2.vml"/><Relationship Id="rId4" Type="http://schemas.openxmlformats.org/officeDocument/2006/relationships/oleObject" Target="../embeddings/oleObject2.bin"/><Relationship Id="rId5" Type="http://schemas.openxmlformats.org/officeDocument/2006/relationships/oleObject" Target="../embeddings/oleObject2.bin"/><Relationship Id="rId6" Type="http://schemas.openxmlformats.org/officeDocument/2006/relationships/image" Target="../media/image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vmlDrawing" Target="../drawings/vmlDrawing3.vml"/><Relationship Id="rId4" Type="http://schemas.openxmlformats.org/officeDocument/2006/relationships/oleObject" Target="../embeddings/oleObject3.bin"/><Relationship Id="rId9" Type="http://schemas.openxmlformats.org/officeDocument/2006/relationships/image" Target="../media/image1.png"/><Relationship Id="rId5" Type="http://schemas.openxmlformats.org/officeDocument/2006/relationships/oleObject" Target="../embeddings/oleObject3.bin"/><Relationship Id="rId6" Type="http://schemas.openxmlformats.org/officeDocument/2006/relationships/image" Target="../media/image7.png"/><Relationship Id="rId7" Type="http://schemas.openxmlformats.org/officeDocument/2006/relationships/oleObject" Target="../embeddings/oleObject4.bin"/><Relationship Id="rId8" Type="http://schemas.openxmlformats.org/officeDocument/2006/relationships/oleObject" Target="../embeddings/oleObject4.bin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vmlDrawing" Target="../drawings/vmlDrawing4.vml"/><Relationship Id="rId4" Type="http://schemas.openxmlformats.org/officeDocument/2006/relationships/oleObject" Target="../embeddings/oleObject5.bin"/><Relationship Id="rId11" Type="http://schemas.openxmlformats.org/officeDocument/2006/relationships/oleObject" Target="../embeddings/oleObject7.bin"/><Relationship Id="rId10" Type="http://schemas.openxmlformats.org/officeDocument/2006/relationships/oleObject" Target="../embeddings/oleObject7.bin"/><Relationship Id="rId9" Type="http://schemas.openxmlformats.org/officeDocument/2006/relationships/image" Target="../media/image1.png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png"/><Relationship Id="rId7" Type="http://schemas.openxmlformats.org/officeDocument/2006/relationships/oleObject" Target="../embeddings/oleObject6.bin"/><Relationship Id="rId8" Type="http://schemas.openxmlformats.org/officeDocument/2006/relationships/oleObject" Target="../embeddings/oleObject6.bin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vmlDrawing" Target="../drawings/vmlDrawing5.vml"/><Relationship Id="rId4" Type="http://schemas.openxmlformats.org/officeDocument/2006/relationships/oleObject" Target="../embeddings/oleObject8.bin"/><Relationship Id="rId5" Type="http://schemas.openxmlformats.org/officeDocument/2006/relationships/oleObject" Target="../embeddings/oleObject8.bin"/><Relationship Id="rId6" Type="http://schemas.openxmlformats.org/officeDocument/2006/relationships/image" Target="../media/image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vmlDrawing" Target="../drawings/vmlDrawing6.vml"/><Relationship Id="rId4" Type="http://schemas.openxmlformats.org/officeDocument/2006/relationships/oleObject" Target="../embeddings/oleObject9.bin"/><Relationship Id="rId9" Type="http://schemas.openxmlformats.org/officeDocument/2006/relationships/image" Target="../media/image21.png"/><Relationship Id="rId5" Type="http://schemas.openxmlformats.org/officeDocument/2006/relationships/oleObject" Target="../embeddings/oleObject9.bin"/><Relationship Id="rId6" Type="http://schemas.openxmlformats.org/officeDocument/2006/relationships/image" Target="../media/image1.png"/><Relationship Id="rId7" Type="http://schemas.openxmlformats.org/officeDocument/2006/relationships/oleObject" Target="../embeddings/oleObject10.bin"/><Relationship Id="rId8" Type="http://schemas.openxmlformats.org/officeDocument/2006/relationships/oleObject" Target="../embeddings/oleObject10.bin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vmlDrawing" Target="../drawings/vmlDrawing7.vml"/><Relationship Id="rId4" Type="http://schemas.openxmlformats.org/officeDocument/2006/relationships/oleObject" Target="../embeddings/oleObject11.bin"/><Relationship Id="rId5" Type="http://schemas.openxmlformats.org/officeDocument/2006/relationships/oleObject" Target="../embeddings/oleObject11.bin"/><Relationship Id="rId6" Type="http://schemas.openxmlformats.org/officeDocument/2006/relationships/image" Target="../media/image1.png"/><Relationship Id="rId7" Type="http://schemas.openxmlformats.org/officeDocument/2006/relationships/image" Target="../media/image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vmlDrawing" Target="../drawings/vmlDrawing8.vml"/><Relationship Id="rId4" Type="http://schemas.openxmlformats.org/officeDocument/2006/relationships/oleObject" Target="../embeddings/oleObject12.bin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vmlDrawing" Target="../drawings/vmlDrawing9.vml"/><Relationship Id="rId4" Type="http://schemas.openxmlformats.org/officeDocument/2006/relationships/oleObject" Target="../embeddings/oleObject13.bin"/><Relationship Id="rId5" Type="http://schemas.openxmlformats.org/officeDocument/2006/relationships/oleObject" Target="../embeddings/oleObject13.bin"/><Relationship Id="rId6" Type="http://schemas.openxmlformats.org/officeDocument/2006/relationships/image" Target="../media/image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vmlDrawing" Target="../drawings/vmlDrawing10.vml"/><Relationship Id="rId4" Type="http://schemas.openxmlformats.org/officeDocument/2006/relationships/oleObject" Target="../embeddings/oleObject14.bin"/><Relationship Id="rId5" Type="http://schemas.openxmlformats.org/officeDocument/2006/relationships/oleObject" Target="../embeddings/oleObject14.bin"/><Relationship Id="rId6" Type="http://schemas.openxmlformats.org/officeDocument/2006/relationships/image" Target="../media/image21.png"/><Relationship Id="rId7" Type="http://schemas.openxmlformats.org/officeDocument/2006/relationships/image" Target="../media/image20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9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"/>
          <p:cNvSpPr txBox="1"/>
          <p:nvPr>
            <p:ph type="ctrTitle"/>
          </p:nvPr>
        </p:nvSpPr>
        <p:spPr>
          <a:xfrm>
            <a:off x="76200" y="304800"/>
            <a:ext cx="89916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700"/>
              <a:buFont typeface="Arial"/>
              <a:buNone/>
            </a:pPr>
            <a:r>
              <a:rPr b="0" i="0" lang="en-US" sz="57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Data-Oriented Models.</a:t>
            </a:r>
            <a:endParaRPr/>
          </a:p>
        </p:txBody>
      </p:sp>
      <p:sp>
        <p:nvSpPr>
          <p:cNvPr id="145" name="Google Shape;145;p1"/>
          <p:cNvSpPr txBox="1"/>
          <p:nvPr>
            <p:ph idx="1" type="subTitle"/>
          </p:nvPr>
        </p:nvSpPr>
        <p:spPr>
          <a:xfrm>
            <a:off x="1447800" y="4648200"/>
            <a:ext cx="6400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Based on the book by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520"/>
              <a:buNone/>
            </a:pPr>
            <a:r>
              <a:rPr b="0" i="0" lang="en-US" sz="3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David William Brown</a:t>
            </a:r>
            <a:endParaRPr/>
          </a:p>
        </p:txBody>
      </p:sp>
      <p:sp>
        <p:nvSpPr>
          <p:cNvPr id="146" name="Google Shape;146;p1"/>
          <p:cNvSpPr txBox="1"/>
          <p:nvPr/>
        </p:nvSpPr>
        <p:spPr>
          <a:xfrm>
            <a:off x="2794000" y="5929312"/>
            <a:ext cx="340042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Times New Roman"/>
              <a:buNone/>
            </a:pPr>
            <a:r>
              <a:rPr b="0" i="0" lang="en-US" sz="1600" u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John Wiley &amp; Sons, ISBN 0471371378</a:t>
            </a:r>
            <a:endParaRPr/>
          </a:p>
        </p:txBody>
      </p:sp>
      <p:sp>
        <p:nvSpPr>
          <p:cNvPr id="147" name="Google Shape;147;p1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need of a middle level notations</a:t>
            </a:r>
            <a:endParaRPr/>
          </a:p>
        </p:txBody>
      </p:sp>
      <p:sp>
        <p:nvSpPr>
          <p:cNvPr id="153" name="Google Shape;153;p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 the last example, when we analyzed a database, database tables are the final results we have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 can we be sure that the analysis is correct by watching these tables?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What is the logic of our analysis, if others try to understand our system? Final tables are very bad explanations.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Can we have some kind of notations that help to record our thoughts or encourage our rethinking of the design?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What is the essence behind the design logic?</a:t>
            </a:r>
            <a:endParaRPr/>
          </a:p>
          <a:p>
            <a:pPr indent="-23622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6220" lvl="0" marL="342900" rtl="0" algn="l"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2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4.1.  Data Models: The ERD</a:t>
            </a:r>
            <a:endParaRPr/>
          </a:p>
        </p:txBody>
      </p:sp>
      <p:sp>
        <p:nvSpPr>
          <p:cNvPr id="160" name="Google Shape;160;p3"/>
          <p:cNvSpPr txBox="1"/>
          <p:nvPr>
            <p:ph idx="1" type="body"/>
          </p:nvPr>
        </p:nvSpPr>
        <p:spPr>
          <a:xfrm>
            <a:off x="76200" y="2476500"/>
            <a:ext cx="9067800" cy="43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Research to find ways to model data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To give template for database design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Many notations were tried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Chen (1976) proposed the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1040"/>
              </a:spcBef>
              <a:spcAft>
                <a:spcPts val="0"/>
              </a:spcAft>
              <a:buSzPts val="3640"/>
              <a:buNone/>
            </a:pPr>
            <a:r>
              <a:rPr b="0" i="1" lang="en-US" sz="5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Entity-Relationship Diagram (ERD)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539750" y="1125537"/>
            <a:ext cx="7937500" cy="106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9304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3040"/>
              <a:buFont typeface="Arial"/>
              <a:buChar char="●"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Mid-1970s: Databases were just coming into use</a:t>
            </a:r>
            <a:endParaRPr/>
          </a:p>
        </p:txBody>
      </p:sp>
      <p:pic>
        <p:nvPicPr>
          <p:cNvPr id="162" name="Google Shape;16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1987" y="3810000"/>
            <a:ext cx="6550025" cy="118586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3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4"/>
          <p:cNvSpPr txBox="1"/>
          <p:nvPr>
            <p:ph idx="1" type="body"/>
          </p:nvPr>
        </p:nvSpPr>
        <p:spPr>
          <a:xfrm>
            <a:off x="0" y="1143000"/>
            <a:ext cx="9131300" cy="4960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b="0" i="1" lang="en-US" sz="6000" u="sng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1" lang="en-US" sz="4800" u="none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285750" lvl="1" marL="74295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EF9100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4620"/>
              <a:buNone/>
            </a:pPr>
            <a:r>
              <a:rPr b="0" i="1" lang="en-US" sz="6600" u="sng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How it is Linked and Organized</a:t>
            </a:r>
            <a:r>
              <a:rPr b="0" i="0" lang="en-US" sz="6600" u="sng">
                <a:solidFill>
                  <a:srgbClr val="7FFF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7200" u="sng">
              <a:solidFill>
                <a:srgbClr val="7FFF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780"/>
              <a:buNone/>
            </a:pPr>
            <a:r>
              <a:rPr b="0" i="0" lang="en-US" sz="54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It was from this that objects then evolved.</a:t>
            </a:r>
            <a:endParaRPr/>
          </a:p>
        </p:txBody>
      </p:sp>
      <p:sp>
        <p:nvSpPr>
          <p:cNvPr id="169" name="Google Shape;169;p4"/>
          <p:cNvSpPr txBox="1"/>
          <p:nvPr/>
        </p:nvSpPr>
        <p:spPr>
          <a:xfrm>
            <a:off x="614362" y="1587"/>
            <a:ext cx="780415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91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The ERD was the first systems analysis tool to focus on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5"/>
          <p:cNvSpPr txBox="1"/>
          <p:nvPr>
            <p:ph idx="1" type="body"/>
          </p:nvPr>
        </p:nvSpPr>
        <p:spPr>
          <a:xfrm>
            <a:off x="19050" y="1409700"/>
            <a:ext cx="9067800" cy="48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Char char="–"/>
            </a:pPr>
            <a:r>
              <a:rPr b="0" i="0" lang="en-US" sz="2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Entity-Relationship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Principle, </a:t>
            </a:r>
            <a:r>
              <a:rPr b="0" i="0" lang="en-US" sz="2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Char char="–"/>
            </a:pPr>
            <a:r>
              <a:rPr b="0" i="0" lang="en-US" sz="2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Entity-Relationship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chemeClr val="lt1"/>
              </a:buClr>
              <a:buSzPts val="800"/>
              <a:buFont typeface="Verdana"/>
              <a:buNone/>
            </a:pPr>
            <a:r>
              <a:t/>
            </a:r>
            <a:endParaRPr b="0" i="0" sz="800" u="none">
              <a:solidFill>
                <a:srgbClr val="F6BF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These further issues were also investigated by Chen and others: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b="0" i="0" sz="1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Char char="–"/>
            </a:pPr>
            <a:r>
              <a:rPr b="0" i="0" lang="en-US" sz="2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E-R models for database design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b="0" i="0" sz="1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Char char="–"/>
            </a:pPr>
            <a:r>
              <a:rPr b="0" i="0" lang="en-US" sz="2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significance</a:t>
            </a:r>
            <a:r>
              <a:rPr b="0" i="0" lang="en-US" sz="2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of the data of an enterprise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b="0" i="0" sz="1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Char char="–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Data as a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corporate asset.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b="0" i="0" sz="1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Verdana"/>
              <a:buChar char="–"/>
            </a:pPr>
            <a:r>
              <a:rPr b="0" i="0" lang="en-US" sz="2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stability</a:t>
            </a:r>
            <a:r>
              <a:rPr b="0" i="0" lang="en-US" sz="3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of the data of an enterprise</a:t>
            </a:r>
            <a:endParaRPr/>
          </a:p>
        </p:txBody>
      </p:sp>
      <p:sp>
        <p:nvSpPr>
          <p:cNvPr id="176" name="Google Shape;176;p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4.1.  Data Models: The ERD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80962" y="981075"/>
            <a:ext cx="68595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9304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3040"/>
              <a:buFont typeface="Arial"/>
              <a:buChar char="●"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Chen made two contributions: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84" name="Google Shape;184;p6"/>
          <p:cNvSpPr txBox="1"/>
          <p:nvPr>
            <p:ph idx="1" type="body"/>
          </p:nvPr>
        </p:nvSpPr>
        <p:spPr>
          <a:xfrm>
            <a:off x="457200" y="2733675"/>
            <a:ext cx="8229600" cy="339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86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Sales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Customers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Products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Sales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Sales clerks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290512" y="1076325"/>
            <a:ext cx="7518400" cy="106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9304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3040"/>
              <a:buFont typeface="Arial"/>
              <a:buChar char="●"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To manage a </a:t>
            </a:r>
            <a:r>
              <a:rPr b="1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sales operation, </a:t>
            </a: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we 		need to keep data about :</a:t>
            </a:r>
            <a:endParaRPr/>
          </a:p>
        </p:txBody>
      </p:sp>
      <p:sp>
        <p:nvSpPr>
          <p:cNvPr id="186" name="Google Shape;186;p6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 txBox="1"/>
          <p:nvPr>
            <p:ph idx="1" type="body"/>
          </p:nvPr>
        </p:nvSpPr>
        <p:spPr>
          <a:xfrm>
            <a:off x="2794000" y="2733675"/>
            <a:ext cx="5892800" cy="339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86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Customers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Numbers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Lines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Calls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Services</a:t>
            </a:r>
            <a:endParaRPr/>
          </a:p>
        </p:txBody>
      </p:sp>
      <p:sp>
        <p:nvSpPr>
          <p:cNvPr id="192" name="Google Shape;192;p7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93" name="Google Shape;193;p7"/>
          <p:cNvSpPr txBox="1"/>
          <p:nvPr/>
        </p:nvSpPr>
        <p:spPr>
          <a:xfrm>
            <a:off x="233362" y="1228725"/>
            <a:ext cx="8166100" cy="106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9304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3040"/>
              <a:buFont typeface="Arial"/>
              <a:buChar char="●"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To run a </a:t>
            </a:r>
            <a:r>
              <a:rPr b="1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phone company, </a:t>
            </a: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we would 	need to keep data about:</a:t>
            </a:r>
            <a:endParaRPr/>
          </a:p>
        </p:txBody>
      </p:sp>
      <p:sp>
        <p:nvSpPr>
          <p:cNvPr id="194" name="Google Shape;194;p7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"/>
          <p:cNvSpPr txBox="1"/>
          <p:nvPr/>
        </p:nvSpPr>
        <p:spPr>
          <a:xfrm>
            <a:off x="5411787" y="1147762"/>
            <a:ext cx="32512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00E4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7B00E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7B00E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460375" y="1227137"/>
            <a:ext cx="7445375" cy="1163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1" name="Google Shape;201;p8"/>
          <p:cNvSpPr txBox="1"/>
          <p:nvPr>
            <p:ph type="title"/>
          </p:nvPr>
        </p:nvSpPr>
        <p:spPr>
          <a:xfrm>
            <a:off x="19050" y="571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366712" y="981075"/>
            <a:ext cx="7435850" cy="11604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7272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2720"/>
              <a:buFont typeface="Arial"/>
              <a:buChar char="●"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To run a </a:t>
            </a:r>
            <a:r>
              <a:rPr b="1" i="0" lang="en-US" sz="32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booking agency </a:t>
            </a: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we must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record information about:</a:t>
            </a:r>
            <a:endParaRPr/>
          </a:p>
        </p:txBody>
      </p:sp>
      <p:sp>
        <p:nvSpPr>
          <p:cNvPr id="203" name="Google Shape;203;p8"/>
          <p:cNvSpPr txBox="1"/>
          <p:nvPr>
            <p:ph idx="1" type="body"/>
          </p:nvPr>
        </p:nvSpPr>
        <p:spPr>
          <a:xfrm>
            <a:off x="5581650" y="1714500"/>
            <a:ext cx="3549650" cy="37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86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Booking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Venues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Artists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Agents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Concerts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Performances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Customers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Seats</a:t>
            </a:r>
            <a:endParaRPr/>
          </a:p>
        </p:txBody>
      </p:sp>
      <p:sp>
        <p:nvSpPr>
          <p:cNvPr id="204" name="Google Shape;204;p8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9"/>
          <p:cNvSpPr txBox="1"/>
          <p:nvPr>
            <p:ph idx="1" type="body"/>
          </p:nvPr>
        </p:nvSpPr>
        <p:spPr>
          <a:xfrm>
            <a:off x="5581650" y="1714500"/>
            <a:ext cx="3276600" cy="37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28600" lvl="2" marL="1143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	Booking</a:t>
            </a:r>
            <a:endParaRPr b="0" i="0" sz="2400" u="none">
              <a:solidFill>
                <a:srgbClr val="F6BF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Venues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Artists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Agents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Concerts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Performances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Customers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Seats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5411787" y="1147762"/>
            <a:ext cx="32512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00E4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7B00E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7B00E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460375" y="1227137"/>
            <a:ext cx="7445375" cy="1163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2" name="Google Shape;212;p9"/>
          <p:cNvSpPr txBox="1"/>
          <p:nvPr>
            <p:ph type="title"/>
          </p:nvPr>
        </p:nvSpPr>
        <p:spPr>
          <a:xfrm>
            <a:off x="19050" y="571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13" name="Google Shape;213;p9"/>
          <p:cNvSpPr txBox="1"/>
          <p:nvPr/>
        </p:nvSpPr>
        <p:spPr>
          <a:xfrm>
            <a:off x="366712" y="981075"/>
            <a:ext cx="7435850" cy="11604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7272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2720"/>
              <a:buFont typeface="Arial"/>
              <a:buChar char="●"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To run a </a:t>
            </a:r>
            <a:r>
              <a:rPr b="1" i="0" lang="en-US" sz="32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booking agency </a:t>
            </a: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we must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  record information about:</a:t>
            </a:r>
            <a:endParaRPr/>
          </a:p>
        </p:txBody>
      </p:sp>
      <p:sp>
        <p:nvSpPr>
          <p:cNvPr id="214" name="Google Shape;214;p9"/>
          <p:cNvSpPr txBox="1"/>
          <p:nvPr/>
        </p:nvSpPr>
        <p:spPr>
          <a:xfrm>
            <a:off x="498475" y="5343525"/>
            <a:ext cx="756761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9304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3040"/>
              <a:buFont typeface="Arial"/>
              <a:buChar char="●"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Notice there is no</a:t>
            </a:r>
            <a:r>
              <a:rPr b="1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b="1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in this list.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EF9100"/>
              </a:buClr>
              <a:buSzPts val="4000"/>
              <a:buFont typeface="Arial"/>
              <a:buNone/>
            </a:pPr>
            <a:r>
              <a:rPr b="1" i="0" lang="en-US" sz="40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Why Not?</a:t>
            </a:r>
            <a:endParaRPr/>
          </a:p>
        </p:txBody>
      </p:sp>
      <p:sp>
        <p:nvSpPr>
          <p:cNvPr id="215" name="Google Shape;215;p9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0"/>
          <p:cNvSpPr txBox="1"/>
          <p:nvPr>
            <p:ph idx="1" type="body"/>
          </p:nvPr>
        </p:nvSpPr>
        <p:spPr>
          <a:xfrm>
            <a:off x="457200" y="2462212"/>
            <a:ext cx="8229600" cy="366871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date can describe many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things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key word here is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SzPts val="8400"/>
              <a:buNone/>
            </a:pPr>
            <a:r>
              <a:rPr b="0" i="0" lang="en-US" sz="12000" u="sng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Things</a:t>
            </a:r>
            <a:endParaRPr/>
          </a:p>
        </p:txBody>
      </p:sp>
      <p:sp>
        <p:nvSpPr>
          <p:cNvPr id="221" name="Google Shape;221;p10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309562" y="1533525"/>
            <a:ext cx="8388350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9304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3040"/>
              <a:buFont typeface="Arial"/>
              <a:buChar char="●"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 </a:t>
            </a:r>
            <a:r>
              <a:rPr b="1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date</a:t>
            </a: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is data that describes a </a:t>
            </a:r>
            <a:r>
              <a:rPr b="1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Concert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/>
          <p:nvPr>
            <p:ph idx="1" type="body"/>
          </p:nvPr>
        </p:nvSpPr>
        <p:spPr>
          <a:xfrm>
            <a:off x="457200" y="1600200"/>
            <a:ext cx="8229600" cy="6873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Each of these lists is a</a:t>
            </a:r>
            <a:r>
              <a:rPr b="0" i="0" lang="en-US" sz="3200" u="none">
                <a:solidFill>
                  <a:srgbClr val="EF910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2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list of </a:t>
            </a:r>
            <a:r>
              <a:rPr b="0" i="1" lang="en-US" sz="4000" u="sng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things</a:t>
            </a:r>
            <a:endParaRPr/>
          </a:p>
        </p:txBody>
      </p:sp>
      <p:sp>
        <p:nvSpPr>
          <p:cNvPr id="229" name="Google Shape;229;p11"/>
          <p:cNvSpPr txBox="1"/>
          <p:nvPr/>
        </p:nvSpPr>
        <p:spPr>
          <a:xfrm>
            <a:off x="2881312" y="2043112"/>
            <a:ext cx="2949575" cy="308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00E4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7B00E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6BF6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     Phone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Numbers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Lines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Calls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Services</a:t>
            </a:r>
            <a:endParaRPr/>
          </a:p>
        </p:txBody>
      </p:sp>
      <p:sp>
        <p:nvSpPr>
          <p:cNvPr id="230" name="Google Shape;230;p11"/>
          <p:cNvSpPr txBox="1"/>
          <p:nvPr/>
        </p:nvSpPr>
        <p:spPr>
          <a:xfrm>
            <a:off x="5487987" y="2043112"/>
            <a:ext cx="3641725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00E4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7B00E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2" marL="9144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6BF6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Booking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Venues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Artists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Agents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Concerts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Performances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Seats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61912" y="2424112"/>
            <a:ext cx="3133725" cy="176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BF6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     Sales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Products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Sales clerks</a:t>
            </a:r>
            <a:endParaRPr/>
          </a:p>
        </p:txBody>
      </p:sp>
      <p:sp>
        <p:nvSpPr>
          <p:cNvPr id="232" name="Google Shape;232;p11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33" name="Google Shape;233;p11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"/>
          <p:cNvSpPr txBox="1"/>
          <p:nvPr>
            <p:ph idx="1" type="body"/>
          </p:nvPr>
        </p:nvSpPr>
        <p:spPr>
          <a:xfrm>
            <a:off x="762000" y="2533650"/>
            <a:ext cx="8305800" cy="363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Earlier methods emphasized </a:t>
            </a:r>
            <a:r>
              <a:rPr b="0" i="0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what the users need to know 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to do their job.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Here we emphasize what </a:t>
            </a:r>
            <a:r>
              <a:rPr b="0" i="0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things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the users need to know </a:t>
            </a:r>
            <a:r>
              <a:rPr b="0" i="1" lang="en-US" sz="3600" u="sng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r>
              <a:rPr b="0" i="0" lang="en-US" sz="3600" u="sng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800" u="none">
              <a:solidFill>
                <a:srgbClr val="EF91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word </a:t>
            </a:r>
            <a:r>
              <a:rPr b="0" i="0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means a </a:t>
            </a:r>
            <a:r>
              <a:rPr b="0" i="0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thing.</a:t>
            </a:r>
            <a:endParaRPr b="0" i="0" sz="2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1" lang="en-US" sz="2800" u="none">
                <a:solidFill>
                  <a:srgbClr val="F6BF69"/>
                </a:solidFill>
                <a:latin typeface="Verdana"/>
                <a:ea typeface="Verdana"/>
                <a:cs typeface="Verdana"/>
                <a:sym typeface="Verdana"/>
              </a:rPr>
              <a:t>Later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we worry about what items they need to know </a:t>
            </a:r>
            <a:r>
              <a:rPr b="0" i="1" lang="en-US" sz="2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each entity.</a:t>
            </a:r>
            <a:endParaRPr/>
          </a:p>
        </p:txBody>
      </p:sp>
      <p:sp>
        <p:nvSpPr>
          <p:cNvPr id="239" name="Google Shape;239;p12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40" name="Google Shape;240;p12"/>
          <p:cNvSpPr txBox="1"/>
          <p:nvPr/>
        </p:nvSpPr>
        <p:spPr>
          <a:xfrm>
            <a:off x="652462" y="1343025"/>
            <a:ext cx="7727950" cy="10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6891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2660"/>
              <a:buFont typeface="Arial"/>
              <a:buChar char="●"/>
            </a:pPr>
            <a:r>
              <a:rPr b="1" i="0" lang="en-US" sz="28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E-R principle focuses on the things we need to keep data</a:t>
            </a:r>
            <a:r>
              <a:rPr b="1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32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r>
              <a:rPr b="1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41" name="Google Shape;241;p12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3"/>
          <p:cNvSpPr txBox="1"/>
          <p:nvPr>
            <p:ph idx="1" type="body"/>
          </p:nvPr>
        </p:nvSpPr>
        <p:spPr>
          <a:xfrm>
            <a:off x="457200" y="3802062"/>
            <a:ext cx="8229600" cy="23288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You can see it is something we need to know about (i.e., keep data about) to do our job</a:t>
            </a:r>
            <a:endParaRPr/>
          </a:p>
          <a:p>
            <a:pPr indent="-228600" lvl="4" marL="2057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So we define it.  .  .</a:t>
            </a:r>
            <a:endParaRPr/>
          </a:p>
        </p:txBody>
      </p:sp>
      <p:sp>
        <p:nvSpPr>
          <p:cNvPr id="247" name="Google Shape;247;p13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48" name="Google Shape;248;p13"/>
          <p:cNvSpPr txBox="1"/>
          <p:nvPr/>
        </p:nvSpPr>
        <p:spPr>
          <a:xfrm>
            <a:off x="347662" y="1762125"/>
            <a:ext cx="7937500" cy="15509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9304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3040"/>
              <a:buFont typeface="Arial"/>
              <a:buChar char="●"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Webster:  An entity is “something 	that has separate and distinct 	existence”</a:t>
            </a:r>
            <a:endParaRPr/>
          </a:p>
        </p:txBody>
      </p:sp>
      <p:pic>
        <p:nvPicPr>
          <p:cNvPr id="249" name="Google Shape;24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13162" y="2998787"/>
            <a:ext cx="5292725" cy="288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3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"/>
          <p:cNvSpPr txBox="1"/>
          <p:nvPr>
            <p:ph idx="1" type="body"/>
          </p:nvPr>
        </p:nvSpPr>
        <p:spPr>
          <a:xfrm>
            <a:off x="304800" y="2286000"/>
            <a:ext cx="87630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</a:t>
            </a:r>
            <a:r>
              <a:rPr b="0" i="0" lang="en-US" sz="36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Data Entity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is some</a:t>
            </a:r>
            <a:r>
              <a:rPr b="0" i="1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thing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that has separate and distinct existence </a:t>
            </a:r>
            <a:r>
              <a:rPr b="0" i="1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in the world of the users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 is of interest to the users in that they need to keep data </a:t>
            </a:r>
            <a:r>
              <a:rPr b="0" i="1" lang="en-US" sz="36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r>
              <a:rPr b="0" i="0" lang="en-US" sz="3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it in order to do their job.</a:t>
            </a:r>
            <a:endParaRPr/>
          </a:p>
        </p:txBody>
      </p:sp>
      <p:sp>
        <p:nvSpPr>
          <p:cNvPr id="256" name="Google Shape;256;p14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57" name="Google Shape;257;p14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"/>
          <p:cNvSpPr txBox="1"/>
          <p:nvPr>
            <p:ph idx="1" type="body"/>
          </p:nvPr>
        </p:nvSpPr>
        <p:spPr>
          <a:xfrm>
            <a:off x="457200" y="166370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So these are the </a:t>
            </a:r>
            <a:r>
              <a:rPr b="0" i="0" lang="en-US" sz="40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entity lists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for these businesses:</a:t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2916237" y="3068637"/>
            <a:ext cx="2941637" cy="308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00E4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7B00E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6BF6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     Phone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Numbers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Lines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Calls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Services</a:t>
            </a:r>
            <a:endParaRPr/>
          </a:p>
        </p:txBody>
      </p:sp>
      <p:sp>
        <p:nvSpPr>
          <p:cNvPr id="264" name="Google Shape;264;p15"/>
          <p:cNvSpPr txBox="1"/>
          <p:nvPr/>
        </p:nvSpPr>
        <p:spPr>
          <a:xfrm>
            <a:off x="5487987" y="2043112"/>
            <a:ext cx="3641725" cy="432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00E4"/>
              </a:buClr>
              <a:buSzPts val="2400"/>
              <a:buFont typeface="Times New Roman"/>
              <a:buNone/>
            </a:pPr>
            <a:r>
              <a:rPr b="0" i="0" lang="en-US" sz="2400" u="none">
                <a:solidFill>
                  <a:srgbClr val="7B00E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2" marL="914400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6BF6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Booking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Venues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Artists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Agents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Concerts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Performances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Seats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65" name="Google Shape;265;p15"/>
          <p:cNvSpPr txBox="1"/>
          <p:nvPr/>
        </p:nvSpPr>
        <p:spPr>
          <a:xfrm>
            <a:off x="0" y="3068637"/>
            <a:ext cx="3125787" cy="17684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2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BF69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     Sales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Products</a:t>
            </a:r>
            <a:endParaRPr/>
          </a:p>
          <a:p>
            <a:pPr indent="-99060" lvl="2" marL="9144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DFCA"/>
              </a:buClr>
              <a:buSzPts val="1560"/>
              <a:buFont typeface="Arial"/>
              <a:buChar char="●"/>
            </a:pPr>
            <a:r>
              <a:rPr b="1" i="0" lang="en-US" sz="2400" u="none" cap="none" strike="noStrik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Sales clerks</a:t>
            </a:r>
            <a:endParaRPr/>
          </a:p>
        </p:txBody>
      </p:sp>
      <p:sp>
        <p:nvSpPr>
          <p:cNvPr id="266" name="Google Shape;266;p15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67" name="Google Shape;26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62" y="2330450"/>
            <a:ext cx="4397375" cy="3952875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5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6"/>
          <p:cNvSpPr txBox="1"/>
          <p:nvPr>
            <p:ph idx="1" type="body"/>
          </p:nvPr>
        </p:nvSpPr>
        <p:spPr>
          <a:xfrm>
            <a:off x="381000" y="3028950"/>
            <a:ext cx="8458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What we need to talk about mostly is the class of all Customers, or in other words the </a:t>
            </a:r>
            <a:r>
              <a:rPr b="0" i="0" lang="en-US" sz="36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of thing called a Customer.</a:t>
            </a:r>
            <a:endParaRPr/>
          </a:p>
        </p:txBody>
      </p:sp>
      <p:sp>
        <p:nvSpPr>
          <p:cNvPr id="274" name="Google Shape;274;p16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75" name="Google Shape;275;p16"/>
          <p:cNvSpPr txBox="1"/>
          <p:nvPr/>
        </p:nvSpPr>
        <p:spPr>
          <a:xfrm>
            <a:off x="423862" y="1266825"/>
            <a:ext cx="8667750" cy="155098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-19304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3040"/>
              <a:buFont typeface="Arial"/>
              <a:buChar char="●"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Grammatically, the term Entity 			refers to a </a:t>
            </a:r>
            <a:r>
              <a:rPr b="1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single specific </a:t>
            </a:r>
            <a:r>
              <a:rPr b="1" i="1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Customer</a:t>
            </a: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		or </a:t>
            </a:r>
            <a:r>
              <a:rPr b="1" i="1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Product</a:t>
            </a: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or </a:t>
            </a:r>
            <a:r>
              <a:rPr b="1" i="1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Sale</a:t>
            </a: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or </a:t>
            </a:r>
            <a:r>
              <a:rPr b="1" i="1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Call</a:t>
            </a: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or </a:t>
            </a:r>
            <a:r>
              <a:rPr b="1" i="1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Artist</a:t>
            </a: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.</a:t>
            </a:r>
            <a:endParaRPr/>
          </a:p>
        </p:txBody>
      </p:sp>
      <p:sp>
        <p:nvSpPr>
          <p:cNvPr id="276" name="Google Shape;276;p16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7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423862" y="2097087"/>
            <a:ext cx="8204200" cy="42608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1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An </a:t>
            </a:r>
            <a:r>
              <a:rPr b="1" i="0" lang="en-US" sz="54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                             </a:t>
            </a:r>
            <a:r>
              <a:rPr b="1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is a class or category expressing the </a:t>
            </a:r>
            <a:r>
              <a:rPr b="1" i="0" lang="en-US" sz="44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common properties </a:t>
            </a:r>
            <a:r>
              <a:rPr b="1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that allow a number of entities to be treated similarly.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366712" y="1114425"/>
            <a:ext cx="2968625" cy="106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entury Schoolbook"/>
              <a:buNone/>
            </a:pPr>
            <a:r>
              <a:rPr b="1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So we define: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200" u="none">
              <a:solidFill>
                <a:srgbClr val="FFFFFF"/>
              </a:solidFill>
              <a:latin typeface="Century Schoolbook"/>
              <a:ea typeface="Century Schoolbook"/>
              <a:cs typeface="Century Schoolbook"/>
              <a:sym typeface="Century Schoolbook"/>
            </a:endParaRPr>
          </a:p>
        </p:txBody>
      </p:sp>
      <p:sp>
        <p:nvSpPr>
          <p:cNvPr id="284" name="Google Shape;284;p17"/>
          <p:cNvSpPr txBox="1"/>
          <p:nvPr/>
        </p:nvSpPr>
        <p:spPr>
          <a:xfrm>
            <a:off x="1604962" y="1784350"/>
            <a:ext cx="5657850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9100"/>
              </a:buClr>
              <a:buSzPts val="8000"/>
              <a:buFont typeface="Arial"/>
              <a:buNone/>
            </a:pPr>
            <a:r>
              <a:rPr b="1" i="0" lang="en-US" sz="80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Entity Type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>
            <p:ph idx="1" type="body"/>
          </p:nvPr>
        </p:nvSpPr>
        <p:spPr>
          <a:xfrm>
            <a:off x="457200" y="2219325"/>
            <a:ext cx="8229600" cy="26765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80"/>
              <a:buNone/>
            </a:pPr>
            <a:r>
              <a:rPr b="0" i="0" lang="en-US" sz="4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 individual </a:t>
            </a:r>
            <a:r>
              <a:rPr b="0" i="1" lang="en-US" sz="44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r>
              <a:rPr b="0" i="0" lang="en-US" sz="4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or </a:t>
            </a:r>
            <a:r>
              <a:rPr b="0" i="1" lang="en-US" sz="44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r>
              <a:rPr b="0" i="0" lang="en-US" sz="4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or </a:t>
            </a:r>
            <a:r>
              <a:rPr b="0" i="1" lang="en-US" sz="44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Sale</a:t>
            </a:r>
            <a:r>
              <a:rPr b="0" i="0" lang="en-US" sz="4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or </a:t>
            </a:r>
            <a:r>
              <a:rPr b="0" i="1" lang="en-US" sz="44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Call</a:t>
            </a:r>
            <a:r>
              <a:rPr b="0" i="0" lang="en-US" sz="4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or </a:t>
            </a:r>
            <a:r>
              <a:rPr b="0" i="1" lang="en-US" sz="44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Artist</a:t>
            </a:r>
            <a:r>
              <a:rPr b="0" i="0" lang="en-US" sz="4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is then an </a:t>
            </a:r>
            <a:r>
              <a:rPr b="0" i="0" lang="en-US" sz="72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Occurrence</a:t>
            </a:r>
            <a:endParaRPr b="0" i="0" sz="60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b="0" i="0" lang="en-US" sz="4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of the Entity Type.</a:t>
            </a:r>
            <a:endParaRPr/>
          </a:p>
        </p:txBody>
      </p:sp>
      <p:sp>
        <p:nvSpPr>
          <p:cNvPr id="291" name="Google Shape;291;p18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  <p:pic>
        <p:nvPicPr>
          <p:cNvPr id="293" name="Google Shape;29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7387" y="4062412"/>
            <a:ext cx="1955800" cy="652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Bar dir="vert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9"/>
          <p:cNvSpPr txBox="1"/>
          <p:nvPr>
            <p:ph idx="1" type="body"/>
          </p:nvPr>
        </p:nvSpPr>
        <p:spPr>
          <a:xfrm>
            <a:off x="457200" y="1600200"/>
            <a:ext cx="3754437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Entity type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Entity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Occurrence 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4643437" y="1752600"/>
            <a:ext cx="3756025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class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object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instance </a:t>
            </a:r>
            <a:endParaRPr/>
          </a:p>
        </p:txBody>
      </p:sp>
      <p:sp>
        <p:nvSpPr>
          <p:cNvPr id="301" name="Google Shape;301;p19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0"/>
          <p:cNvSpPr txBox="1"/>
          <p:nvPr>
            <p:ph idx="1" type="body"/>
          </p:nvPr>
        </p:nvSpPr>
        <p:spPr>
          <a:xfrm>
            <a:off x="0" y="1371600"/>
            <a:ext cx="9067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 am an occurrence of the entity type </a:t>
            </a:r>
            <a:r>
              <a:rPr b="0" i="0" lang="en-US" sz="32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Employee</a:t>
            </a:r>
            <a:r>
              <a:rPr b="0" i="0" lang="en-US" sz="32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You are an occurrence of the entity type </a:t>
            </a:r>
            <a:r>
              <a:rPr b="0" i="0" lang="en-US" sz="32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Student</a:t>
            </a:r>
            <a:r>
              <a:rPr b="0" i="0" lang="en-US" sz="32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 each live in an occurrence of the entity type </a:t>
            </a:r>
            <a:r>
              <a:rPr b="0" i="0" lang="en-US" sz="32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Dwelling</a:t>
            </a:r>
            <a:r>
              <a:rPr b="0" i="0" lang="en-US" sz="32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 b="0" i="0" sz="32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580"/>
              </a:spcBef>
              <a:spcAft>
                <a:spcPts val="0"/>
              </a:spcAft>
              <a:buClr>
                <a:schemeClr val="hlink"/>
              </a:buClr>
              <a:buSzPts val="2030"/>
              <a:buFont typeface="Noto Sans Symbols"/>
              <a:buChar char="◆"/>
            </a:pPr>
            <a:r>
              <a:rPr b="0" i="0" lang="en-US" sz="29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last time you caught an occurrence of the entity type </a:t>
            </a:r>
            <a:r>
              <a:rPr b="0" i="0" lang="en-US" sz="29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9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Bus,</a:t>
            </a:r>
            <a:r>
              <a:rPr b="0" i="0" lang="en-US" sz="29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r>
              <a:rPr b="0" i="0" lang="en-US" sz="29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it followed an occurrence of the entity type </a:t>
            </a:r>
            <a:r>
              <a:rPr b="0" i="0" lang="en-US" sz="29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9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Route</a:t>
            </a:r>
            <a:r>
              <a:rPr b="0" i="0" lang="en-US" sz="29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r>
              <a:rPr b="0" i="0" lang="en-US" sz="29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while executing an occurrence of the entity type </a:t>
            </a:r>
            <a:r>
              <a:rPr b="0" i="0" lang="en-US" sz="29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9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Trip.</a:t>
            </a:r>
            <a:r>
              <a:rPr b="0" i="0" lang="en-US" sz="29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/>
          </a:p>
        </p:txBody>
      </p:sp>
      <p:sp>
        <p:nvSpPr>
          <p:cNvPr id="307" name="Google Shape;307;p20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08" name="Google Shape;308;p20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1"/>
          <p:cNvSpPr txBox="1"/>
          <p:nvPr>
            <p:ph idx="1" type="body"/>
          </p:nvPr>
        </p:nvSpPr>
        <p:spPr>
          <a:xfrm>
            <a:off x="304800" y="1752600"/>
            <a:ext cx="8763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◆"/>
            </a:pPr>
            <a:r>
              <a:rPr b="0" i="1" lang="en-US" sz="40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r>
              <a:rPr b="0" i="0" lang="en-US" sz="4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are the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data elements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carried by an entity that describe it and record its state.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hlink"/>
              </a:buClr>
              <a:buSzPts val="2800"/>
              <a:buFont typeface="Noto Sans Symbols"/>
              <a:buChar char="◆"/>
            </a:pPr>
            <a:r>
              <a:rPr b="0" i="1" lang="en-US" sz="40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r>
              <a:rPr b="0" i="0" lang="en-US" sz="4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are the things we need to know </a:t>
            </a:r>
            <a:r>
              <a:rPr b="0" i="1" lang="en-US" sz="4800" u="sng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r>
              <a:rPr b="0" i="0" lang="en-US" sz="4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 Entity.</a:t>
            </a:r>
            <a:endParaRPr/>
          </a:p>
        </p:txBody>
      </p:sp>
      <p:sp>
        <p:nvSpPr>
          <p:cNvPr id="314" name="Google Shape;314;p21"/>
          <p:cNvSpPr txBox="1"/>
          <p:nvPr>
            <p:ph type="title"/>
          </p:nvPr>
        </p:nvSpPr>
        <p:spPr>
          <a:xfrm>
            <a:off x="0" y="171450"/>
            <a:ext cx="9067800" cy="819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The Entity-Relationship </a:t>
            </a:r>
            <a:r>
              <a:rPr b="0" i="1" lang="en-US" sz="48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315" name="Google Shape;315;p21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2"/>
          <p:cNvSpPr txBox="1"/>
          <p:nvPr>
            <p:ph type="title"/>
          </p:nvPr>
        </p:nvSpPr>
        <p:spPr>
          <a:xfrm>
            <a:off x="685800" y="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000"/>
              <a:buFont typeface="Noto Sans Symbols"/>
              <a:buNone/>
            </a:pP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4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Associations:</a:t>
            </a:r>
            <a:r>
              <a:rPr b="0" i="0" lang="en-US" sz="17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21" name="Google Shape;321;p22"/>
          <p:cNvSpPr txBox="1"/>
          <p:nvPr>
            <p:ph idx="1" type="body"/>
          </p:nvPr>
        </p:nvSpPr>
        <p:spPr>
          <a:xfrm>
            <a:off x="827087" y="1773237"/>
            <a:ext cx="7358062" cy="36385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So we have: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Hundreds of </a:t>
            </a:r>
            <a:r>
              <a:rPr b="0" i="1" lang="en-US" sz="2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Customers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</a:pPr>
            <a:r>
              <a:rPr b="0" i="1" lang="en-US" sz="12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0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Thousands of </a:t>
            </a:r>
            <a:r>
              <a:rPr b="0" i="1" lang="en-US" sz="2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Products</a:t>
            </a:r>
            <a:endParaRPr b="0" i="1" sz="2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</a:pPr>
            <a:r>
              <a:rPr b="0" i="1" lang="en-US" sz="1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b="0" i="0" sz="12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Dozens of </a:t>
            </a:r>
            <a:r>
              <a:rPr b="0" i="1" lang="en-US" sz="2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Sales Clerks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hlink"/>
              </a:buClr>
              <a:buSzPts val="2520"/>
              <a:buFont typeface="Noto Sans Symbols"/>
              <a:buChar char="◆"/>
            </a:pPr>
            <a:r>
              <a:rPr b="0" i="0" lang="en-US" sz="3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 we have a business?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4620"/>
              <a:buNone/>
            </a:pPr>
            <a:r>
              <a:rPr b="0" i="0" lang="en-US" sz="6600" u="sng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NOT YET!</a:t>
            </a:r>
            <a:endParaRPr/>
          </a:p>
        </p:txBody>
      </p:sp>
      <p:sp>
        <p:nvSpPr>
          <p:cNvPr id="322" name="Google Shape;322;p22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3"/>
          <p:cNvSpPr txBox="1"/>
          <p:nvPr>
            <p:ph idx="1" type="body"/>
          </p:nvPr>
        </p:nvSpPr>
        <p:spPr>
          <a:xfrm>
            <a:off x="1219200" y="1295400"/>
            <a:ext cx="7772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Not until: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Customer </a:t>
            </a:r>
            <a:r>
              <a:rPr b="0" i="0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buys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a Product</a:t>
            </a:r>
            <a:endParaRPr b="0" i="0" sz="32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</a:pPr>
            <a:r>
              <a:t/>
            </a:r>
            <a:endParaRPr b="0" i="0" sz="12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Sales Clerk </a:t>
            </a:r>
            <a:r>
              <a:rPr b="0" i="0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sells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a Product</a:t>
            </a:r>
            <a:endParaRPr b="0" i="0" sz="2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840"/>
              <a:buNone/>
            </a:pPr>
            <a:r>
              <a:t/>
            </a:r>
            <a:endParaRPr b="0" i="0" sz="12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2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Sales Clerk </a:t>
            </a:r>
            <a:r>
              <a:rPr b="0" i="0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sells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to a Customer</a:t>
            </a:r>
            <a:endParaRPr b="0" i="0" sz="2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2" marL="114300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50"/>
              <a:buNone/>
            </a:pPr>
            <a:r>
              <a:rPr b="0" i="0" lang="en-US" sz="5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These are the inter</a:t>
            </a:r>
            <a:r>
              <a:rPr b="0" i="1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actions</a:t>
            </a:r>
            <a:endParaRPr b="0" i="0" sz="32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that occur between entities.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Note each involves a </a:t>
            </a:r>
            <a:r>
              <a:rPr b="0" i="0" lang="en-US" sz="6000" u="sng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verb.</a:t>
            </a:r>
            <a:endParaRPr/>
          </a:p>
        </p:txBody>
      </p:sp>
      <p:sp>
        <p:nvSpPr>
          <p:cNvPr id="328" name="Google Shape;328;p23"/>
          <p:cNvSpPr txBox="1"/>
          <p:nvPr>
            <p:ph type="title"/>
          </p:nvPr>
        </p:nvSpPr>
        <p:spPr>
          <a:xfrm>
            <a:off x="685800" y="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000"/>
              <a:buFont typeface="Noto Sans Symbols"/>
              <a:buNone/>
            </a:pP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4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Associations:</a:t>
            </a:r>
            <a:r>
              <a:rPr b="0" i="0" lang="en-US" sz="17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29" name="Google Shape;329;p23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4"/>
          <p:cNvSpPr txBox="1"/>
          <p:nvPr>
            <p:ph idx="1" type="body"/>
          </p:nvPr>
        </p:nvSpPr>
        <p:spPr>
          <a:xfrm>
            <a:off x="828675" y="2619375"/>
            <a:ext cx="7634287" cy="34496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 define: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 </a:t>
            </a:r>
            <a:r>
              <a:rPr b="0" i="0" lang="en-US" sz="40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Association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is the interaction of two entities and is represented by a verb.</a:t>
            </a:r>
            <a:endParaRPr/>
          </a:p>
        </p:txBody>
      </p:sp>
      <p:sp>
        <p:nvSpPr>
          <p:cNvPr id="335" name="Google Shape;335;p24"/>
          <p:cNvSpPr txBox="1"/>
          <p:nvPr>
            <p:ph type="title"/>
          </p:nvPr>
        </p:nvSpPr>
        <p:spPr>
          <a:xfrm>
            <a:off x="685800" y="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000"/>
              <a:buFont typeface="Noto Sans Symbols"/>
              <a:buNone/>
            </a:pP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4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Associations:</a:t>
            </a:r>
            <a:r>
              <a:rPr b="0" i="0" lang="en-US" sz="17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36" name="Google Shape;336;p24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"/>
          <p:cNvSpPr txBox="1"/>
          <p:nvPr>
            <p:ph idx="1" type="body"/>
          </p:nvPr>
        </p:nvSpPr>
        <p:spPr>
          <a:xfrm>
            <a:off x="457200" y="2063750"/>
            <a:ext cx="8229600" cy="38401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purpose is to provide access paths to the data.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When a sale occurs, we will link: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Customer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To a Product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To a Sales Clerk.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Using a </a:t>
            </a:r>
            <a:r>
              <a:rPr b="0" i="1" lang="en-US" sz="36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verb</a:t>
            </a:r>
            <a:r>
              <a:rPr b="0" i="0" lang="en-US" sz="3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to describe each link.</a:t>
            </a:r>
            <a:endParaRPr/>
          </a:p>
        </p:txBody>
      </p:sp>
      <p:sp>
        <p:nvSpPr>
          <p:cNvPr id="342" name="Google Shape;342;p25"/>
          <p:cNvSpPr txBox="1"/>
          <p:nvPr>
            <p:ph type="title"/>
          </p:nvPr>
        </p:nvSpPr>
        <p:spPr>
          <a:xfrm>
            <a:off x="685800" y="0"/>
            <a:ext cx="7772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000"/>
              <a:buFont typeface="Noto Sans Symbols"/>
              <a:buNone/>
            </a:pPr>
            <a:r>
              <a:rPr b="0" i="0" lang="en-US" sz="40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❶ </a:t>
            </a:r>
            <a:r>
              <a:rPr b="0" i="0" lang="en-US" sz="32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Principle.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4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Associations :</a:t>
            </a:r>
            <a:r>
              <a:rPr b="0" i="0" lang="en-US" sz="17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43" name="Google Shape;343;p25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6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To start with, the search for data modeling methods was for </a:t>
            </a:r>
            <a:r>
              <a:rPr b="0" i="1" lang="en-US" sz="24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database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design.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Many notations were developed and some actually tried out.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Chen</a:t>
            </a:r>
            <a:r>
              <a:rPr b="0" i="0" lang="en-US" sz="2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’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 </a:t>
            </a:r>
            <a:r>
              <a:rPr b="0" i="0" lang="en-US" sz="2800" u="sng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ERD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turned out best and took over.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It also caught on as a tool for </a:t>
            </a:r>
            <a:r>
              <a:rPr b="0" i="1" lang="en-US" sz="2800" u="sng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systems</a:t>
            </a:r>
            <a:r>
              <a:rPr b="0" i="0" lang="en-US" sz="2800" u="sng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 analysis,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as well as for data analysis.</a:t>
            </a:r>
            <a:endParaRPr/>
          </a:p>
        </p:txBody>
      </p:sp>
      <p:sp>
        <p:nvSpPr>
          <p:cNvPr id="349" name="Google Shape;349;p2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❷</a:t>
            </a: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E-R models for database design.</a:t>
            </a:r>
            <a:endParaRPr/>
          </a:p>
        </p:txBody>
      </p:sp>
      <p:sp>
        <p:nvSpPr>
          <p:cNvPr id="350" name="Google Shape;350;p26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7"/>
          <p:cNvSpPr txBox="1"/>
          <p:nvPr>
            <p:ph idx="1" type="body"/>
          </p:nvPr>
        </p:nvSpPr>
        <p:spPr>
          <a:xfrm>
            <a:off x="990600" y="1676400"/>
            <a:ext cx="8077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For database design:</a:t>
            </a:r>
            <a:endParaRPr/>
          </a:p>
          <a:p>
            <a:pPr indent="-228600" lvl="4" marL="2057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Each </a:t>
            </a:r>
            <a:r>
              <a:rPr b="0" i="1" lang="en-US" sz="40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r>
              <a:rPr b="0" i="0" lang="en-US" sz="4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1" lang="en-US" sz="40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Type</a:t>
            </a:r>
            <a:r>
              <a:rPr b="0" i="0" lang="en-US" sz="4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becomes a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file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or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table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Each </a:t>
            </a:r>
            <a:r>
              <a:rPr b="0" i="1" lang="en-US" sz="40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Attribute</a:t>
            </a:r>
            <a:r>
              <a:rPr b="0" i="0" lang="en-US" sz="4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becomes a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field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		(i.e., a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Each </a:t>
            </a:r>
            <a:r>
              <a:rPr b="0" i="1" lang="en-US" sz="40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Association</a:t>
            </a:r>
            <a:r>
              <a:rPr b="0" i="0" lang="en-US" sz="4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becomes an 		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access pathway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(i.e., a 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foreign key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)</a:t>
            </a:r>
            <a:endParaRPr/>
          </a:p>
        </p:txBody>
      </p:sp>
      <p:sp>
        <p:nvSpPr>
          <p:cNvPr id="356" name="Google Shape;356;p2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❷</a:t>
            </a: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E-R models for database design.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3333"/>
            </a:gs>
            <a:gs pos="100000">
              <a:srgbClr val="FF0000"/>
            </a:gs>
          </a:gsLst>
          <a:lin ang="5400000" scaled="0"/>
        </a:gra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 non-intersect history</a:t>
            </a:r>
            <a:endParaRPr/>
          </a:p>
        </p:txBody>
      </p:sp>
      <p:sp>
        <p:nvSpPr>
          <p:cNvPr id="363" name="Google Shape;363;p2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 the early 70s</a:t>
            </a:r>
            <a:r>
              <a:rPr b="0" i="0" lang="en-US" sz="2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’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Database field begins to understand the important of data. The idea of </a:t>
            </a:r>
            <a:r>
              <a:rPr b="0" i="0" lang="en-US" sz="2800" u="none">
                <a:solidFill>
                  <a:srgbClr val="EF9100"/>
                </a:solidFill>
                <a:latin typeface="Verdana"/>
                <a:ea typeface="Verdana"/>
                <a:cs typeface="Verdana"/>
                <a:sym typeface="Verdana"/>
              </a:rPr>
              <a:t>entity type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(class) </a:t>
            </a:r>
            <a:r>
              <a:rPr b="0" i="0" lang="en-US" sz="2800" u="none">
                <a:solidFill>
                  <a:srgbClr val="EF9100"/>
                </a:solidFill>
                <a:latin typeface="Verdana"/>
                <a:ea typeface="Verdana"/>
                <a:cs typeface="Verdana"/>
                <a:sym typeface="Verdana"/>
              </a:rPr>
              <a:t>occurrence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(objects) and attribute begins to emerge. And, more importantly the </a:t>
            </a:r>
            <a:r>
              <a:rPr b="0" i="0" lang="en-US" sz="2800" u="none">
                <a:solidFill>
                  <a:srgbClr val="EF9100"/>
                </a:solidFill>
                <a:latin typeface="Verdana"/>
                <a:ea typeface="Verdana"/>
                <a:cs typeface="Verdana"/>
                <a:sym typeface="Verdana"/>
              </a:rPr>
              <a:t>stability of data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 the meantime, software engineering enter the era of procedure-oriented, searching for reusable modules and procedures.</a:t>
            </a:r>
            <a:endParaRPr/>
          </a:p>
        </p:txBody>
      </p:sp>
      <p:sp>
        <p:nvSpPr>
          <p:cNvPr id="364" name="Google Shape;364;p28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❸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</a:t>
            </a:r>
            <a:r>
              <a:rPr b="0" i="0" lang="en-US" sz="3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60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Stability</a:t>
            </a:r>
            <a:r>
              <a:rPr b="0" i="0" lang="en-US" sz="5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of Data.</a:t>
            </a:r>
            <a:endParaRPr/>
          </a:p>
        </p:txBody>
      </p:sp>
      <p:sp>
        <p:nvSpPr>
          <p:cNvPr id="370" name="Google Shape;370;p29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This year, our favorite Transit Company is concerned with entity types: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Bus, Driver, Route, Trip, Bus Stop and Passenger.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Ten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years from now, there will be many changes in how the company is run, and in how the people do their jobs.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But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they will </a:t>
            </a:r>
            <a:r>
              <a:rPr b="0" i="1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still</a:t>
            </a: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have to deal with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Buses, Drivers, Routes, Trips, Bus Stops and Passengers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b="0" i="0" sz="2400" u="none">
              <a:solidFill>
                <a:srgbClr val="F6BF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Not only that, but ten years ago they worked with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1680"/>
              <a:buNone/>
            </a:pPr>
            <a:r>
              <a:rPr b="0" i="0" lang="en-US" sz="24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Buses, Drivers, Routes, Trips, Bus Stops and Passengers</a:t>
            </a: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/>
          </a:p>
        </p:txBody>
      </p:sp>
      <p:sp>
        <p:nvSpPr>
          <p:cNvPr id="371" name="Google Shape;371;p29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0"/>
          <p:cNvSpPr txBox="1"/>
          <p:nvPr>
            <p:ph idx="1" type="body"/>
          </p:nvPr>
        </p:nvSpPr>
        <p:spPr>
          <a:xfrm>
            <a:off x="0" y="1295400"/>
            <a:ext cx="9067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However, entities are neither static nor stagnant;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There may be an occasional new entity,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There will often be new attributes,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But as long as we stay in the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0" i="0" lang="en-US" sz="40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same business </a:t>
            </a:r>
            <a:endParaRPr b="0" i="0" sz="32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Verdana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there will be very </a:t>
            </a:r>
            <a:endParaRPr/>
          </a:p>
          <a:p>
            <a:pPr indent="-285750" lvl="1" marL="74295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F6BF69"/>
              </a:buClr>
              <a:buSzPts val="4800"/>
              <a:buFont typeface="Arial"/>
              <a:buNone/>
            </a:pPr>
            <a:r>
              <a:rPr b="0" i="0" lang="en-US" sz="4800" u="sng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few new entities.</a:t>
            </a:r>
            <a:endParaRPr/>
          </a:p>
        </p:txBody>
      </p:sp>
      <p:sp>
        <p:nvSpPr>
          <p:cNvPr id="377" name="Google Shape;377;p3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❸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</a:t>
            </a:r>
            <a:r>
              <a:rPr b="0" i="0" lang="en-US" sz="3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60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Stability</a:t>
            </a:r>
            <a:r>
              <a:rPr b="0" i="0" lang="en-US" sz="5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of Data.</a:t>
            </a:r>
            <a:endParaRPr/>
          </a:p>
        </p:txBody>
      </p:sp>
      <p:sp>
        <p:nvSpPr>
          <p:cNvPr id="378" name="Google Shape;378;p30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1"/>
          <p:cNvSpPr txBox="1"/>
          <p:nvPr>
            <p:ph idx="1" type="body"/>
          </p:nvPr>
        </p:nvSpPr>
        <p:spPr>
          <a:xfrm>
            <a:off x="457200" y="2355850"/>
            <a:ext cx="8229600" cy="37750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4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This stability contributes greatly to reducing the costs and delays in system maintenance.</a:t>
            </a:r>
            <a:endParaRPr/>
          </a:p>
        </p:txBody>
      </p:sp>
      <p:sp>
        <p:nvSpPr>
          <p:cNvPr id="384" name="Google Shape;384;p3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❸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</a:t>
            </a:r>
            <a:r>
              <a:rPr b="0" i="0" lang="en-US" sz="3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60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Stability</a:t>
            </a:r>
            <a:r>
              <a:rPr b="0" i="0" lang="en-US" sz="5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of Data.</a:t>
            </a:r>
            <a:endParaRPr/>
          </a:p>
        </p:txBody>
      </p:sp>
      <p:sp>
        <p:nvSpPr>
          <p:cNvPr id="385" name="Google Shape;385;p31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2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However, </a:t>
            </a:r>
            <a:r>
              <a:rPr b="0" i="1" lang="en-US" sz="4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beware new business</a:t>
            </a:r>
            <a:r>
              <a:rPr b="0" i="1" lang="en-US" sz="44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!</a:t>
            </a:r>
            <a:endParaRPr b="0" i="0" sz="40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20"/>
              </a:spcBef>
              <a:spcAft>
                <a:spcPts val="0"/>
              </a:spcAft>
              <a:buClr>
                <a:schemeClr val="lt1"/>
              </a:buClr>
              <a:buSzPts val="600"/>
              <a:buFont typeface="Verdana"/>
              <a:buNone/>
            </a:pPr>
            <a:r>
              <a:rPr b="0" i="0" lang="en-US" sz="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Mergers, acquisitions, takeovers and diversifications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can all put your company into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</a:pPr>
            <a:r>
              <a:rPr b="0" i="1" lang="en-US" sz="4000" u="none">
                <a:solidFill>
                  <a:srgbClr val="F6BF69"/>
                </a:solidFill>
                <a:latin typeface="Verdana"/>
                <a:ea typeface="Verdana"/>
                <a:cs typeface="Verdana"/>
                <a:sym typeface="Verdana"/>
              </a:rPr>
              <a:t>new businesses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with a host of 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780"/>
              <a:buNone/>
            </a:pPr>
            <a:r>
              <a:rPr b="0" i="1" lang="en-US" sz="5400" u="sng">
                <a:solidFill>
                  <a:srgbClr val="F6BF69"/>
                </a:solidFill>
                <a:latin typeface="Verdana"/>
                <a:ea typeface="Verdana"/>
                <a:cs typeface="Verdana"/>
                <a:sym typeface="Verdana"/>
              </a:rPr>
              <a:t>new entity types.</a:t>
            </a:r>
            <a:endParaRPr/>
          </a:p>
        </p:txBody>
      </p:sp>
      <p:sp>
        <p:nvSpPr>
          <p:cNvPr id="391" name="Google Shape;391;p3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❸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</a:t>
            </a:r>
            <a:r>
              <a:rPr b="0" i="0" lang="en-US" sz="3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60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Stability</a:t>
            </a:r>
            <a:r>
              <a:rPr b="0" i="0" lang="en-US" sz="5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of Data.</a:t>
            </a:r>
            <a:endParaRPr/>
          </a:p>
        </p:txBody>
      </p:sp>
      <p:sp>
        <p:nvSpPr>
          <p:cNvPr id="392" name="Google Shape;392;p32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3"/>
          <p:cNvSpPr txBox="1"/>
          <p:nvPr>
            <p:ph type="title"/>
          </p:nvPr>
        </p:nvSpPr>
        <p:spPr>
          <a:xfrm>
            <a:off x="152400" y="0"/>
            <a:ext cx="86868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❹</a:t>
            </a: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</a:t>
            </a:r>
            <a:r>
              <a:rPr b="0" i="0" lang="en-US" sz="3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6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Significance</a:t>
            </a:r>
            <a:r>
              <a:rPr b="0" i="0" lang="en-US" sz="54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of Data.</a:t>
            </a:r>
            <a:endParaRPr/>
          </a:p>
        </p:txBody>
      </p:sp>
      <p:sp>
        <p:nvSpPr>
          <p:cNvPr id="398" name="Google Shape;398;p33"/>
          <p:cNvSpPr txBox="1"/>
          <p:nvPr>
            <p:ph idx="1" type="body"/>
          </p:nvPr>
        </p:nvSpPr>
        <p:spPr>
          <a:xfrm>
            <a:off x="0" y="1600200"/>
            <a:ext cx="9067800" cy="28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40"/>
              <a:buNone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Data modeler</a:t>
            </a:r>
            <a:r>
              <a:rPr b="0" i="0" lang="en-US" sz="32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’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 Creed: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120"/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5600"/>
              <a:buNone/>
            </a:pPr>
            <a:r>
              <a:rPr b="0" i="1" lang="en-US" sz="80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6600" u="none">
              <a:solidFill>
                <a:srgbClr val="EF91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520"/>
              <a:buNone/>
            </a:pPr>
            <a:r>
              <a:rPr b="0" i="0" lang="en-US" sz="36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is the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SzPts val="3080"/>
              <a:buNone/>
            </a:pPr>
            <a:r>
              <a:rPr b="0" i="0" lang="en-US" sz="44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Centre of the Universe</a:t>
            </a:r>
            <a:endParaRPr/>
          </a:p>
        </p:txBody>
      </p:sp>
      <p:sp>
        <p:nvSpPr>
          <p:cNvPr id="399" name="Google Shape;399;p33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 the meantime</a:t>
            </a:r>
            <a:endParaRPr/>
          </a:p>
        </p:txBody>
      </p:sp>
      <p:sp>
        <p:nvSpPr>
          <p:cNvPr id="405" name="Google Shape;405;p34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SE researchers search for reusable software unit based on procedure oriented had failed !!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Some bright people began to think the essence of software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They suddenly aware of that the data is seldom changed but procedures (system functions) are changed frequently</a:t>
            </a:r>
            <a:endParaRPr/>
          </a:p>
        </p:txBody>
      </p:sp>
      <p:pic>
        <p:nvPicPr>
          <p:cNvPr id="406" name="Google Shape;40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900" y="50800"/>
            <a:ext cx="7361237" cy="539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4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5"/>
          <p:cNvSpPr txBox="1"/>
          <p:nvPr>
            <p:ph type="title"/>
          </p:nvPr>
        </p:nvSpPr>
        <p:spPr>
          <a:xfrm>
            <a:off x="76200" y="171450"/>
            <a:ext cx="899160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6600"/>
              <a:buFont typeface="Noto Sans Symbols"/>
              <a:buNone/>
            </a:pPr>
            <a:r>
              <a:rPr b="0" i="0" lang="en-US" sz="66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4400" u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413" name="Google Shape;413;p35"/>
          <p:cNvSpPr txBox="1"/>
          <p:nvPr>
            <p:ph idx="1" type="body"/>
          </p:nvPr>
        </p:nvSpPr>
        <p:spPr>
          <a:xfrm>
            <a:off x="228600" y="1295400"/>
            <a:ext cx="87630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There are many E-R notations.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All of them work, any will do the job.</a:t>
            </a:r>
            <a:endParaRPr/>
          </a:p>
          <a:p>
            <a:pPr indent="-228600" lvl="4" marL="2057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Use whichever one you or your boss or your professor or your client prefers.</a:t>
            </a:r>
            <a:endParaRPr/>
          </a:p>
          <a:p>
            <a:pPr indent="-228600" lvl="4" marL="20574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20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UML is now the standard notation in the object world, so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 will use UML for our Entities as well as our Objects.</a:t>
            </a:r>
            <a:endParaRPr/>
          </a:p>
        </p:txBody>
      </p:sp>
      <p:sp>
        <p:nvSpPr>
          <p:cNvPr id="414" name="Google Shape;414;p35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ERD diagrams notations</a:t>
            </a:r>
            <a:endParaRPr/>
          </a:p>
        </p:txBody>
      </p:sp>
      <p:graphicFrame>
        <p:nvGraphicFramePr>
          <p:cNvPr id="420" name="Google Shape;420;p36"/>
          <p:cNvGraphicFramePr/>
          <p:nvPr/>
        </p:nvGraphicFramePr>
        <p:xfrm>
          <a:off x="1535112" y="284956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{F9D07636-7856-4C42-ABBA-2780AEB86C70}</a:tableStyleId>
              </a:tblPr>
              <a:tblGrid>
                <a:gridCol w="6073775"/>
              </a:tblGrid>
              <a:tr h="1295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lt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pic>
        <p:nvPicPr>
          <p:cNvPr descr="erd" id="421" name="Google Shape;421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35150" y="1628775"/>
            <a:ext cx="5591175" cy="1266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dexample" id="422" name="Google Shape;422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3212" y="3500437"/>
            <a:ext cx="3019425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rdentity" id="428" name="Google Shape;428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350" y="765175"/>
            <a:ext cx="1333500" cy="67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dweakentity" id="429" name="Google Shape;429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80062" y="765175"/>
            <a:ext cx="1533525" cy="800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dattribute" id="430" name="Google Shape;430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03350" y="1773237"/>
            <a:ext cx="117157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dkeyattr" id="431" name="Google Shape;431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31912" y="2636837"/>
            <a:ext cx="1228725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dmultattrib" id="432" name="Google Shape;432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619250" y="3500437"/>
            <a:ext cx="1219200" cy="542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derivedatt" id="433" name="Google Shape;433;p3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492500" y="4149725"/>
            <a:ext cx="1276350" cy="619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drelationship" id="434" name="Google Shape;434;p3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331912" y="4292600"/>
            <a:ext cx="1495425" cy="1133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dweakrelation" id="435" name="Google Shape;435;p3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3348037" y="692150"/>
            <a:ext cx="1552575" cy="100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dcardinality" id="436" name="Google Shape;436;p3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276600" y="1989137"/>
            <a:ext cx="1905000" cy="1781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rdrecursive" id="437" name="Google Shape;437;p3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35375" y="5084762"/>
            <a:ext cx="115252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UML era</a:t>
            </a:r>
            <a:endParaRPr/>
          </a:p>
        </p:txBody>
      </p:sp>
      <p:sp>
        <p:nvSpPr>
          <p:cNvPr id="444" name="Google Shape;444;p3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Now, UML is the most popular notations for system analysis and design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So, we use UML to draw ERD</a:t>
            </a:r>
            <a:endParaRPr/>
          </a:p>
        </p:txBody>
      </p:sp>
      <p:sp>
        <p:nvSpPr>
          <p:cNvPr id="445" name="Google Shape;445;p38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9"/>
          <p:cNvSpPr txBox="1"/>
          <p:nvPr>
            <p:ph idx="1" type="body"/>
          </p:nvPr>
        </p:nvSpPr>
        <p:spPr>
          <a:xfrm>
            <a:off x="228600" y="1752600"/>
            <a:ext cx="88392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Draw an Entity as a square or rectangular box, divided by a line near the top.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Above the line place the name, singular.</a:t>
            </a:r>
            <a:endParaRPr/>
          </a:p>
        </p:txBody>
      </p:sp>
      <p:sp>
        <p:nvSpPr>
          <p:cNvPr id="451" name="Google Shape;451;p39"/>
          <p:cNvSpPr txBox="1"/>
          <p:nvPr>
            <p:ph type="title"/>
          </p:nvPr>
        </p:nvSpPr>
        <p:spPr>
          <a:xfrm>
            <a:off x="304800" y="171450"/>
            <a:ext cx="868680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5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Entities</a:t>
            </a:r>
            <a:endParaRPr/>
          </a:p>
        </p:txBody>
      </p:sp>
      <p:sp>
        <p:nvSpPr>
          <p:cNvPr id="452" name="Google Shape;452;p39"/>
          <p:cNvSpPr txBox="1"/>
          <p:nvPr/>
        </p:nvSpPr>
        <p:spPr>
          <a:xfrm>
            <a:off x="3511550" y="4502150"/>
            <a:ext cx="1663700" cy="1816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53" name="Google Shape;453;p39"/>
          <p:cNvCxnSpPr/>
          <p:nvPr/>
        </p:nvCxnSpPr>
        <p:spPr>
          <a:xfrm>
            <a:off x="3511550" y="4876800"/>
            <a:ext cx="16637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54" name="Google Shape;454;p39"/>
          <p:cNvSpPr txBox="1"/>
          <p:nvPr/>
        </p:nvSpPr>
        <p:spPr>
          <a:xfrm>
            <a:off x="3617912" y="4481512"/>
            <a:ext cx="1314450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/>
          </a:p>
        </p:txBody>
      </p:sp>
      <p:sp>
        <p:nvSpPr>
          <p:cNvPr id="455" name="Google Shape;455;p39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0"/>
          <p:cNvSpPr txBox="1"/>
          <p:nvPr>
            <p:ph idx="1" type="body"/>
          </p:nvPr>
        </p:nvSpPr>
        <p:spPr>
          <a:xfrm>
            <a:off x="76200" y="1752600"/>
            <a:ext cx="89154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If there are not too many, Attributes may go in the bottom part of the box.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Primary key first, marked with an asterisk.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If not enough room, show only the key,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	list the others in the accompanying write-up.</a:t>
            </a:r>
            <a:endParaRPr/>
          </a:p>
        </p:txBody>
      </p:sp>
      <p:sp>
        <p:nvSpPr>
          <p:cNvPr id="461" name="Google Shape;461;p40"/>
          <p:cNvSpPr txBox="1"/>
          <p:nvPr>
            <p:ph type="title"/>
          </p:nvPr>
        </p:nvSpPr>
        <p:spPr>
          <a:xfrm>
            <a:off x="304800" y="171450"/>
            <a:ext cx="8686800" cy="1123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5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endParaRPr/>
          </a:p>
        </p:txBody>
      </p:sp>
      <p:sp>
        <p:nvSpPr>
          <p:cNvPr id="462" name="Google Shape;462;p40"/>
          <p:cNvSpPr txBox="1"/>
          <p:nvPr/>
        </p:nvSpPr>
        <p:spPr>
          <a:xfrm>
            <a:off x="3511550" y="4502150"/>
            <a:ext cx="1663700" cy="1816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63" name="Google Shape;463;p40"/>
          <p:cNvCxnSpPr/>
          <p:nvPr/>
        </p:nvCxnSpPr>
        <p:spPr>
          <a:xfrm>
            <a:off x="3511550" y="4876800"/>
            <a:ext cx="16637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64" name="Google Shape;464;p40"/>
          <p:cNvSpPr txBox="1"/>
          <p:nvPr/>
        </p:nvSpPr>
        <p:spPr>
          <a:xfrm>
            <a:off x="3713162" y="4527550"/>
            <a:ext cx="11271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/>
          </a:p>
        </p:txBody>
      </p:sp>
      <p:sp>
        <p:nvSpPr>
          <p:cNvPr id="465" name="Google Shape;465;p40"/>
          <p:cNvSpPr txBox="1"/>
          <p:nvPr/>
        </p:nvSpPr>
        <p:spPr>
          <a:xfrm>
            <a:off x="3490912" y="4908550"/>
            <a:ext cx="170497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*Student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</p:txBody>
      </p:sp>
      <p:sp>
        <p:nvSpPr>
          <p:cNvPr id="466" name="Google Shape;466;p40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41"/>
          <p:cNvSpPr txBox="1"/>
          <p:nvPr>
            <p:ph idx="1" type="body"/>
          </p:nvPr>
        </p:nvSpPr>
        <p:spPr>
          <a:xfrm>
            <a:off x="457200" y="1874837"/>
            <a:ext cx="8229600" cy="157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Draw a line joining two entity boxes to show a relationship exists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Write the verb above the line.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0" i="0" lang="en-US" sz="2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Enrolls In</a:t>
            </a:r>
            <a:endParaRPr/>
          </a:p>
        </p:txBody>
      </p:sp>
      <p:sp>
        <p:nvSpPr>
          <p:cNvPr id="472" name="Google Shape;472;p41"/>
          <p:cNvSpPr txBox="1"/>
          <p:nvPr>
            <p:ph type="title"/>
          </p:nvPr>
        </p:nvSpPr>
        <p:spPr>
          <a:xfrm>
            <a:off x="304800" y="171450"/>
            <a:ext cx="84582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8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Associations</a:t>
            </a:r>
            <a:r>
              <a:rPr b="0" i="0" lang="en-US" sz="44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473" name="Google Shape;473;p41"/>
          <p:cNvSpPr txBox="1"/>
          <p:nvPr/>
        </p:nvSpPr>
        <p:spPr>
          <a:xfrm>
            <a:off x="1530350" y="4197350"/>
            <a:ext cx="1739900" cy="1816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74" name="Google Shape;474;p41"/>
          <p:cNvCxnSpPr/>
          <p:nvPr/>
        </p:nvCxnSpPr>
        <p:spPr>
          <a:xfrm>
            <a:off x="1530350" y="4572000"/>
            <a:ext cx="1739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75" name="Google Shape;475;p41"/>
          <p:cNvSpPr txBox="1"/>
          <p:nvPr/>
        </p:nvSpPr>
        <p:spPr>
          <a:xfrm>
            <a:off x="1808162" y="4222750"/>
            <a:ext cx="11271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/>
          </a:p>
        </p:txBody>
      </p:sp>
      <p:sp>
        <p:nvSpPr>
          <p:cNvPr id="476" name="Google Shape;476;p41"/>
          <p:cNvSpPr txBox="1"/>
          <p:nvPr/>
        </p:nvSpPr>
        <p:spPr>
          <a:xfrm>
            <a:off x="1509712" y="4603750"/>
            <a:ext cx="170497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*Student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</p:txBody>
      </p:sp>
      <p:sp>
        <p:nvSpPr>
          <p:cNvPr id="477" name="Google Shape;477;p41"/>
          <p:cNvSpPr txBox="1"/>
          <p:nvPr/>
        </p:nvSpPr>
        <p:spPr>
          <a:xfrm>
            <a:off x="6788150" y="3816350"/>
            <a:ext cx="1663700" cy="2197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78" name="Google Shape;478;p41"/>
          <p:cNvCxnSpPr/>
          <p:nvPr/>
        </p:nvCxnSpPr>
        <p:spPr>
          <a:xfrm>
            <a:off x="6788150" y="4572000"/>
            <a:ext cx="16637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79" name="Google Shape;479;p41"/>
          <p:cNvSpPr txBox="1"/>
          <p:nvPr/>
        </p:nvSpPr>
        <p:spPr>
          <a:xfrm>
            <a:off x="6970712" y="3827462"/>
            <a:ext cx="1166812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Offering</a:t>
            </a:r>
            <a:endParaRPr/>
          </a:p>
        </p:txBody>
      </p:sp>
      <p:sp>
        <p:nvSpPr>
          <p:cNvPr id="480" name="Google Shape;480;p41"/>
          <p:cNvSpPr txBox="1"/>
          <p:nvPr/>
        </p:nvSpPr>
        <p:spPr>
          <a:xfrm>
            <a:off x="6767512" y="4603750"/>
            <a:ext cx="163512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*Course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Room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Enrol</a:t>
            </a:r>
            <a:endParaRPr/>
          </a:p>
        </p:txBody>
      </p:sp>
      <p:cxnSp>
        <p:nvCxnSpPr>
          <p:cNvPr id="481" name="Google Shape;481;p41"/>
          <p:cNvCxnSpPr/>
          <p:nvPr/>
        </p:nvCxnSpPr>
        <p:spPr>
          <a:xfrm>
            <a:off x="3282950" y="5181600"/>
            <a:ext cx="34925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aphicFrame>
        <p:nvGraphicFramePr>
          <p:cNvPr id="482" name="Google Shape;482;p41"/>
          <p:cNvGraphicFramePr/>
          <p:nvPr/>
        </p:nvGraphicFramePr>
        <p:xfrm>
          <a:off x="4824412" y="4189412"/>
          <a:ext cx="1554162" cy="1284287"/>
        </p:xfrm>
        <a:graphic>
          <a:graphicData uri="http://schemas.openxmlformats.org/presentationml/2006/ole">
            <mc:AlternateContent>
              <mc:Choice Requires="v">
                <p:oleObj r:id="rId4" imgH="1284287" imgW="1554162" progId="Visio.Drawing.6" spid="_x0000_s1">
                  <p:embed/>
                </p:oleObj>
              </mc:Choice>
              <mc:Fallback>
                <p:oleObj r:id="rId5" imgH="1284287" imgW="1554162" progId="Visio.Drawing.6">
                  <p:embed/>
                  <p:pic>
                    <p:nvPicPr>
                      <p:cNvPr id="482" name="Google Shape;482;p4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824412" y="4189412"/>
                        <a:ext cx="1554162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3" name="Google Shape;483;p41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2"/>
          <p:cNvSpPr txBox="1"/>
          <p:nvPr>
            <p:ph type="title"/>
          </p:nvPr>
        </p:nvSpPr>
        <p:spPr>
          <a:xfrm>
            <a:off x="304800" y="171450"/>
            <a:ext cx="84582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8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Associations</a:t>
            </a:r>
            <a:endParaRPr/>
          </a:p>
        </p:txBody>
      </p:sp>
      <p:sp>
        <p:nvSpPr>
          <p:cNvPr id="489" name="Google Shape;489;p42"/>
          <p:cNvSpPr txBox="1"/>
          <p:nvPr/>
        </p:nvSpPr>
        <p:spPr>
          <a:xfrm>
            <a:off x="6788150" y="3816350"/>
            <a:ext cx="1663700" cy="2197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90" name="Google Shape;490;p42"/>
          <p:cNvCxnSpPr/>
          <p:nvPr/>
        </p:nvCxnSpPr>
        <p:spPr>
          <a:xfrm>
            <a:off x="6788150" y="4572000"/>
            <a:ext cx="16637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91" name="Google Shape;491;p42"/>
          <p:cNvSpPr txBox="1"/>
          <p:nvPr/>
        </p:nvSpPr>
        <p:spPr>
          <a:xfrm>
            <a:off x="6970712" y="3827462"/>
            <a:ext cx="1166812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Offering</a:t>
            </a:r>
            <a:endParaRPr/>
          </a:p>
        </p:txBody>
      </p:sp>
      <p:sp>
        <p:nvSpPr>
          <p:cNvPr id="492" name="Google Shape;492;p42"/>
          <p:cNvSpPr txBox="1"/>
          <p:nvPr/>
        </p:nvSpPr>
        <p:spPr>
          <a:xfrm>
            <a:off x="6767512" y="4603750"/>
            <a:ext cx="163512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*Course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Room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Enrol</a:t>
            </a:r>
            <a:endParaRPr/>
          </a:p>
        </p:txBody>
      </p:sp>
      <p:cxnSp>
        <p:nvCxnSpPr>
          <p:cNvPr id="493" name="Google Shape;493;p42"/>
          <p:cNvCxnSpPr/>
          <p:nvPr/>
        </p:nvCxnSpPr>
        <p:spPr>
          <a:xfrm>
            <a:off x="3282950" y="5181600"/>
            <a:ext cx="34925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94" name="Google Shape;494;p42"/>
          <p:cNvSpPr txBox="1"/>
          <p:nvPr>
            <p:ph idx="1" type="body"/>
          </p:nvPr>
        </p:nvSpPr>
        <p:spPr>
          <a:xfrm>
            <a:off x="457200" y="1874837"/>
            <a:ext cx="8229600" cy="157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Add a solid arrowhead so that it makes a sentence when you read it </a:t>
            </a:r>
            <a:r>
              <a:rPr b="0" i="0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in the direction of the arrow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Student </a:t>
            </a:r>
            <a:r>
              <a:rPr b="0" i="1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enrols in 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course</a:t>
            </a: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 b="0" i="0" sz="32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0" i="0" lang="en-US" sz="2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Enrolls In</a:t>
            </a:r>
            <a:endParaRPr/>
          </a:p>
        </p:txBody>
      </p:sp>
      <p:sp>
        <p:nvSpPr>
          <p:cNvPr id="495" name="Google Shape;495;p42"/>
          <p:cNvSpPr txBox="1"/>
          <p:nvPr/>
        </p:nvSpPr>
        <p:spPr>
          <a:xfrm>
            <a:off x="1530350" y="4197350"/>
            <a:ext cx="1739900" cy="1816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496" name="Google Shape;496;p42"/>
          <p:cNvCxnSpPr/>
          <p:nvPr/>
        </p:nvCxnSpPr>
        <p:spPr>
          <a:xfrm>
            <a:off x="1530350" y="4572000"/>
            <a:ext cx="1739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497" name="Google Shape;497;p42"/>
          <p:cNvSpPr txBox="1"/>
          <p:nvPr/>
        </p:nvSpPr>
        <p:spPr>
          <a:xfrm>
            <a:off x="1808162" y="4222750"/>
            <a:ext cx="11271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/>
          </a:p>
        </p:txBody>
      </p:sp>
      <p:sp>
        <p:nvSpPr>
          <p:cNvPr id="498" name="Google Shape;498;p42"/>
          <p:cNvSpPr txBox="1"/>
          <p:nvPr/>
        </p:nvSpPr>
        <p:spPr>
          <a:xfrm>
            <a:off x="1509712" y="4603750"/>
            <a:ext cx="170497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*Student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</p:txBody>
      </p:sp>
      <p:graphicFrame>
        <p:nvGraphicFramePr>
          <p:cNvPr id="499" name="Google Shape;499;p42"/>
          <p:cNvGraphicFramePr/>
          <p:nvPr/>
        </p:nvGraphicFramePr>
        <p:xfrm>
          <a:off x="4824412" y="4189412"/>
          <a:ext cx="1554162" cy="1284287"/>
        </p:xfrm>
        <a:graphic>
          <a:graphicData uri="http://schemas.openxmlformats.org/presentationml/2006/ole">
            <mc:AlternateContent>
              <mc:Choice Requires="v">
                <p:oleObj r:id="rId4" imgH="1284287" imgW="1554162" progId="Visio.Drawing.6" spid="_x0000_s1">
                  <p:embed/>
                </p:oleObj>
              </mc:Choice>
              <mc:Fallback>
                <p:oleObj r:id="rId5" imgH="1284287" imgW="1554162" progId="Visio.Drawing.6">
                  <p:embed/>
                  <p:pic>
                    <p:nvPicPr>
                      <p:cNvPr id="499" name="Google Shape;499;p4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824412" y="4189412"/>
                        <a:ext cx="1554162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0" name="Google Shape;500;p42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43"/>
          <p:cNvSpPr txBox="1"/>
          <p:nvPr>
            <p:ph type="title"/>
          </p:nvPr>
        </p:nvSpPr>
        <p:spPr>
          <a:xfrm>
            <a:off x="304800" y="171450"/>
            <a:ext cx="84582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8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Associations</a:t>
            </a:r>
            <a:endParaRPr/>
          </a:p>
        </p:txBody>
      </p:sp>
      <p:sp>
        <p:nvSpPr>
          <p:cNvPr id="506" name="Google Shape;506;p43"/>
          <p:cNvSpPr txBox="1"/>
          <p:nvPr/>
        </p:nvSpPr>
        <p:spPr>
          <a:xfrm>
            <a:off x="6788150" y="3816350"/>
            <a:ext cx="1663700" cy="2197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07" name="Google Shape;507;p43"/>
          <p:cNvCxnSpPr/>
          <p:nvPr/>
        </p:nvCxnSpPr>
        <p:spPr>
          <a:xfrm>
            <a:off x="6788150" y="4572000"/>
            <a:ext cx="16637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08" name="Google Shape;508;p43"/>
          <p:cNvSpPr txBox="1"/>
          <p:nvPr/>
        </p:nvSpPr>
        <p:spPr>
          <a:xfrm>
            <a:off x="6970712" y="3827462"/>
            <a:ext cx="1166812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Offering</a:t>
            </a:r>
            <a:endParaRPr/>
          </a:p>
        </p:txBody>
      </p:sp>
      <p:sp>
        <p:nvSpPr>
          <p:cNvPr id="509" name="Google Shape;509;p43"/>
          <p:cNvSpPr txBox="1"/>
          <p:nvPr/>
        </p:nvSpPr>
        <p:spPr>
          <a:xfrm>
            <a:off x="6767512" y="4603750"/>
            <a:ext cx="163512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*Course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Room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Enrol</a:t>
            </a:r>
            <a:endParaRPr/>
          </a:p>
        </p:txBody>
      </p:sp>
      <p:cxnSp>
        <p:nvCxnSpPr>
          <p:cNvPr id="510" name="Google Shape;510;p43"/>
          <p:cNvCxnSpPr/>
          <p:nvPr/>
        </p:nvCxnSpPr>
        <p:spPr>
          <a:xfrm>
            <a:off x="3282950" y="5181600"/>
            <a:ext cx="34925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11" name="Google Shape;511;p43"/>
          <p:cNvSpPr txBox="1"/>
          <p:nvPr/>
        </p:nvSpPr>
        <p:spPr>
          <a:xfrm>
            <a:off x="1530350" y="4197350"/>
            <a:ext cx="1739900" cy="1816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12" name="Google Shape;512;p43"/>
          <p:cNvCxnSpPr/>
          <p:nvPr/>
        </p:nvCxnSpPr>
        <p:spPr>
          <a:xfrm>
            <a:off x="1530350" y="4572000"/>
            <a:ext cx="1739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13" name="Google Shape;513;p43"/>
          <p:cNvSpPr txBox="1"/>
          <p:nvPr/>
        </p:nvSpPr>
        <p:spPr>
          <a:xfrm>
            <a:off x="1808162" y="4222750"/>
            <a:ext cx="11271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/>
          </a:p>
        </p:txBody>
      </p:sp>
      <p:sp>
        <p:nvSpPr>
          <p:cNvPr id="514" name="Google Shape;514;p43"/>
          <p:cNvSpPr txBox="1"/>
          <p:nvPr/>
        </p:nvSpPr>
        <p:spPr>
          <a:xfrm>
            <a:off x="1509712" y="4603750"/>
            <a:ext cx="170497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*Student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</p:txBody>
      </p:sp>
      <p:sp>
        <p:nvSpPr>
          <p:cNvPr id="515" name="Google Shape;515;p43"/>
          <p:cNvSpPr txBox="1"/>
          <p:nvPr/>
        </p:nvSpPr>
        <p:spPr>
          <a:xfrm>
            <a:off x="3663950" y="1377950"/>
            <a:ext cx="2120900" cy="2273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16" name="Google Shape;516;p43"/>
          <p:cNvCxnSpPr/>
          <p:nvPr/>
        </p:nvCxnSpPr>
        <p:spPr>
          <a:xfrm>
            <a:off x="3663950" y="1752600"/>
            <a:ext cx="2120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17" name="Google Shape;517;p43"/>
          <p:cNvSpPr txBox="1"/>
          <p:nvPr/>
        </p:nvSpPr>
        <p:spPr>
          <a:xfrm>
            <a:off x="3746500" y="1357312"/>
            <a:ext cx="15192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/>
          </a:p>
        </p:txBody>
      </p:sp>
      <p:sp>
        <p:nvSpPr>
          <p:cNvPr id="518" name="Google Shape;518;p43"/>
          <p:cNvSpPr txBox="1"/>
          <p:nvPr/>
        </p:nvSpPr>
        <p:spPr>
          <a:xfrm>
            <a:off x="3643312" y="1738312"/>
            <a:ext cx="214471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*Employee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endParaRPr/>
          </a:p>
        </p:txBody>
      </p:sp>
      <p:cxnSp>
        <p:nvCxnSpPr>
          <p:cNvPr id="519" name="Google Shape;519;p43"/>
          <p:cNvCxnSpPr/>
          <p:nvPr/>
        </p:nvCxnSpPr>
        <p:spPr>
          <a:xfrm>
            <a:off x="5797550" y="2063750"/>
            <a:ext cx="1435100" cy="17399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20" name="Google Shape;520;p43"/>
          <p:cNvSpPr txBox="1"/>
          <p:nvPr/>
        </p:nvSpPr>
        <p:spPr>
          <a:xfrm>
            <a:off x="6386512" y="2470150"/>
            <a:ext cx="11271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/>
          </a:p>
        </p:txBody>
      </p:sp>
      <p:sp>
        <p:nvSpPr>
          <p:cNvPr id="521" name="Google Shape;521;p43"/>
          <p:cNvSpPr txBox="1"/>
          <p:nvPr/>
        </p:nvSpPr>
        <p:spPr>
          <a:xfrm>
            <a:off x="4481512" y="4621212"/>
            <a:ext cx="133667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Enrolls In</a:t>
            </a:r>
            <a:endParaRPr/>
          </a:p>
        </p:txBody>
      </p:sp>
      <p:graphicFrame>
        <p:nvGraphicFramePr>
          <p:cNvPr id="522" name="Google Shape;522;p43"/>
          <p:cNvGraphicFramePr/>
          <p:nvPr/>
        </p:nvGraphicFramePr>
        <p:xfrm>
          <a:off x="6607175" y="2619375"/>
          <a:ext cx="1338262" cy="1377950"/>
        </p:xfrm>
        <a:graphic>
          <a:graphicData uri="http://schemas.openxmlformats.org/presentationml/2006/ole">
            <mc:AlternateContent>
              <mc:Choice Requires="v">
                <p:oleObj r:id="rId4" imgH="1377950" imgW="1338262" progId="Visio.Drawing.6" spid="_x0000_s1">
                  <p:embed/>
                </p:oleObj>
              </mc:Choice>
              <mc:Fallback>
                <p:oleObj r:id="rId5" imgH="1377950" imgW="1338262" progId="Visio.Drawing.6">
                  <p:embed/>
                  <p:pic>
                    <p:nvPicPr>
                      <p:cNvPr id="522" name="Google Shape;522;p4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607175" y="2619375"/>
                        <a:ext cx="1338262" cy="137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3" name="Google Shape;523;p43"/>
          <p:cNvGraphicFramePr/>
          <p:nvPr/>
        </p:nvGraphicFramePr>
        <p:xfrm>
          <a:off x="5410200" y="4267200"/>
          <a:ext cx="1554162" cy="1284287"/>
        </p:xfrm>
        <a:graphic>
          <a:graphicData uri="http://schemas.openxmlformats.org/presentationml/2006/ole">
            <mc:AlternateContent>
              <mc:Choice Requires="v">
                <p:oleObj r:id="rId7" imgH="1284287" imgW="1554162" progId="Visio.Drawing.6" spid="_x0000_s2">
                  <p:embed/>
                </p:oleObj>
              </mc:Choice>
              <mc:Fallback>
                <p:oleObj r:id="rId8" imgH="1284287" imgW="1554162" progId="Visio.Drawing.6">
                  <p:embed/>
                  <p:pic>
                    <p:nvPicPr>
                      <p:cNvPr id="523" name="Google Shape;523;p43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410200" y="4267200"/>
                        <a:ext cx="1554162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4" name="Google Shape;524;p43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4"/>
          <p:cNvSpPr txBox="1"/>
          <p:nvPr>
            <p:ph idx="1" type="body"/>
          </p:nvPr>
        </p:nvSpPr>
        <p:spPr>
          <a:xfrm>
            <a:off x="457200" y="2687637"/>
            <a:ext cx="8229600" cy="7651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285750" lvl="1" marL="7429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None/>
            </a:pPr>
            <a:r>
              <a:rPr b="0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Enrols In</a:t>
            </a:r>
            <a:endParaRPr/>
          </a:p>
        </p:txBody>
      </p:sp>
      <p:sp>
        <p:nvSpPr>
          <p:cNvPr id="530" name="Google Shape;530;p44"/>
          <p:cNvSpPr txBox="1"/>
          <p:nvPr>
            <p:ph type="title"/>
          </p:nvPr>
        </p:nvSpPr>
        <p:spPr>
          <a:xfrm>
            <a:off x="304800" y="171450"/>
            <a:ext cx="84582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8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Associations</a:t>
            </a:r>
            <a:endParaRPr/>
          </a:p>
        </p:txBody>
      </p:sp>
      <p:sp>
        <p:nvSpPr>
          <p:cNvPr id="531" name="Google Shape;531;p44"/>
          <p:cNvSpPr txBox="1"/>
          <p:nvPr/>
        </p:nvSpPr>
        <p:spPr>
          <a:xfrm>
            <a:off x="6788150" y="3816350"/>
            <a:ext cx="1663700" cy="2197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32" name="Google Shape;532;p44"/>
          <p:cNvCxnSpPr/>
          <p:nvPr/>
        </p:nvCxnSpPr>
        <p:spPr>
          <a:xfrm>
            <a:off x="6788150" y="4572000"/>
            <a:ext cx="16637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33" name="Google Shape;533;p44"/>
          <p:cNvSpPr txBox="1"/>
          <p:nvPr/>
        </p:nvSpPr>
        <p:spPr>
          <a:xfrm>
            <a:off x="6970712" y="3827462"/>
            <a:ext cx="1166812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Offering</a:t>
            </a:r>
            <a:endParaRPr/>
          </a:p>
        </p:txBody>
      </p:sp>
      <p:sp>
        <p:nvSpPr>
          <p:cNvPr id="534" name="Google Shape;534;p44"/>
          <p:cNvSpPr txBox="1"/>
          <p:nvPr/>
        </p:nvSpPr>
        <p:spPr>
          <a:xfrm>
            <a:off x="6767512" y="4603750"/>
            <a:ext cx="163512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*Course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Room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Max Enrol</a:t>
            </a:r>
            <a:endParaRPr/>
          </a:p>
        </p:txBody>
      </p:sp>
      <p:cxnSp>
        <p:nvCxnSpPr>
          <p:cNvPr id="535" name="Google Shape;535;p44"/>
          <p:cNvCxnSpPr/>
          <p:nvPr/>
        </p:nvCxnSpPr>
        <p:spPr>
          <a:xfrm>
            <a:off x="3282950" y="5181600"/>
            <a:ext cx="34925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36" name="Google Shape;536;p44"/>
          <p:cNvSpPr txBox="1"/>
          <p:nvPr/>
        </p:nvSpPr>
        <p:spPr>
          <a:xfrm>
            <a:off x="1530350" y="4197350"/>
            <a:ext cx="1739900" cy="1816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37" name="Google Shape;537;p44"/>
          <p:cNvCxnSpPr/>
          <p:nvPr/>
        </p:nvCxnSpPr>
        <p:spPr>
          <a:xfrm>
            <a:off x="1530350" y="4572000"/>
            <a:ext cx="1739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38" name="Google Shape;538;p44"/>
          <p:cNvSpPr txBox="1"/>
          <p:nvPr/>
        </p:nvSpPr>
        <p:spPr>
          <a:xfrm>
            <a:off x="1808162" y="4222750"/>
            <a:ext cx="11271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Student</a:t>
            </a:r>
            <a:endParaRPr/>
          </a:p>
        </p:txBody>
      </p:sp>
      <p:sp>
        <p:nvSpPr>
          <p:cNvPr id="539" name="Google Shape;539;p44"/>
          <p:cNvSpPr txBox="1"/>
          <p:nvPr/>
        </p:nvSpPr>
        <p:spPr>
          <a:xfrm>
            <a:off x="1509712" y="4603750"/>
            <a:ext cx="170497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*Student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</p:txBody>
      </p:sp>
      <p:sp>
        <p:nvSpPr>
          <p:cNvPr id="540" name="Google Shape;540;p44"/>
          <p:cNvSpPr txBox="1"/>
          <p:nvPr/>
        </p:nvSpPr>
        <p:spPr>
          <a:xfrm>
            <a:off x="3663950" y="1377950"/>
            <a:ext cx="2120900" cy="2273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41" name="Google Shape;541;p44"/>
          <p:cNvCxnSpPr/>
          <p:nvPr/>
        </p:nvCxnSpPr>
        <p:spPr>
          <a:xfrm>
            <a:off x="3663950" y="1752600"/>
            <a:ext cx="2120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42" name="Google Shape;542;p44"/>
          <p:cNvSpPr txBox="1"/>
          <p:nvPr/>
        </p:nvSpPr>
        <p:spPr>
          <a:xfrm>
            <a:off x="3746500" y="1357312"/>
            <a:ext cx="15192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/>
          </a:p>
        </p:txBody>
      </p:sp>
      <p:sp>
        <p:nvSpPr>
          <p:cNvPr id="543" name="Google Shape;543;p44"/>
          <p:cNvSpPr txBox="1"/>
          <p:nvPr/>
        </p:nvSpPr>
        <p:spPr>
          <a:xfrm>
            <a:off x="3643312" y="1738312"/>
            <a:ext cx="214471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*Employee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endParaRPr/>
          </a:p>
        </p:txBody>
      </p:sp>
      <p:cxnSp>
        <p:nvCxnSpPr>
          <p:cNvPr id="544" name="Google Shape;544;p44"/>
          <p:cNvCxnSpPr/>
          <p:nvPr/>
        </p:nvCxnSpPr>
        <p:spPr>
          <a:xfrm>
            <a:off x="5797550" y="2063750"/>
            <a:ext cx="1435100" cy="173990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45" name="Google Shape;545;p44"/>
          <p:cNvSpPr txBox="1"/>
          <p:nvPr/>
        </p:nvSpPr>
        <p:spPr>
          <a:xfrm>
            <a:off x="6386512" y="2492375"/>
            <a:ext cx="1031875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/>
          </a:p>
        </p:txBody>
      </p:sp>
      <p:sp>
        <p:nvSpPr>
          <p:cNvPr id="546" name="Google Shape;546;p44"/>
          <p:cNvSpPr txBox="1"/>
          <p:nvPr/>
        </p:nvSpPr>
        <p:spPr>
          <a:xfrm>
            <a:off x="82550" y="1530350"/>
            <a:ext cx="1739900" cy="1816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47" name="Google Shape;547;p44"/>
          <p:cNvCxnSpPr/>
          <p:nvPr/>
        </p:nvCxnSpPr>
        <p:spPr>
          <a:xfrm>
            <a:off x="82550" y="1905000"/>
            <a:ext cx="1739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48" name="Google Shape;548;p44"/>
          <p:cNvSpPr txBox="1"/>
          <p:nvPr/>
        </p:nvSpPr>
        <p:spPr>
          <a:xfrm>
            <a:off x="374650" y="1555750"/>
            <a:ext cx="109855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College</a:t>
            </a:r>
            <a:endParaRPr/>
          </a:p>
        </p:txBody>
      </p:sp>
      <p:sp>
        <p:nvSpPr>
          <p:cNvPr id="549" name="Google Shape;549;p44"/>
          <p:cNvSpPr txBox="1"/>
          <p:nvPr/>
        </p:nvSpPr>
        <p:spPr>
          <a:xfrm>
            <a:off x="61912" y="1936750"/>
            <a:ext cx="1198562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*Name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Phone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Rating</a:t>
            </a:r>
            <a:endParaRPr/>
          </a:p>
        </p:txBody>
      </p:sp>
      <p:cxnSp>
        <p:nvCxnSpPr>
          <p:cNvPr id="550" name="Google Shape;550;p44"/>
          <p:cNvCxnSpPr/>
          <p:nvPr/>
        </p:nvCxnSpPr>
        <p:spPr>
          <a:xfrm>
            <a:off x="1835150" y="2362200"/>
            <a:ext cx="18161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51" name="Google Shape;551;p44"/>
          <p:cNvSpPr txBox="1"/>
          <p:nvPr/>
        </p:nvSpPr>
        <p:spPr>
          <a:xfrm>
            <a:off x="1905000" y="1981200"/>
            <a:ext cx="1133475" cy="3635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Employs</a:t>
            </a:r>
            <a:endParaRPr/>
          </a:p>
        </p:txBody>
      </p:sp>
      <p:graphicFrame>
        <p:nvGraphicFramePr>
          <p:cNvPr id="552" name="Google Shape;552;p44"/>
          <p:cNvGraphicFramePr/>
          <p:nvPr/>
        </p:nvGraphicFramePr>
        <p:xfrm>
          <a:off x="6607175" y="2619375"/>
          <a:ext cx="1338262" cy="1377950"/>
        </p:xfrm>
        <a:graphic>
          <a:graphicData uri="http://schemas.openxmlformats.org/presentationml/2006/ole">
            <mc:AlternateContent>
              <mc:Choice Requires="v">
                <p:oleObj r:id="rId4" imgH="1377950" imgW="1338262" progId="Visio.Drawing.6" spid="_x0000_s1">
                  <p:embed/>
                </p:oleObj>
              </mc:Choice>
              <mc:Fallback>
                <p:oleObj r:id="rId5" imgH="1377950" imgW="1338262" progId="Visio.Drawing.6">
                  <p:embed/>
                  <p:pic>
                    <p:nvPicPr>
                      <p:cNvPr id="552" name="Google Shape;552;p4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6607175" y="2619375"/>
                        <a:ext cx="1338262" cy="1377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3" name="Google Shape;553;p44"/>
          <p:cNvGraphicFramePr/>
          <p:nvPr/>
        </p:nvGraphicFramePr>
        <p:xfrm>
          <a:off x="4953000" y="4267200"/>
          <a:ext cx="1554162" cy="1284287"/>
        </p:xfrm>
        <a:graphic>
          <a:graphicData uri="http://schemas.openxmlformats.org/presentationml/2006/ole">
            <mc:AlternateContent>
              <mc:Choice Requires="v">
                <p:oleObj r:id="rId7" imgH="1284287" imgW="1554162" progId="Visio.Drawing.6" spid="_x0000_s2">
                  <p:embed/>
                </p:oleObj>
              </mc:Choice>
              <mc:Fallback>
                <p:oleObj r:id="rId8" imgH="1284287" imgW="1554162" progId="Visio.Drawing.6">
                  <p:embed/>
                  <p:pic>
                    <p:nvPicPr>
                      <p:cNvPr id="553" name="Google Shape;553;p44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4953000" y="4267200"/>
                        <a:ext cx="1554162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4" name="Google Shape;554;p44"/>
          <p:cNvGraphicFramePr/>
          <p:nvPr/>
        </p:nvGraphicFramePr>
        <p:xfrm>
          <a:off x="2667000" y="1524000"/>
          <a:ext cx="1554162" cy="1284287"/>
        </p:xfrm>
        <a:graphic>
          <a:graphicData uri="http://schemas.openxmlformats.org/presentationml/2006/ole">
            <mc:AlternateContent>
              <mc:Choice Requires="v">
                <p:oleObj r:id="rId10" imgH="1284287" imgW="1554162" progId="Visio.Drawing.6" spid="_x0000_s3">
                  <p:embed/>
                </p:oleObj>
              </mc:Choice>
              <mc:Fallback>
                <p:oleObj r:id="rId11" imgH="1284287" imgW="1554162" progId="Visio.Drawing.6">
                  <p:embed/>
                  <p:pic>
                    <p:nvPicPr>
                      <p:cNvPr id="554" name="Google Shape;554;p44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2667000" y="1524000"/>
                        <a:ext cx="1554162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5" name="Google Shape;555;p44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45"/>
          <p:cNvSpPr txBox="1"/>
          <p:nvPr>
            <p:ph type="title"/>
          </p:nvPr>
        </p:nvSpPr>
        <p:spPr>
          <a:xfrm>
            <a:off x="304800" y="171450"/>
            <a:ext cx="84582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More Examples of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Associations</a:t>
            </a:r>
            <a:endParaRPr/>
          </a:p>
        </p:txBody>
      </p:sp>
      <p:sp>
        <p:nvSpPr>
          <p:cNvPr id="561" name="Google Shape;561;p45"/>
          <p:cNvSpPr txBox="1"/>
          <p:nvPr/>
        </p:nvSpPr>
        <p:spPr>
          <a:xfrm>
            <a:off x="6788150" y="1301750"/>
            <a:ext cx="1663700" cy="2273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62" name="Google Shape;562;p45"/>
          <p:cNvCxnSpPr/>
          <p:nvPr/>
        </p:nvCxnSpPr>
        <p:spPr>
          <a:xfrm rot="10800000">
            <a:off x="6775450" y="1676400"/>
            <a:ext cx="16891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63" name="Google Shape;563;p45"/>
          <p:cNvSpPr txBox="1"/>
          <p:nvPr/>
        </p:nvSpPr>
        <p:spPr>
          <a:xfrm flipH="1">
            <a:off x="6870700" y="1312862"/>
            <a:ext cx="13668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/>
          </a:p>
        </p:txBody>
      </p:sp>
      <p:sp>
        <p:nvSpPr>
          <p:cNvPr id="564" name="Google Shape;564;p45"/>
          <p:cNvSpPr txBox="1"/>
          <p:nvPr/>
        </p:nvSpPr>
        <p:spPr>
          <a:xfrm flipH="1">
            <a:off x="6783387" y="1677987"/>
            <a:ext cx="1695450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*A/c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/>
          </a:p>
        </p:txBody>
      </p:sp>
      <p:cxnSp>
        <p:nvCxnSpPr>
          <p:cNvPr id="565" name="Google Shape;565;p45"/>
          <p:cNvCxnSpPr/>
          <p:nvPr/>
        </p:nvCxnSpPr>
        <p:spPr>
          <a:xfrm rot="10800000">
            <a:off x="3270250" y="2667000"/>
            <a:ext cx="3517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66" name="Google Shape;566;p45"/>
          <p:cNvSpPr txBox="1"/>
          <p:nvPr/>
        </p:nvSpPr>
        <p:spPr>
          <a:xfrm>
            <a:off x="1530350" y="1682750"/>
            <a:ext cx="1739900" cy="1892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67" name="Google Shape;567;p45"/>
          <p:cNvCxnSpPr/>
          <p:nvPr/>
        </p:nvCxnSpPr>
        <p:spPr>
          <a:xfrm rot="10800000">
            <a:off x="1517650" y="2057400"/>
            <a:ext cx="1765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68" name="Google Shape;568;p45"/>
          <p:cNvSpPr txBox="1"/>
          <p:nvPr/>
        </p:nvSpPr>
        <p:spPr>
          <a:xfrm flipH="1">
            <a:off x="1803400" y="1708150"/>
            <a:ext cx="11414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/>
          </a:p>
        </p:txBody>
      </p:sp>
      <p:sp>
        <p:nvSpPr>
          <p:cNvPr id="569" name="Google Shape;569;p45"/>
          <p:cNvSpPr txBox="1"/>
          <p:nvPr/>
        </p:nvSpPr>
        <p:spPr>
          <a:xfrm flipH="1">
            <a:off x="1508125" y="2089150"/>
            <a:ext cx="166052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*Prod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Qty in Stock</a:t>
            </a:r>
            <a:endParaRPr/>
          </a:p>
        </p:txBody>
      </p:sp>
      <p:sp>
        <p:nvSpPr>
          <p:cNvPr id="570" name="Google Shape;570;p45"/>
          <p:cNvSpPr txBox="1"/>
          <p:nvPr/>
        </p:nvSpPr>
        <p:spPr>
          <a:xfrm>
            <a:off x="4724400" y="1981200"/>
            <a:ext cx="1012825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buys</a:t>
            </a:r>
            <a:endParaRPr/>
          </a:p>
        </p:txBody>
      </p:sp>
      <p:sp>
        <p:nvSpPr>
          <p:cNvPr id="571" name="Google Shape;571;p45"/>
          <p:cNvSpPr txBox="1"/>
          <p:nvPr/>
        </p:nvSpPr>
        <p:spPr>
          <a:xfrm>
            <a:off x="674687" y="4511675"/>
            <a:ext cx="7758112" cy="11239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entury Schoolbook"/>
              <a:buNone/>
            </a:pPr>
            <a:r>
              <a:rPr b="1" i="0" lang="en-US" sz="2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Read the sentence in the direction of the arrow: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9100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“Customer buys Product.”</a:t>
            </a:r>
            <a:endParaRPr/>
          </a:p>
        </p:txBody>
      </p:sp>
      <p:graphicFrame>
        <p:nvGraphicFramePr>
          <p:cNvPr id="572" name="Google Shape;572;p45"/>
          <p:cNvGraphicFramePr/>
          <p:nvPr/>
        </p:nvGraphicFramePr>
        <p:xfrm>
          <a:off x="3505200" y="1524000"/>
          <a:ext cx="1549400" cy="1422400"/>
        </p:xfrm>
        <a:graphic>
          <a:graphicData uri="http://schemas.openxmlformats.org/presentationml/2006/ole">
            <mc:AlternateContent>
              <mc:Choice Requires="v">
                <p:oleObj r:id="rId4" imgH="1422400" imgW="1549400" progId="Visio.Drawing.6" spid="_x0000_s1">
                  <p:embed/>
                </p:oleObj>
              </mc:Choice>
              <mc:Fallback>
                <p:oleObj r:id="rId5" imgH="1422400" imgW="1549400" progId="Visio.Drawing.6">
                  <p:embed/>
                  <p:pic>
                    <p:nvPicPr>
                      <p:cNvPr id="572" name="Google Shape;572;p45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505200" y="1524000"/>
                        <a:ext cx="15494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3" name="Google Shape;573;p45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46"/>
          <p:cNvSpPr txBox="1"/>
          <p:nvPr>
            <p:ph type="title"/>
          </p:nvPr>
        </p:nvSpPr>
        <p:spPr>
          <a:xfrm>
            <a:off x="381000" y="0"/>
            <a:ext cx="86868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</a:t>
            </a:r>
            <a:r>
              <a:rPr b="0" i="0" lang="en-US" sz="36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32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More Examples of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Associations</a:t>
            </a:r>
            <a:endParaRPr/>
          </a:p>
        </p:txBody>
      </p:sp>
      <p:sp>
        <p:nvSpPr>
          <p:cNvPr id="579" name="Google Shape;579;p46"/>
          <p:cNvSpPr txBox="1"/>
          <p:nvPr/>
        </p:nvSpPr>
        <p:spPr>
          <a:xfrm>
            <a:off x="6788150" y="3968750"/>
            <a:ext cx="1663700" cy="19685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80" name="Google Shape;580;p46"/>
          <p:cNvCxnSpPr/>
          <p:nvPr/>
        </p:nvCxnSpPr>
        <p:spPr>
          <a:xfrm>
            <a:off x="6788150" y="4419600"/>
            <a:ext cx="16637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81" name="Google Shape;581;p46"/>
          <p:cNvSpPr txBox="1"/>
          <p:nvPr/>
        </p:nvSpPr>
        <p:spPr>
          <a:xfrm>
            <a:off x="7223125" y="3979862"/>
            <a:ext cx="6619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</a:t>
            </a:r>
            <a:endParaRPr/>
          </a:p>
        </p:txBody>
      </p:sp>
      <p:sp>
        <p:nvSpPr>
          <p:cNvPr id="582" name="Google Shape;582;p46"/>
          <p:cNvSpPr txBox="1"/>
          <p:nvPr/>
        </p:nvSpPr>
        <p:spPr>
          <a:xfrm>
            <a:off x="6767512" y="4451350"/>
            <a:ext cx="1239837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*Bus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Make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Seating</a:t>
            </a:r>
            <a:endParaRPr/>
          </a:p>
        </p:txBody>
      </p:sp>
      <p:cxnSp>
        <p:nvCxnSpPr>
          <p:cNvPr id="583" name="Google Shape;583;p46"/>
          <p:cNvCxnSpPr/>
          <p:nvPr/>
        </p:nvCxnSpPr>
        <p:spPr>
          <a:xfrm>
            <a:off x="3282950" y="5029200"/>
            <a:ext cx="34925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84" name="Google Shape;584;p46"/>
          <p:cNvSpPr txBox="1"/>
          <p:nvPr/>
        </p:nvSpPr>
        <p:spPr>
          <a:xfrm>
            <a:off x="1301750" y="4121150"/>
            <a:ext cx="2044700" cy="1816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85" name="Google Shape;585;p46"/>
          <p:cNvCxnSpPr/>
          <p:nvPr/>
        </p:nvCxnSpPr>
        <p:spPr>
          <a:xfrm>
            <a:off x="1225550" y="4419600"/>
            <a:ext cx="20447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86" name="Google Shape;586;p46"/>
          <p:cNvSpPr txBox="1"/>
          <p:nvPr/>
        </p:nvSpPr>
        <p:spPr>
          <a:xfrm>
            <a:off x="1762125" y="4070350"/>
            <a:ext cx="9144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Driver</a:t>
            </a:r>
            <a:endParaRPr/>
          </a:p>
        </p:txBody>
      </p:sp>
      <p:sp>
        <p:nvSpPr>
          <p:cNvPr id="587" name="Google Shape;587;p46"/>
          <p:cNvSpPr txBox="1"/>
          <p:nvPr/>
        </p:nvSpPr>
        <p:spPr>
          <a:xfrm>
            <a:off x="1296987" y="4405312"/>
            <a:ext cx="2052637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*Employee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</p:txBody>
      </p:sp>
      <p:sp>
        <p:nvSpPr>
          <p:cNvPr id="588" name="Google Shape;588;p46"/>
          <p:cNvSpPr txBox="1"/>
          <p:nvPr/>
        </p:nvSpPr>
        <p:spPr>
          <a:xfrm>
            <a:off x="6788150" y="1149350"/>
            <a:ext cx="1663700" cy="2273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89" name="Google Shape;589;p46"/>
          <p:cNvCxnSpPr/>
          <p:nvPr/>
        </p:nvCxnSpPr>
        <p:spPr>
          <a:xfrm rot="10800000">
            <a:off x="6775450" y="1524000"/>
            <a:ext cx="16891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90" name="Google Shape;590;p46"/>
          <p:cNvSpPr txBox="1"/>
          <p:nvPr/>
        </p:nvSpPr>
        <p:spPr>
          <a:xfrm flipH="1">
            <a:off x="6870700" y="1160462"/>
            <a:ext cx="13668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/>
          </a:p>
        </p:txBody>
      </p:sp>
      <p:sp>
        <p:nvSpPr>
          <p:cNvPr id="591" name="Google Shape;591;p46"/>
          <p:cNvSpPr txBox="1"/>
          <p:nvPr/>
        </p:nvSpPr>
        <p:spPr>
          <a:xfrm flipH="1">
            <a:off x="6843712" y="1525587"/>
            <a:ext cx="178911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*A/c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/>
          </a:p>
        </p:txBody>
      </p:sp>
      <p:cxnSp>
        <p:nvCxnSpPr>
          <p:cNvPr id="592" name="Google Shape;592;p46"/>
          <p:cNvCxnSpPr/>
          <p:nvPr/>
        </p:nvCxnSpPr>
        <p:spPr>
          <a:xfrm rot="10800000">
            <a:off x="3270250" y="2514600"/>
            <a:ext cx="3517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93" name="Google Shape;593;p46"/>
          <p:cNvSpPr txBox="1"/>
          <p:nvPr/>
        </p:nvSpPr>
        <p:spPr>
          <a:xfrm>
            <a:off x="1530350" y="1530350"/>
            <a:ext cx="1739900" cy="1892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594" name="Google Shape;594;p46"/>
          <p:cNvCxnSpPr/>
          <p:nvPr/>
        </p:nvCxnSpPr>
        <p:spPr>
          <a:xfrm rot="10800000">
            <a:off x="1517650" y="1905000"/>
            <a:ext cx="1765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595" name="Google Shape;595;p46"/>
          <p:cNvSpPr txBox="1"/>
          <p:nvPr/>
        </p:nvSpPr>
        <p:spPr>
          <a:xfrm flipH="1">
            <a:off x="1803400" y="1555750"/>
            <a:ext cx="11414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/>
          </a:p>
        </p:txBody>
      </p:sp>
      <p:sp>
        <p:nvSpPr>
          <p:cNvPr id="596" name="Google Shape;596;p46"/>
          <p:cNvSpPr txBox="1"/>
          <p:nvPr/>
        </p:nvSpPr>
        <p:spPr>
          <a:xfrm flipH="1">
            <a:off x="1508125" y="1936750"/>
            <a:ext cx="166052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*Prod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Qty in Stock</a:t>
            </a:r>
            <a:endParaRPr/>
          </a:p>
        </p:txBody>
      </p:sp>
      <p:sp>
        <p:nvSpPr>
          <p:cNvPr id="597" name="Google Shape;597;p46"/>
          <p:cNvSpPr txBox="1"/>
          <p:nvPr/>
        </p:nvSpPr>
        <p:spPr>
          <a:xfrm>
            <a:off x="595312" y="5957887"/>
            <a:ext cx="8213725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F9100"/>
              </a:buClr>
              <a:buSzPts val="2800"/>
              <a:buFont typeface="Arial"/>
              <a:buNone/>
            </a:pPr>
            <a:r>
              <a:rPr b="1" i="0" lang="en-US" sz="2800" u="sng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Read the sentence in the direction of the arrow.</a:t>
            </a:r>
            <a:endParaRPr/>
          </a:p>
        </p:txBody>
      </p:sp>
      <p:sp>
        <p:nvSpPr>
          <p:cNvPr id="598" name="Google Shape;598;p46"/>
          <p:cNvSpPr txBox="1"/>
          <p:nvPr/>
        </p:nvSpPr>
        <p:spPr>
          <a:xfrm>
            <a:off x="4343400" y="4495800"/>
            <a:ext cx="92868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drives</a:t>
            </a:r>
            <a:endParaRPr/>
          </a:p>
        </p:txBody>
      </p:sp>
      <p:sp>
        <p:nvSpPr>
          <p:cNvPr id="599" name="Google Shape;599;p46"/>
          <p:cNvSpPr txBox="1"/>
          <p:nvPr/>
        </p:nvSpPr>
        <p:spPr>
          <a:xfrm>
            <a:off x="3414712" y="3384550"/>
            <a:ext cx="33147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“Customer </a:t>
            </a:r>
            <a:r>
              <a:rPr b="1" i="1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buys</a:t>
            </a: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Product”</a:t>
            </a:r>
            <a:endParaRPr/>
          </a:p>
        </p:txBody>
      </p:sp>
      <p:sp>
        <p:nvSpPr>
          <p:cNvPr id="600" name="Google Shape;600;p46"/>
          <p:cNvSpPr txBox="1"/>
          <p:nvPr/>
        </p:nvSpPr>
        <p:spPr>
          <a:xfrm>
            <a:off x="3871912" y="5594350"/>
            <a:ext cx="25368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“Driver </a:t>
            </a:r>
            <a:r>
              <a:rPr b="1" i="1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drives</a:t>
            </a: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Bus”</a:t>
            </a:r>
            <a:endParaRPr/>
          </a:p>
        </p:txBody>
      </p:sp>
      <p:graphicFrame>
        <p:nvGraphicFramePr>
          <p:cNvPr id="601" name="Google Shape;601;p46"/>
          <p:cNvGraphicFramePr/>
          <p:nvPr/>
        </p:nvGraphicFramePr>
        <p:xfrm>
          <a:off x="5029200" y="4114800"/>
          <a:ext cx="1554162" cy="1284287"/>
        </p:xfrm>
        <a:graphic>
          <a:graphicData uri="http://schemas.openxmlformats.org/presentationml/2006/ole">
            <mc:AlternateContent>
              <mc:Choice Requires="v">
                <p:oleObj r:id="rId4" imgH="1284287" imgW="1554162" progId="Visio.Drawing.6" spid="_x0000_s1">
                  <p:embed/>
                </p:oleObj>
              </mc:Choice>
              <mc:Fallback>
                <p:oleObj r:id="rId5" imgH="1284287" imgW="1554162" progId="Visio.Drawing.6">
                  <p:embed/>
                  <p:pic>
                    <p:nvPicPr>
                      <p:cNvPr id="601" name="Google Shape;601;p46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029200" y="4114800"/>
                        <a:ext cx="1554162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2" name="Google Shape;602;p46"/>
          <p:cNvSpPr txBox="1"/>
          <p:nvPr/>
        </p:nvSpPr>
        <p:spPr>
          <a:xfrm>
            <a:off x="4724400" y="1981200"/>
            <a:ext cx="1012825" cy="5159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None/>
            </a:pPr>
            <a:r>
              <a:rPr b="1" i="0" lang="en-US" sz="28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buys</a:t>
            </a:r>
            <a:endParaRPr/>
          </a:p>
        </p:txBody>
      </p:sp>
      <p:graphicFrame>
        <p:nvGraphicFramePr>
          <p:cNvPr id="603" name="Google Shape;603;p46"/>
          <p:cNvGraphicFramePr/>
          <p:nvPr/>
        </p:nvGraphicFramePr>
        <p:xfrm>
          <a:off x="3505200" y="1524000"/>
          <a:ext cx="1549400" cy="1422400"/>
        </p:xfrm>
        <a:graphic>
          <a:graphicData uri="http://schemas.openxmlformats.org/presentationml/2006/ole">
            <mc:AlternateContent>
              <mc:Choice Requires="v">
                <p:oleObj r:id="rId7" imgH="1422400" imgW="1549400" progId="Visio.Drawing.6" spid="_x0000_s2">
                  <p:embed/>
                </p:oleObj>
              </mc:Choice>
              <mc:Fallback>
                <p:oleObj r:id="rId8" imgH="1422400" imgW="1549400" progId="Visio.Drawing.6">
                  <p:embed/>
                  <p:pic>
                    <p:nvPicPr>
                      <p:cNvPr id="603" name="Google Shape;603;p46"/>
                      <p:cNvPicPr preferRelativeResize="0"/>
                      <p:nvPr/>
                    </p:nvPicPr>
                    <p:blipFill rotWithShape="1">
                      <a:blip r:embed="rId9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505200" y="1524000"/>
                        <a:ext cx="15494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" name="Google Shape;604;p46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7"/>
          <p:cNvSpPr txBox="1"/>
          <p:nvPr>
            <p:ph idx="1" type="body"/>
          </p:nvPr>
        </p:nvSpPr>
        <p:spPr>
          <a:xfrm>
            <a:off x="0" y="1962150"/>
            <a:ext cx="8991600" cy="436245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60"/>
              <a:buNone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Q. When a driver </a:t>
            </a:r>
            <a:r>
              <a:rPr b="0" i="1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drives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a bus, </a:t>
            </a:r>
            <a:r>
              <a:rPr b="0" i="0" lang="en-US" sz="36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how many 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does she drive?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A. </a:t>
            </a:r>
            <a:r>
              <a:rPr b="0" i="0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, usually.   But over time?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SzPts val="2520"/>
              <a:buNone/>
            </a:pPr>
            <a:r>
              <a:rPr b="0" i="0" lang="en-US" sz="3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Why, a whole bunch!</a:t>
            </a:r>
            <a:endParaRPr b="0" i="0" sz="2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Q. When a Customer </a:t>
            </a:r>
            <a:r>
              <a:rPr b="0" i="1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buys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a Product, </a:t>
            </a:r>
            <a:r>
              <a:rPr b="0" i="0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how many 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does he buy?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A. One per transaction, perhaps, but over time we hope he</a:t>
            </a: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’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ll buy </a:t>
            </a:r>
            <a:r>
              <a:rPr b="0" i="0" lang="en-US" sz="2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a great many.</a:t>
            </a:r>
            <a:endParaRPr/>
          </a:p>
        </p:txBody>
      </p:sp>
      <p:sp>
        <p:nvSpPr>
          <p:cNvPr id="610" name="Google Shape;610;p47"/>
          <p:cNvSpPr txBox="1"/>
          <p:nvPr>
            <p:ph type="title"/>
          </p:nvPr>
        </p:nvSpPr>
        <p:spPr>
          <a:xfrm>
            <a:off x="304800" y="171450"/>
            <a:ext cx="84582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5400" u="sng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Multiplicity</a:t>
            </a:r>
            <a:endParaRPr/>
          </a:p>
        </p:txBody>
      </p:sp>
      <p:sp>
        <p:nvSpPr>
          <p:cNvPr id="611" name="Google Shape;611;p47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48"/>
          <p:cNvSpPr txBox="1"/>
          <p:nvPr>
            <p:ph idx="1" type="body"/>
          </p:nvPr>
        </p:nvSpPr>
        <p:spPr>
          <a:xfrm>
            <a:off x="685800" y="1676400"/>
            <a:ext cx="83820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critical thing we need to know is</a:t>
            </a:r>
            <a:endParaRPr b="0" i="0" sz="9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3360"/>
              <a:buNone/>
            </a:pPr>
            <a:r>
              <a:rPr b="0" i="0" lang="en-US" sz="4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Is it </a:t>
            </a:r>
            <a:r>
              <a:rPr b="0" i="0" lang="en-US" sz="66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b="0" i="0" lang="en-US" sz="4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or </a:t>
            </a:r>
            <a:endParaRPr b="0" i="0" sz="10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3360"/>
              <a:buNone/>
            </a:pPr>
            <a:r>
              <a:rPr b="0" i="0" lang="en-US" sz="4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Is it </a:t>
            </a:r>
            <a:r>
              <a:rPr b="0" i="0" lang="en-US" sz="66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Many</a:t>
            </a:r>
            <a:r>
              <a:rPr b="0" i="0" lang="en-US" sz="4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 b="0" i="0" sz="4800" u="none">
              <a:solidFill>
                <a:srgbClr val="F6BF6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None/>
            </a:pPr>
            <a:r>
              <a:t/>
            </a:r>
            <a:endParaRPr b="0" i="0" sz="16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This is the </a:t>
            </a:r>
            <a:r>
              <a:rPr b="0" i="1" lang="en-US" sz="4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Multiplicity</a:t>
            </a:r>
            <a:r>
              <a:rPr b="0" i="0" lang="en-US" sz="4000" u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of the relationship (also called </a:t>
            </a:r>
            <a:r>
              <a:rPr b="0" i="1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cardinality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).</a:t>
            </a:r>
            <a:endParaRPr/>
          </a:p>
        </p:txBody>
      </p:sp>
      <p:sp>
        <p:nvSpPr>
          <p:cNvPr id="617" name="Google Shape;617;p48"/>
          <p:cNvSpPr txBox="1"/>
          <p:nvPr>
            <p:ph type="title"/>
          </p:nvPr>
        </p:nvSpPr>
        <p:spPr>
          <a:xfrm>
            <a:off x="304800" y="171450"/>
            <a:ext cx="84582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Multiplicity</a:t>
            </a:r>
            <a:endParaRPr/>
          </a:p>
        </p:txBody>
      </p:sp>
      <p:sp>
        <p:nvSpPr>
          <p:cNvPr id="618" name="Google Shape;618;p48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9"/>
          <p:cNvSpPr txBox="1"/>
          <p:nvPr>
            <p:ph idx="1" type="body"/>
          </p:nvPr>
        </p:nvSpPr>
        <p:spPr>
          <a:xfrm>
            <a:off x="457200" y="2152650"/>
            <a:ext cx="8229600" cy="397827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Webster defines </a:t>
            </a:r>
            <a:r>
              <a:rPr b="0" i="0" lang="en-US" sz="32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Cardinality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as </a:t>
            </a:r>
            <a:r>
              <a:rPr b="0" i="0" lang="en-US" sz="32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number of members in a set.</a:t>
            </a:r>
            <a:r>
              <a:rPr b="0" i="0" lang="en-US" sz="32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 b="0" i="0" sz="32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Verdana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For us, </a:t>
            </a:r>
            <a:r>
              <a:rPr b="0" i="0" lang="en-US" sz="36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Multiplicity</a:t>
            </a:r>
            <a:r>
              <a:rPr b="0" i="0" lang="en-US" sz="3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is the </a:t>
            </a:r>
            <a:r>
              <a:rPr b="0" i="1" lang="en-US" sz="32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number of occurrences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of each entity type that can be involved in an association.</a:t>
            </a:r>
            <a:endParaRPr/>
          </a:p>
        </p:txBody>
      </p:sp>
      <p:sp>
        <p:nvSpPr>
          <p:cNvPr id="624" name="Google Shape;624;p49"/>
          <p:cNvSpPr txBox="1"/>
          <p:nvPr>
            <p:ph type="title"/>
          </p:nvPr>
        </p:nvSpPr>
        <p:spPr>
          <a:xfrm>
            <a:off x="304800" y="171450"/>
            <a:ext cx="84582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Multiplicity</a:t>
            </a:r>
            <a:endParaRPr/>
          </a:p>
        </p:txBody>
      </p:sp>
      <p:sp>
        <p:nvSpPr>
          <p:cNvPr id="625" name="Google Shape;625;p49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50"/>
          <p:cNvSpPr txBox="1"/>
          <p:nvPr>
            <p:ph idx="1" type="body"/>
          </p:nvPr>
        </p:nvSpPr>
        <p:spPr>
          <a:xfrm>
            <a:off x="304800" y="1295400"/>
            <a:ext cx="8763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 diagram this by adding a </a:t>
            </a:r>
            <a:r>
              <a:rPr b="0" i="0" lang="en-US" sz="3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star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(asterisk) below the relationship line whenever it should show </a:t>
            </a: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many.</a:t>
            </a: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Read this one as</a:t>
            </a:r>
            <a:endParaRPr/>
          </a:p>
          <a:p>
            <a:pPr indent="-285750" lvl="1" marL="742950" rtl="0" algn="ctr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entury Schoolbook"/>
              <a:buNone/>
            </a:pP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Instructor </a:t>
            </a:r>
            <a:r>
              <a:rPr b="0" i="1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teaches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36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many</a:t>
            </a:r>
            <a:r>
              <a:rPr b="0" i="0" lang="en-US" sz="3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course offerings</a:t>
            </a:r>
            <a:r>
              <a:rPr b="0" i="0" lang="en-US" sz="28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/>
          </a:p>
        </p:txBody>
      </p:sp>
      <p:sp>
        <p:nvSpPr>
          <p:cNvPr id="631" name="Google Shape;631;p50"/>
          <p:cNvSpPr txBox="1"/>
          <p:nvPr>
            <p:ph type="title"/>
          </p:nvPr>
        </p:nvSpPr>
        <p:spPr>
          <a:xfrm>
            <a:off x="304800" y="19050"/>
            <a:ext cx="84582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Multiplicity</a:t>
            </a:r>
            <a:endParaRPr/>
          </a:p>
        </p:txBody>
      </p:sp>
      <p:sp>
        <p:nvSpPr>
          <p:cNvPr id="632" name="Google Shape;632;p50"/>
          <p:cNvSpPr txBox="1"/>
          <p:nvPr/>
        </p:nvSpPr>
        <p:spPr>
          <a:xfrm>
            <a:off x="6788150" y="4044950"/>
            <a:ext cx="1663700" cy="2197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633" name="Google Shape;633;p50"/>
          <p:cNvCxnSpPr/>
          <p:nvPr/>
        </p:nvCxnSpPr>
        <p:spPr>
          <a:xfrm>
            <a:off x="6788150" y="4800600"/>
            <a:ext cx="16637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34" name="Google Shape;634;p50"/>
          <p:cNvSpPr txBox="1"/>
          <p:nvPr/>
        </p:nvSpPr>
        <p:spPr>
          <a:xfrm>
            <a:off x="6970712" y="4056062"/>
            <a:ext cx="1166812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Offering</a:t>
            </a:r>
            <a:endParaRPr/>
          </a:p>
        </p:txBody>
      </p:sp>
      <p:sp>
        <p:nvSpPr>
          <p:cNvPr id="635" name="Google Shape;635;p50"/>
          <p:cNvSpPr txBox="1"/>
          <p:nvPr/>
        </p:nvSpPr>
        <p:spPr>
          <a:xfrm>
            <a:off x="6767512" y="4832350"/>
            <a:ext cx="163512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*Course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Room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Enrol</a:t>
            </a:r>
            <a:endParaRPr/>
          </a:p>
        </p:txBody>
      </p:sp>
      <p:sp>
        <p:nvSpPr>
          <p:cNvPr id="636" name="Google Shape;636;p50"/>
          <p:cNvSpPr txBox="1"/>
          <p:nvPr/>
        </p:nvSpPr>
        <p:spPr>
          <a:xfrm>
            <a:off x="1530350" y="4044950"/>
            <a:ext cx="2120900" cy="2273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637" name="Google Shape;637;p50"/>
          <p:cNvCxnSpPr/>
          <p:nvPr/>
        </p:nvCxnSpPr>
        <p:spPr>
          <a:xfrm>
            <a:off x="1530350" y="4419600"/>
            <a:ext cx="2120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38" name="Google Shape;638;p50"/>
          <p:cNvSpPr txBox="1"/>
          <p:nvPr/>
        </p:nvSpPr>
        <p:spPr>
          <a:xfrm>
            <a:off x="1612900" y="4024312"/>
            <a:ext cx="15192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/>
          </a:p>
        </p:txBody>
      </p:sp>
      <p:sp>
        <p:nvSpPr>
          <p:cNvPr id="639" name="Google Shape;639;p50"/>
          <p:cNvSpPr txBox="1"/>
          <p:nvPr/>
        </p:nvSpPr>
        <p:spPr>
          <a:xfrm>
            <a:off x="1509712" y="4405312"/>
            <a:ext cx="214471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*Employee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endParaRPr/>
          </a:p>
        </p:txBody>
      </p:sp>
      <p:cxnSp>
        <p:nvCxnSpPr>
          <p:cNvPr id="640" name="Google Shape;640;p50"/>
          <p:cNvCxnSpPr/>
          <p:nvPr/>
        </p:nvCxnSpPr>
        <p:spPr>
          <a:xfrm>
            <a:off x="3683000" y="5105400"/>
            <a:ext cx="30988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41" name="Google Shape;641;p50"/>
          <p:cNvSpPr txBox="1"/>
          <p:nvPr/>
        </p:nvSpPr>
        <p:spPr>
          <a:xfrm>
            <a:off x="4191000" y="4495800"/>
            <a:ext cx="11271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/>
          </a:p>
        </p:txBody>
      </p:sp>
      <p:graphicFrame>
        <p:nvGraphicFramePr>
          <p:cNvPr id="642" name="Google Shape;642;p50"/>
          <p:cNvGraphicFramePr/>
          <p:nvPr/>
        </p:nvGraphicFramePr>
        <p:xfrm>
          <a:off x="5181600" y="4114800"/>
          <a:ext cx="1554162" cy="1284287"/>
        </p:xfrm>
        <a:graphic>
          <a:graphicData uri="http://schemas.openxmlformats.org/presentationml/2006/ole">
            <mc:AlternateContent>
              <mc:Choice Requires="v">
                <p:oleObj r:id="rId4" imgH="1284287" imgW="1554162" progId="Visio.Drawing.6" spid="_x0000_s1">
                  <p:embed/>
                </p:oleObj>
              </mc:Choice>
              <mc:Fallback>
                <p:oleObj r:id="rId5" imgH="1284287" imgW="1554162" progId="Visio.Drawing.6">
                  <p:embed/>
                  <p:pic>
                    <p:nvPicPr>
                      <p:cNvPr id="642" name="Google Shape;642;p50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181600" y="4114800"/>
                        <a:ext cx="1554162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3" name="Google Shape;643;p50"/>
          <p:cNvSpPr txBox="1"/>
          <p:nvPr/>
        </p:nvSpPr>
        <p:spPr>
          <a:xfrm>
            <a:off x="6248400" y="5105400"/>
            <a:ext cx="53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1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pic>
        <p:nvPicPr>
          <p:cNvPr id="644" name="Google Shape;644;p5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827212" y="890587"/>
            <a:ext cx="6692900" cy="4973637"/>
          </a:xfrm>
          <a:prstGeom prst="rect">
            <a:avLst/>
          </a:prstGeom>
          <a:noFill/>
          <a:ln>
            <a:noFill/>
          </a:ln>
        </p:spPr>
      </p:pic>
      <p:sp>
        <p:nvSpPr>
          <p:cNvPr id="645" name="Google Shape;645;p50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1"/>
          <p:cNvSpPr txBox="1"/>
          <p:nvPr>
            <p:ph idx="1" type="body"/>
          </p:nvPr>
        </p:nvSpPr>
        <p:spPr>
          <a:xfrm>
            <a:off x="304800" y="1295400"/>
            <a:ext cx="87630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 refer to this as a</a:t>
            </a:r>
            <a:endParaRPr/>
          </a:p>
          <a:p>
            <a:pPr indent="-228600" lvl="4" marL="2057400" rtl="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SzPts val="630"/>
              <a:buNone/>
            </a:pPr>
            <a:r>
              <a:t/>
            </a:r>
            <a:endParaRPr b="0" i="0" sz="9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3360"/>
              <a:buNone/>
            </a:pPr>
            <a:r>
              <a:rPr b="0" i="0" lang="en-US" sz="4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“One-to-Many” Association,</a:t>
            </a:r>
            <a:endParaRPr/>
          </a:p>
          <a:p>
            <a:pPr indent="-342900" lvl="0" marL="342900" rtl="0" algn="ctr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SzPts val="3360"/>
              <a:buNone/>
            </a:pPr>
            <a:r>
              <a:rPr b="0" i="0" lang="en-US" sz="4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	or 1:M</a:t>
            </a:r>
            <a:endParaRPr/>
          </a:p>
          <a:p>
            <a:pPr indent="-228600" lvl="2" marL="11430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2" marL="11430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28600" lvl="2" marL="114300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1680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</a:pPr>
            <a:r>
              <a:rPr b="0" i="0" lang="en-US" sz="2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		</a:t>
            </a:r>
            <a:endParaRPr/>
          </a:p>
        </p:txBody>
      </p:sp>
      <p:sp>
        <p:nvSpPr>
          <p:cNvPr id="651" name="Google Shape;651;p51"/>
          <p:cNvSpPr txBox="1"/>
          <p:nvPr>
            <p:ph type="title"/>
          </p:nvPr>
        </p:nvSpPr>
        <p:spPr>
          <a:xfrm>
            <a:off x="304800" y="19050"/>
            <a:ext cx="84582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Multiplicity</a:t>
            </a:r>
            <a:endParaRPr/>
          </a:p>
        </p:txBody>
      </p:sp>
      <p:sp>
        <p:nvSpPr>
          <p:cNvPr id="652" name="Google Shape;652;p51"/>
          <p:cNvSpPr txBox="1"/>
          <p:nvPr/>
        </p:nvSpPr>
        <p:spPr>
          <a:xfrm>
            <a:off x="6788150" y="4044950"/>
            <a:ext cx="1663700" cy="2197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653" name="Google Shape;653;p51"/>
          <p:cNvCxnSpPr/>
          <p:nvPr/>
        </p:nvCxnSpPr>
        <p:spPr>
          <a:xfrm>
            <a:off x="6788150" y="4800600"/>
            <a:ext cx="16637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54" name="Google Shape;654;p51"/>
          <p:cNvSpPr txBox="1"/>
          <p:nvPr/>
        </p:nvSpPr>
        <p:spPr>
          <a:xfrm>
            <a:off x="6970712" y="4056062"/>
            <a:ext cx="1166812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Offering</a:t>
            </a:r>
            <a:endParaRPr/>
          </a:p>
        </p:txBody>
      </p:sp>
      <p:sp>
        <p:nvSpPr>
          <p:cNvPr id="655" name="Google Shape;655;p51"/>
          <p:cNvSpPr txBox="1"/>
          <p:nvPr/>
        </p:nvSpPr>
        <p:spPr>
          <a:xfrm>
            <a:off x="6767512" y="4832350"/>
            <a:ext cx="163512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*Course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Room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Enrol</a:t>
            </a:r>
            <a:endParaRPr/>
          </a:p>
        </p:txBody>
      </p:sp>
      <p:sp>
        <p:nvSpPr>
          <p:cNvPr id="656" name="Google Shape;656;p51"/>
          <p:cNvSpPr txBox="1"/>
          <p:nvPr/>
        </p:nvSpPr>
        <p:spPr>
          <a:xfrm>
            <a:off x="1530350" y="4044950"/>
            <a:ext cx="2120900" cy="2273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657" name="Google Shape;657;p51"/>
          <p:cNvCxnSpPr/>
          <p:nvPr/>
        </p:nvCxnSpPr>
        <p:spPr>
          <a:xfrm>
            <a:off x="1530350" y="4419600"/>
            <a:ext cx="2120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58" name="Google Shape;658;p51"/>
          <p:cNvSpPr txBox="1"/>
          <p:nvPr/>
        </p:nvSpPr>
        <p:spPr>
          <a:xfrm>
            <a:off x="1612900" y="4024312"/>
            <a:ext cx="15192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/>
          </a:p>
        </p:txBody>
      </p:sp>
      <p:sp>
        <p:nvSpPr>
          <p:cNvPr id="659" name="Google Shape;659;p51"/>
          <p:cNvSpPr txBox="1"/>
          <p:nvPr/>
        </p:nvSpPr>
        <p:spPr>
          <a:xfrm>
            <a:off x="1509712" y="4405312"/>
            <a:ext cx="214471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*Employee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endParaRPr/>
          </a:p>
        </p:txBody>
      </p:sp>
      <p:cxnSp>
        <p:nvCxnSpPr>
          <p:cNvPr id="660" name="Google Shape;660;p51"/>
          <p:cNvCxnSpPr/>
          <p:nvPr/>
        </p:nvCxnSpPr>
        <p:spPr>
          <a:xfrm>
            <a:off x="3683000" y="5105400"/>
            <a:ext cx="30734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61" name="Google Shape;661;p51"/>
          <p:cNvSpPr txBox="1"/>
          <p:nvPr/>
        </p:nvSpPr>
        <p:spPr>
          <a:xfrm>
            <a:off x="4495800" y="4572000"/>
            <a:ext cx="11271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/>
          </a:p>
        </p:txBody>
      </p:sp>
      <p:graphicFrame>
        <p:nvGraphicFramePr>
          <p:cNvPr id="662" name="Google Shape;662;p51"/>
          <p:cNvGraphicFramePr/>
          <p:nvPr/>
        </p:nvGraphicFramePr>
        <p:xfrm>
          <a:off x="5410200" y="4191000"/>
          <a:ext cx="1554162" cy="1284287"/>
        </p:xfrm>
        <a:graphic>
          <a:graphicData uri="http://schemas.openxmlformats.org/presentationml/2006/ole">
            <mc:AlternateContent>
              <mc:Choice Requires="v">
                <p:oleObj r:id="rId4" imgH="1284287" imgW="1554162" progId="Visio.Drawing.6" spid="_x0000_s1">
                  <p:embed/>
                </p:oleObj>
              </mc:Choice>
              <mc:Fallback>
                <p:oleObj r:id="rId5" imgH="1284287" imgW="1554162" progId="Visio.Drawing.6">
                  <p:embed/>
                  <p:pic>
                    <p:nvPicPr>
                      <p:cNvPr id="662" name="Google Shape;662;p51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410200" y="4191000"/>
                        <a:ext cx="1554162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" name="Google Shape;663;p51"/>
          <p:cNvSpPr txBox="1"/>
          <p:nvPr/>
        </p:nvSpPr>
        <p:spPr>
          <a:xfrm>
            <a:off x="6248400" y="5105400"/>
            <a:ext cx="53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1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sp>
        <p:nvSpPr>
          <p:cNvPr id="664" name="Google Shape;664;p51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52"/>
          <p:cNvSpPr txBox="1"/>
          <p:nvPr>
            <p:ph idx="1" type="body"/>
          </p:nvPr>
        </p:nvSpPr>
        <p:spPr>
          <a:xfrm>
            <a:off x="457200" y="1982787"/>
            <a:ext cx="8229600" cy="414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Read the sentence in the direction of the arrow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Read the star (asterisk) as the word 	         	    		</a:t>
            </a:r>
            <a:r>
              <a:rPr b="0" i="0" lang="en-US" sz="40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1" lang="en-US" sz="4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many</a:t>
            </a:r>
            <a:r>
              <a:rPr b="0" i="0" lang="en-US" sz="4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.</a:t>
            </a:r>
            <a:r>
              <a:rPr b="0" i="0" lang="en-US" sz="40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endParaRPr/>
          </a:p>
        </p:txBody>
      </p:sp>
      <p:sp>
        <p:nvSpPr>
          <p:cNvPr id="670" name="Google Shape;670;p52"/>
          <p:cNvSpPr txBox="1"/>
          <p:nvPr>
            <p:ph type="title"/>
          </p:nvPr>
        </p:nvSpPr>
        <p:spPr>
          <a:xfrm>
            <a:off x="304800" y="171450"/>
            <a:ext cx="84582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Multiplicity</a:t>
            </a:r>
            <a:endParaRPr/>
          </a:p>
        </p:txBody>
      </p:sp>
      <p:sp>
        <p:nvSpPr>
          <p:cNvPr id="671" name="Google Shape;671;p52"/>
          <p:cNvSpPr txBox="1"/>
          <p:nvPr/>
        </p:nvSpPr>
        <p:spPr>
          <a:xfrm>
            <a:off x="6788150" y="4044950"/>
            <a:ext cx="1663700" cy="21971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672" name="Google Shape;672;p52"/>
          <p:cNvCxnSpPr/>
          <p:nvPr/>
        </p:nvCxnSpPr>
        <p:spPr>
          <a:xfrm>
            <a:off x="6788150" y="4800600"/>
            <a:ext cx="16637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73" name="Google Shape;673;p52"/>
          <p:cNvSpPr txBox="1"/>
          <p:nvPr/>
        </p:nvSpPr>
        <p:spPr>
          <a:xfrm>
            <a:off x="6970712" y="4056062"/>
            <a:ext cx="1166812" cy="69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Course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Offering</a:t>
            </a:r>
            <a:endParaRPr/>
          </a:p>
        </p:txBody>
      </p:sp>
      <p:sp>
        <p:nvSpPr>
          <p:cNvPr id="674" name="Google Shape;674;p52"/>
          <p:cNvSpPr txBox="1"/>
          <p:nvPr/>
        </p:nvSpPr>
        <p:spPr>
          <a:xfrm>
            <a:off x="6767512" y="4832350"/>
            <a:ext cx="163512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*Course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Room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Enrol</a:t>
            </a:r>
            <a:endParaRPr/>
          </a:p>
        </p:txBody>
      </p:sp>
      <p:sp>
        <p:nvSpPr>
          <p:cNvPr id="675" name="Google Shape;675;p52"/>
          <p:cNvSpPr txBox="1"/>
          <p:nvPr/>
        </p:nvSpPr>
        <p:spPr>
          <a:xfrm>
            <a:off x="1530350" y="4044950"/>
            <a:ext cx="2120900" cy="2273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676" name="Google Shape;676;p52"/>
          <p:cNvCxnSpPr/>
          <p:nvPr/>
        </p:nvCxnSpPr>
        <p:spPr>
          <a:xfrm>
            <a:off x="1530350" y="4419600"/>
            <a:ext cx="21209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77" name="Google Shape;677;p52"/>
          <p:cNvSpPr txBox="1"/>
          <p:nvPr/>
        </p:nvSpPr>
        <p:spPr>
          <a:xfrm>
            <a:off x="1612900" y="4024312"/>
            <a:ext cx="15192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endParaRPr/>
          </a:p>
        </p:txBody>
      </p:sp>
      <p:sp>
        <p:nvSpPr>
          <p:cNvPr id="678" name="Google Shape;678;p52"/>
          <p:cNvSpPr txBox="1"/>
          <p:nvPr/>
        </p:nvSpPr>
        <p:spPr>
          <a:xfrm>
            <a:off x="1509712" y="4405312"/>
            <a:ext cx="214471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*Employee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Sex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Salary</a:t>
            </a:r>
            <a:endParaRPr/>
          </a:p>
        </p:txBody>
      </p:sp>
      <p:cxnSp>
        <p:nvCxnSpPr>
          <p:cNvPr id="679" name="Google Shape;679;p52"/>
          <p:cNvCxnSpPr/>
          <p:nvPr/>
        </p:nvCxnSpPr>
        <p:spPr>
          <a:xfrm>
            <a:off x="3683000" y="5105400"/>
            <a:ext cx="30734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80" name="Google Shape;680;p52"/>
          <p:cNvSpPr txBox="1"/>
          <p:nvPr/>
        </p:nvSpPr>
        <p:spPr>
          <a:xfrm>
            <a:off x="4495800" y="4572000"/>
            <a:ext cx="1127125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teaches</a:t>
            </a:r>
            <a:endParaRPr/>
          </a:p>
        </p:txBody>
      </p:sp>
      <p:graphicFrame>
        <p:nvGraphicFramePr>
          <p:cNvPr id="681" name="Google Shape;681;p52"/>
          <p:cNvGraphicFramePr/>
          <p:nvPr/>
        </p:nvGraphicFramePr>
        <p:xfrm>
          <a:off x="5410200" y="4191000"/>
          <a:ext cx="1554162" cy="1284287"/>
        </p:xfrm>
        <a:graphic>
          <a:graphicData uri="http://schemas.openxmlformats.org/presentationml/2006/ole">
            <mc:AlternateContent>
              <mc:Choice Requires="v">
                <p:oleObj r:id="rId4" imgH="1284287" imgW="1554162" progId="Visio.Drawing.6" spid="_x0000_s1">
                  <p:embed/>
                </p:oleObj>
              </mc:Choice>
              <mc:Fallback>
                <p:oleObj r:id="rId5" imgH="1284287" imgW="1554162" progId="Visio.Drawing.6">
                  <p:embed/>
                  <p:pic>
                    <p:nvPicPr>
                      <p:cNvPr id="681" name="Google Shape;681;p52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5410200" y="4191000"/>
                        <a:ext cx="1554162" cy="1284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2" name="Google Shape;682;p52"/>
          <p:cNvSpPr txBox="1"/>
          <p:nvPr/>
        </p:nvSpPr>
        <p:spPr>
          <a:xfrm>
            <a:off x="6248400" y="5105400"/>
            <a:ext cx="533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1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sp>
        <p:nvSpPr>
          <p:cNvPr id="683" name="Google Shape;683;p52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53"/>
          <p:cNvSpPr txBox="1"/>
          <p:nvPr>
            <p:ph idx="1" type="body"/>
          </p:nvPr>
        </p:nvSpPr>
        <p:spPr>
          <a:xfrm>
            <a:off x="228600" y="1219200"/>
            <a:ext cx="87630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And, since we wish </a:t>
            </a:r>
            <a:r>
              <a:rPr b="0" i="0" lang="en-US" sz="32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many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Customers to buy </a:t>
            </a:r>
            <a:r>
              <a:rPr b="0" i="0" lang="en-US" sz="32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many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Products,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hlink"/>
              </a:buClr>
              <a:buSzPts val="2240"/>
              <a:buFont typeface="Noto Sans Symbols"/>
              <a:buChar char="◆"/>
            </a:pP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This one is a </a:t>
            </a:r>
            <a:r>
              <a:rPr b="0" i="0" lang="en-US" sz="4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Many-to-Many</a:t>
            </a:r>
            <a:r>
              <a:rPr b="0" i="0" lang="en-US" sz="4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association, or</a:t>
            </a:r>
            <a:r>
              <a:rPr b="0" i="0" lang="en-US" sz="48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r>
              <a:rPr b="0" i="0" lang="en-US" sz="4800" u="none">
                <a:solidFill>
                  <a:srgbClr val="EF9100"/>
                </a:solidFill>
                <a:latin typeface="Arial"/>
                <a:ea typeface="Arial"/>
                <a:cs typeface="Arial"/>
                <a:sym typeface="Arial"/>
              </a:rPr>
              <a:t>M:M</a:t>
            </a:r>
            <a:endParaRPr/>
          </a:p>
        </p:txBody>
      </p:sp>
      <p:sp>
        <p:nvSpPr>
          <p:cNvPr id="689" name="Google Shape;689;p53"/>
          <p:cNvSpPr txBox="1"/>
          <p:nvPr>
            <p:ph type="title"/>
          </p:nvPr>
        </p:nvSpPr>
        <p:spPr>
          <a:xfrm>
            <a:off x="304800" y="95250"/>
            <a:ext cx="8458200" cy="971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Multiplicity</a:t>
            </a:r>
            <a:endParaRPr/>
          </a:p>
        </p:txBody>
      </p:sp>
      <p:sp>
        <p:nvSpPr>
          <p:cNvPr id="690" name="Google Shape;690;p53"/>
          <p:cNvSpPr txBox="1"/>
          <p:nvPr/>
        </p:nvSpPr>
        <p:spPr>
          <a:xfrm>
            <a:off x="6711950" y="3663950"/>
            <a:ext cx="1816100" cy="2273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691" name="Google Shape;691;p53"/>
          <p:cNvCxnSpPr/>
          <p:nvPr/>
        </p:nvCxnSpPr>
        <p:spPr>
          <a:xfrm rot="10800000">
            <a:off x="6699250" y="4038600"/>
            <a:ext cx="18415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92" name="Google Shape;692;p53"/>
          <p:cNvSpPr txBox="1"/>
          <p:nvPr/>
        </p:nvSpPr>
        <p:spPr>
          <a:xfrm flipH="1">
            <a:off x="6794500" y="3675062"/>
            <a:ext cx="1366837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/>
          </a:p>
        </p:txBody>
      </p:sp>
      <p:sp>
        <p:nvSpPr>
          <p:cNvPr id="693" name="Google Shape;693;p53"/>
          <p:cNvSpPr txBox="1"/>
          <p:nvPr/>
        </p:nvSpPr>
        <p:spPr>
          <a:xfrm flipH="1">
            <a:off x="6708775" y="4040187"/>
            <a:ext cx="1858962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*A/c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Name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Address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Phone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Balance</a:t>
            </a:r>
            <a:endParaRPr/>
          </a:p>
        </p:txBody>
      </p:sp>
      <p:sp>
        <p:nvSpPr>
          <p:cNvPr id="694" name="Google Shape;694;p53"/>
          <p:cNvSpPr txBox="1"/>
          <p:nvPr/>
        </p:nvSpPr>
        <p:spPr>
          <a:xfrm>
            <a:off x="2292350" y="4044950"/>
            <a:ext cx="1739900" cy="18923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2700000" dist="107763">
              <a:schemeClr val="dk1"/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cxnSp>
        <p:nvCxnSpPr>
          <p:cNvPr id="695" name="Google Shape;695;p53"/>
          <p:cNvCxnSpPr/>
          <p:nvPr/>
        </p:nvCxnSpPr>
        <p:spPr>
          <a:xfrm rot="10800000">
            <a:off x="2279650" y="4419600"/>
            <a:ext cx="1765300" cy="0"/>
          </a:xfrm>
          <a:prstGeom prst="straightConnector1">
            <a:avLst/>
          </a:prstGeom>
          <a:noFill/>
          <a:ln cap="flat" cmpd="sng" w="127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sp>
        <p:nvSpPr>
          <p:cNvPr id="696" name="Google Shape;696;p53"/>
          <p:cNvSpPr txBox="1"/>
          <p:nvPr/>
        </p:nvSpPr>
        <p:spPr>
          <a:xfrm flipH="1">
            <a:off x="2565400" y="4070350"/>
            <a:ext cx="1141412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endParaRPr/>
          </a:p>
        </p:txBody>
      </p:sp>
      <p:sp>
        <p:nvSpPr>
          <p:cNvPr id="697" name="Google Shape;697;p53"/>
          <p:cNvSpPr txBox="1"/>
          <p:nvPr/>
        </p:nvSpPr>
        <p:spPr>
          <a:xfrm flipH="1">
            <a:off x="2270125" y="4451350"/>
            <a:ext cx="1660525" cy="13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*Prod No.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Unit Price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Qty in Stock</a:t>
            </a:r>
            <a:endParaRPr/>
          </a:p>
        </p:txBody>
      </p:sp>
      <p:sp>
        <p:nvSpPr>
          <p:cNvPr id="698" name="Google Shape;698;p53"/>
          <p:cNvSpPr txBox="1"/>
          <p:nvPr/>
        </p:nvSpPr>
        <p:spPr>
          <a:xfrm>
            <a:off x="5105400" y="4419600"/>
            <a:ext cx="892175" cy="454025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buys</a:t>
            </a:r>
            <a:endParaRPr/>
          </a:p>
        </p:txBody>
      </p:sp>
      <p:cxnSp>
        <p:nvCxnSpPr>
          <p:cNvPr id="699" name="Google Shape;699;p53"/>
          <p:cNvCxnSpPr/>
          <p:nvPr/>
        </p:nvCxnSpPr>
        <p:spPr>
          <a:xfrm rot="10800000">
            <a:off x="4005262" y="5002212"/>
            <a:ext cx="2725737" cy="52387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</p:spPr>
      </p:cxnSp>
      <p:graphicFrame>
        <p:nvGraphicFramePr>
          <p:cNvPr id="700" name="Google Shape;700;p53"/>
          <p:cNvGraphicFramePr/>
          <p:nvPr/>
        </p:nvGraphicFramePr>
        <p:xfrm>
          <a:off x="3810000" y="3886200"/>
          <a:ext cx="1549400" cy="1422400"/>
        </p:xfrm>
        <a:graphic>
          <a:graphicData uri="http://schemas.openxmlformats.org/presentationml/2006/ole">
            <mc:AlternateContent>
              <mc:Choice Requires="v">
                <p:oleObj r:id="rId4" imgH="1422400" imgW="1549400" progId="Visio.Drawing.6" spid="_x0000_s1">
                  <p:embed/>
                </p:oleObj>
              </mc:Choice>
              <mc:Fallback>
                <p:oleObj r:id="rId5" imgH="1422400" imgW="1549400" progId="Visio.Drawing.6">
                  <p:embed/>
                  <p:pic>
                    <p:nvPicPr>
                      <p:cNvPr id="700" name="Google Shape;700;p53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3810000" y="3886200"/>
                        <a:ext cx="1549400" cy="1422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1" name="Google Shape;701;p53"/>
          <p:cNvSpPr txBox="1"/>
          <p:nvPr/>
        </p:nvSpPr>
        <p:spPr>
          <a:xfrm>
            <a:off x="6248400" y="5105400"/>
            <a:ext cx="4635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1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sp>
        <p:nvSpPr>
          <p:cNvPr id="702" name="Google Shape;702;p53"/>
          <p:cNvSpPr txBox="1"/>
          <p:nvPr/>
        </p:nvSpPr>
        <p:spPr>
          <a:xfrm>
            <a:off x="4114800" y="5029200"/>
            <a:ext cx="4635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1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pic>
        <p:nvPicPr>
          <p:cNvPr id="703" name="Google Shape;703;p5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417887" y="1368425"/>
            <a:ext cx="3567112" cy="4959350"/>
          </a:xfrm>
          <a:prstGeom prst="rect">
            <a:avLst/>
          </a:prstGeom>
          <a:noFill/>
          <a:ln>
            <a:noFill/>
          </a:ln>
        </p:spPr>
      </p:pic>
      <p:sp>
        <p:nvSpPr>
          <p:cNvPr id="704" name="Google Shape;704;p53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4"/>
          <p:cNvSpPr txBox="1"/>
          <p:nvPr>
            <p:ph idx="1" type="body"/>
          </p:nvPr>
        </p:nvSpPr>
        <p:spPr>
          <a:xfrm>
            <a:off x="0" y="1752600"/>
            <a:ext cx="9067800" cy="38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◆"/>
            </a:pPr>
            <a:r>
              <a:rPr b="0" i="0" lang="en-US" sz="3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There are numerous other symbols also used for the </a:t>
            </a:r>
            <a:r>
              <a:rPr b="0" i="0" lang="en-US" sz="30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3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many</a:t>
            </a:r>
            <a:r>
              <a:rPr b="0" i="0" lang="en-US" sz="30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r>
              <a:rPr b="0" i="0" lang="en-US" sz="3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end of a relationship,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◆"/>
            </a:pPr>
            <a:r>
              <a:rPr b="0" i="0" lang="en-US" sz="3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including single and double arrows, etc.</a:t>
            </a:r>
            <a:endParaRPr/>
          </a:p>
          <a:p>
            <a:pPr indent="-228600" lvl="4" marL="20574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</a:pPr>
            <a:r>
              <a:t/>
            </a:r>
            <a:endParaRPr b="0" i="0" sz="1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◆"/>
            </a:pPr>
            <a:r>
              <a:rPr b="0" i="0" lang="en-US" sz="3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star (asterisk) is the UML standard.</a:t>
            </a:r>
            <a:endParaRPr/>
          </a:p>
          <a:p>
            <a:pPr indent="-228600" lvl="4" marL="2057400" rtl="0" algn="l">
              <a:lnSpc>
                <a:spcPct val="90000"/>
              </a:lnSpc>
              <a:spcBef>
                <a:spcPts val="280"/>
              </a:spcBef>
              <a:spcAft>
                <a:spcPts val="0"/>
              </a:spcAft>
              <a:buSzPts val="980"/>
              <a:buNone/>
            </a:pPr>
            <a:r>
              <a:t/>
            </a:r>
            <a:endParaRPr b="0" i="0" sz="1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hlink"/>
              </a:buClr>
              <a:buSzPts val="2100"/>
              <a:buFont typeface="Noto Sans Symbols"/>
              <a:buChar char="◆"/>
            </a:pPr>
            <a:r>
              <a:rPr b="0" i="0" lang="en-US" sz="3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Other ERD notations have their own ways to show </a:t>
            </a:r>
            <a:r>
              <a:rPr b="0" i="0" lang="en-US" sz="30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“</a:t>
            </a:r>
            <a:r>
              <a:rPr b="0" i="0" lang="en-US" sz="3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many</a:t>
            </a:r>
            <a:r>
              <a:rPr b="0" i="0" lang="en-US" sz="3000" u="none">
                <a:solidFill>
                  <a:schemeClr val="lt1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”</a:t>
            </a:r>
            <a:r>
              <a:rPr b="0" i="0" lang="en-US" sz="30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and what direction to read the sentence.</a:t>
            </a:r>
            <a:endParaRPr/>
          </a:p>
        </p:txBody>
      </p:sp>
      <p:sp>
        <p:nvSpPr>
          <p:cNvPr id="710" name="Google Shape;710;p54"/>
          <p:cNvSpPr txBox="1"/>
          <p:nvPr>
            <p:ph type="title"/>
          </p:nvPr>
        </p:nvSpPr>
        <p:spPr>
          <a:xfrm>
            <a:off x="304800" y="171450"/>
            <a:ext cx="84582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FFFFF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6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Multiplicity</a:t>
            </a:r>
            <a:endParaRPr/>
          </a:p>
        </p:txBody>
      </p:sp>
      <p:sp>
        <p:nvSpPr>
          <p:cNvPr id="711" name="Google Shape;711;p54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55"/>
          <p:cNvSpPr txBox="1"/>
          <p:nvPr>
            <p:ph idx="1" type="body"/>
          </p:nvPr>
        </p:nvSpPr>
        <p:spPr>
          <a:xfrm>
            <a:off x="0" y="1905000"/>
            <a:ext cx="9067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2520"/>
              <a:buFont typeface="Noto Sans Symbols"/>
              <a:buChar char="◆"/>
            </a:pPr>
            <a:r>
              <a:rPr b="0" i="0" lang="en-US" sz="36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Multiplicity</a:t>
            </a:r>
            <a:r>
              <a:rPr b="0" i="0" lang="en-US" sz="36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is </a:t>
            </a:r>
            <a:r>
              <a:rPr b="0" i="1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one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(straight line) or </a:t>
            </a:r>
            <a:r>
              <a:rPr b="0" i="1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many</a:t>
            </a:r>
            <a:r>
              <a:rPr b="0" i="0" lang="en-US" sz="3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(asterisk) below each end of the line.</a:t>
            </a:r>
            <a:endParaRPr/>
          </a:p>
        </p:txBody>
      </p:sp>
      <p:sp>
        <p:nvSpPr>
          <p:cNvPr id="717" name="Google Shape;717;p55"/>
          <p:cNvSpPr txBox="1"/>
          <p:nvPr>
            <p:ph type="title"/>
          </p:nvPr>
        </p:nvSpPr>
        <p:spPr>
          <a:xfrm>
            <a:off x="304800" y="171450"/>
            <a:ext cx="84582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450" lIns="90475" spcFirstLastPara="1" rIns="90475" wrap="square" tIns="4445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D00"/>
              </a:buClr>
              <a:buSzPts val="4400"/>
              <a:buFont typeface="Noto Sans Symbols"/>
              <a:buNone/>
            </a:pPr>
            <a:r>
              <a:rPr b="0" i="0" lang="en-US" sz="44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❻</a:t>
            </a:r>
            <a:r>
              <a:rPr b="0" i="0" lang="en-US" sz="2800" u="none">
                <a:solidFill>
                  <a:srgbClr val="FAFD00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b="0" i="0" lang="en-US" sz="36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The Entity-Relationship </a:t>
            </a: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Notation.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5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Summary</a:t>
            </a:r>
            <a:endParaRPr/>
          </a:p>
        </p:txBody>
      </p:sp>
      <p:cxnSp>
        <p:nvCxnSpPr>
          <p:cNvPr id="718" name="Google Shape;718;p55"/>
          <p:cNvCxnSpPr/>
          <p:nvPr/>
        </p:nvCxnSpPr>
        <p:spPr>
          <a:xfrm rot="10800000">
            <a:off x="3022600" y="4038600"/>
            <a:ext cx="26416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2700000" dist="107763">
              <a:srgbClr val="00279F"/>
            </a:outerShdw>
          </a:effectLst>
        </p:spPr>
      </p:cxnSp>
      <p:cxnSp>
        <p:nvCxnSpPr>
          <p:cNvPr id="719" name="Google Shape;719;p55"/>
          <p:cNvCxnSpPr/>
          <p:nvPr/>
        </p:nvCxnSpPr>
        <p:spPr>
          <a:xfrm rot="10800000">
            <a:off x="3022600" y="5715000"/>
            <a:ext cx="2641600" cy="0"/>
          </a:xfrm>
          <a:prstGeom prst="straightConnector1">
            <a:avLst/>
          </a:prstGeom>
          <a:noFill/>
          <a:ln cap="flat" cmpd="sng" w="50800">
            <a:solidFill>
              <a:schemeClr val="lt1"/>
            </a:solidFill>
            <a:prstDash val="solid"/>
            <a:miter lim="800000"/>
            <a:headEnd len="med" w="med" type="none"/>
            <a:tailEnd len="med" w="med" type="none"/>
          </a:ln>
          <a:effectLst>
            <a:outerShdw blurRad="63500" dir="2700000" dist="107763">
              <a:srgbClr val="00279F"/>
            </a:outerShdw>
          </a:effectLst>
        </p:spPr>
      </p:cxnSp>
      <p:sp>
        <p:nvSpPr>
          <p:cNvPr id="720" name="Google Shape;720;p55"/>
          <p:cNvSpPr txBox="1"/>
          <p:nvPr/>
        </p:nvSpPr>
        <p:spPr>
          <a:xfrm>
            <a:off x="3795712" y="3248025"/>
            <a:ext cx="879475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BF6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1:M</a:t>
            </a:r>
            <a:endParaRPr/>
          </a:p>
        </p:txBody>
      </p:sp>
      <p:sp>
        <p:nvSpPr>
          <p:cNvPr id="721" name="Google Shape;721;p55"/>
          <p:cNvSpPr txBox="1"/>
          <p:nvPr/>
        </p:nvSpPr>
        <p:spPr>
          <a:xfrm>
            <a:off x="3795712" y="4848225"/>
            <a:ext cx="992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t" bIns="44450" lIns="90475" spcFirstLastPara="1" rIns="90475" wrap="square" tIns="444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6BF69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F6BF69"/>
                </a:solidFill>
                <a:latin typeface="Arial"/>
                <a:ea typeface="Arial"/>
                <a:cs typeface="Arial"/>
                <a:sym typeface="Arial"/>
              </a:rPr>
              <a:t>M:M</a:t>
            </a:r>
            <a:endParaRPr/>
          </a:p>
        </p:txBody>
      </p:sp>
      <p:sp>
        <p:nvSpPr>
          <p:cNvPr id="722" name="Google Shape;722;p55"/>
          <p:cNvSpPr txBox="1"/>
          <p:nvPr/>
        </p:nvSpPr>
        <p:spPr>
          <a:xfrm>
            <a:off x="3048000" y="4114800"/>
            <a:ext cx="4635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1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sp>
        <p:nvSpPr>
          <p:cNvPr id="723" name="Google Shape;723;p55"/>
          <p:cNvSpPr txBox="1"/>
          <p:nvPr/>
        </p:nvSpPr>
        <p:spPr>
          <a:xfrm>
            <a:off x="2895600" y="5791200"/>
            <a:ext cx="4635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1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sp>
        <p:nvSpPr>
          <p:cNvPr id="724" name="Google Shape;724;p55"/>
          <p:cNvSpPr txBox="1"/>
          <p:nvPr/>
        </p:nvSpPr>
        <p:spPr>
          <a:xfrm>
            <a:off x="5334000" y="5791200"/>
            <a:ext cx="46355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entury Schoolbook"/>
              <a:buNone/>
            </a:pPr>
            <a:r>
              <a:rPr b="1" i="0" lang="en-US" sz="4400" u="none">
                <a:solidFill>
                  <a:srgbClr val="FFFFFF"/>
                </a:solidFill>
                <a:latin typeface="Century Schoolbook"/>
                <a:ea typeface="Century Schoolbook"/>
                <a:cs typeface="Century Schoolbook"/>
                <a:sym typeface="Century Schoolbook"/>
              </a:rPr>
              <a:t>*</a:t>
            </a:r>
            <a:endParaRPr/>
          </a:p>
        </p:txBody>
      </p:sp>
      <p:sp>
        <p:nvSpPr>
          <p:cNvPr id="725" name="Google Shape;725;p55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5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Arial"/>
              <a:buNone/>
            </a:pP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Let’s try to draw the problem of</a:t>
            </a:r>
            <a:b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40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supply part again</a:t>
            </a:r>
            <a:endParaRPr/>
          </a:p>
        </p:txBody>
      </p:sp>
      <p:sp>
        <p:nvSpPr>
          <p:cNvPr id="731" name="Google Shape;731;p56"/>
          <p:cNvSpPr txBox="1"/>
          <p:nvPr/>
        </p:nvSpPr>
        <p:spPr>
          <a:xfrm>
            <a:off x="1835150" y="1700212"/>
            <a:ext cx="4572000" cy="2563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S#:  		零件供應商的編號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SNAME: 	零件供應商的姓名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CITY1   	零件供應商的城市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P#       零件編號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PNAME	零件名稱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COLOR  零件色彩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WEIGHT  零件重量 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CITY2   零件所儲存的城市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QTY      零件的存量</a:t>
            </a:r>
            <a:endParaRPr/>
          </a:p>
        </p:txBody>
      </p:sp>
      <p:sp>
        <p:nvSpPr>
          <p:cNvPr id="732" name="Google Shape;732;p56"/>
          <p:cNvSpPr txBox="1"/>
          <p:nvPr/>
        </p:nvSpPr>
        <p:spPr>
          <a:xfrm>
            <a:off x="971550" y="4716462"/>
            <a:ext cx="6913562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r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一個零件可能有多個供應商可以供應, 例如正新輪胎與南港輪胎都可以提供米其林10039號輪胎,而正新輪胎可以存放在板橋,但是南港輪胎則庫存在內湖</a:t>
            </a:r>
            <a:endParaRPr/>
          </a:p>
        </p:txBody>
      </p:sp>
      <p:sp>
        <p:nvSpPr>
          <p:cNvPr id="733" name="Google Shape;733;p56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p5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400">
              <a:solidFill>
                <a:schemeClr val="l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9" name="Google Shape;739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41487" y="900112"/>
            <a:ext cx="6969125" cy="4911725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57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8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DFKai-SB"/>
              <a:buNone/>
            </a:pPr>
            <a:r>
              <a:rPr b="0" i="0" lang="en-US" sz="28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你現在是一個系統分析師,你的任務是分析ㄧ個校務行政系統.請畫出此系統的UML 圖,</a:t>
            </a:r>
            <a:br>
              <a:rPr b="0" i="0" lang="en-US" sz="28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</a:br>
            <a:r>
              <a:rPr b="0" i="0" lang="en-US" sz="2800" u="none">
                <a:solidFill>
                  <a:schemeClr val="lt2"/>
                </a:solidFill>
                <a:latin typeface="DFKai-SB"/>
                <a:ea typeface="DFKai-SB"/>
                <a:cs typeface="DFKai-SB"/>
                <a:sym typeface="DFKai-SB"/>
              </a:rPr>
              <a:t>以下是概略的需求分析</a:t>
            </a:r>
            <a:endParaRPr/>
          </a:p>
        </p:txBody>
      </p:sp>
      <p:sp>
        <p:nvSpPr>
          <p:cNvPr id="746" name="Google Shape;746;p58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一個老師可以敎許多門課,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每一個學生可以自行選修課來修,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目前的開授的科目有英文,數學,物理,化學,國文.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每一個開課的科目包含授課時數,授課教室,授課時段,授課年級與班級以及授課老師等資訊.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學生的學籍包含身分證號碼,學號,年級,姓名,住址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DFKai-SB"/>
                <a:ea typeface="DFKai-SB"/>
                <a:cs typeface="DFKai-SB"/>
                <a:sym typeface="DFKai-SB"/>
              </a:rPr>
              <a:t>每個學生都會被編到一個班級上課,由一位老師擔任導師</a:t>
            </a:r>
            <a:endParaRPr/>
          </a:p>
          <a:p>
            <a:pPr indent="-218440" lvl="0" marL="342900" rtl="0" algn="l">
              <a:spcBef>
                <a:spcPts val="560"/>
              </a:spcBef>
              <a:spcAft>
                <a:spcPts val="0"/>
              </a:spcAft>
              <a:buSzPts val="1960"/>
              <a:buNone/>
            </a:pPr>
            <a:r>
              <a:t/>
            </a:r>
            <a:endParaRPr b="0" i="0" sz="2800" u="none">
              <a:solidFill>
                <a:schemeClr val="lt1"/>
              </a:solidFill>
              <a:latin typeface="DFKai-SB"/>
              <a:ea typeface="DFKai-SB"/>
              <a:cs typeface="DFKai-SB"/>
              <a:sym typeface="DFKai-SB"/>
            </a:endParaRPr>
          </a:p>
        </p:txBody>
      </p:sp>
      <p:sp>
        <p:nvSpPr>
          <p:cNvPr id="747" name="Google Shape;747;p58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5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You are a system analyst and you are responsible for analyze an e-school system</a:t>
            </a:r>
            <a:br>
              <a:rPr b="0" i="0" lang="en-US" sz="2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Please draw UML diagram for the following requirement </a:t>
            </a:r>
            <a:endParaRPr/>
          </a:p>
        </p:txBody>
      </p:sp>
      <p:sp>
        <p:nvSpPr>
          <p:cNvPr id="753" name="Google Shape;753;p59"/>
          <p:cNvSpPr txBox="1"/>
          <p:nvPr>
            <p:ph idx="1" type="body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teacher can teach many courses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student can enroll in several courses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The course subject include Chinese, English, Math, Chemistry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course has hours, classroom, time slots, grades, class, teacher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A student has ID, name, grade, address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Char char="◆"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Each student will be assigned to a class. There is one teacher will be assigned to the class as an advisor.</a:t>
            </a:r>
            <a:endParaRPr/>
          </a:p>
          <a:p>
            <a:pPr indent="-23622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622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3622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hlink"/>
              </a:buClr>
              <a:buSzPts val="1680"/>
              <a:buFont typeface="Noto Sans Symbols"/>
              <a:buNone/>
            </a:pPr>
            <a:r>
              <a:t/>
            </a:r>
            <a:endParaRPr b="0" i="0" sz="2400" u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54" name="Google Shape;754;p59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p6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Discussion Comment</a:t>
            </a:r>
            <a:endParaRPr/>
          </a:p>
        </p:txBody>
      </p:sp>
      <p:sp>
        <p:nvSpPr>
          <p:cNvPr id="760" name="Google Shape;760;p60"/>
          <p:cNvSpPr txBox="1"/>
          <p:nvPr>
            <p:ph idx="1" type="body"/>
          </p:nvPr>
        </p:nvSpPr>
        <p:spPr>
          <a:xfrm>
            <a:off x="457200" y="1628775"/>
            <a:ext cx="8229600" cy="4502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Do you need to make subject into a table?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–"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If for a hundred year, your subject name change little, a table can be skipped. A string field can be used in the course table. But somehow your program need to maintain a list of these subjects (strings) as well.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–"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However, if you have additional attributes needed to be added to a subject. Such as course description, course textbook, etc. Making it into a table is a better solution.</a:t>
            </a:r>
            <a:endParaRPr/>
          </a:p>
        </p:txBody>
      </p:sp>
      <p:sp>
        <p:nvSpPr>
          <p:cNvPr id="761" name="Google Shape;761;p60"/>
          <p:cNvSpPr txBox="1"/>
          <p:nvPr/>
        </p:nvSpPr>
        <p:spPr>
          <a:xfrm>
            <a:off x="179387" y="6337300"/>
            <a:ext cx="730250" cy="457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Verdana"/>
              <a:buNone/>
            </a:pPr>
            <a:fld id="{00000000-1234-1234-1234-123412341234}" type="slidenum">
              <a:rPr b="0" i="0" lang="en-US" sz="18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Arial"/>
              <a:buNone/>
            </a:pPr>
            <a:r>
              <a:rPr b="0" i="0" lang="en-US" sz="4400" u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What if you don’t normalize?</a:t>
            </a:r>
            <a:endParaRPr/>
          </a:p>
        </p:txBody>
      </p:sp>
      <p:sp>
        <p:nvSpPr>
          <p:cNvPr id="767" name="Google Shape;767;p61"/>
          <p:cNvSpPr txBox="1"/>
          <p:nvPr>
            <p:ph idx="1" type="body"/>
          </p:nvPr>
        </p:nvSpPr>
        <p:spPr>
          <a:xfrm>
            <a:off x="457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You may write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Class student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int sid 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vector&lt;course*&gt; my_courses;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Class  course 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int cid 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   vector&lt;students*&gt; students 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hlink"/>
              </a:buClr>
              <a:buSzPts val="1260"/>
              <a:buFont typeface="Noto Sans Symbols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}</a:t>
            </a:r>
            <a:endParaRPr/>
          </a:p>
        </p:txBody>
      </p:sp>
      <p:sp>
        <p:nvSpPr>
          <p:cNvPr id="768" name="Google Shape;768;p61"/>
          <p:cNvSpPr txBox="1"/>
          <p:nvPr>
            <p:ph idx="2" type="body"/>
          </p:nvPr>
        </p:nvSpPr>
        <p:spPr>
          <a:xfrm>
            <a:off x="4648200" y="1600200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960"/>
              <a:buFont typeface="Noto Sans Symbols"/>
              <a:buChar char="◆"/>
            </a:pPr>
            <a:r>
              <a:rPr b="0" i="0" lang="en-US" sz="28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What’s wrong?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Verdana"/>
              <a:buChar char="–"/>
            </a:pPr>
            <a:r>
              <a:rPr b="0" i="0" lang="en-US" sz="2400" u="none" cap="none" strike="noStrik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如果上級長官有要求，要求你紀錄每個學生修課時的到課時數 (註:任何新的屬性與兩者都相關)</a:t>
            </a:r>
            <a:endParaRPr/>
          </a:p>
        </p:txBody>
      </p:sp>
      <p:sp>
        <p:nvSpPr>
          <p:cNvPr id="769" name="Google Shape;769;p61"/>
          <p:cNvSpPr txBox="1"/>
          <p:nvPr/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Verdana"/>
              <a:buNone/>
            </a:pPr>
            <a:fld id="{00000000-1234-1234-1234-123412341234}" type="slidenum">
              <a:rPr b="0" i="0" lang="en-US" sz="1200" u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/>
          </a:p>
        </p:txBody>
      </p:sp>
    </p:spTree>
  </p:cSld>
  <p:clrMapOvr>
    <a:masterClrMapping/>
  </p:clrMapOvr>
  <p:transition>
    <p:randomBar dir="vert"/>
  </p:transition>
</p:sld>
</file>

<file path=ppt/theme/theme1.xml><?xml version="1.0" encoding="utf-8"?>
<a:theme xmlns:a="http://schemas.openxmlformats.org/drawingml/2006/main" xmlns:r="http://schemas.openxmlformats.org/officeDocument/2006/relationships" name="1_Cliff">
  <a:themeElements>
    <a:clrScheme name="Cliff 5">
      <a:dk1>
        <a:srgbClr val="009999"/>
      </a:dk1>
      <a:lt1>
        <a:srgbClr val="EAEAEA"/>
      </a:lt1>
      <a:dk2>
        <a:srgbClr val="006666"/>
      </a:dk2>
      <a:lt2>
        <a:srgbClr val="FFFFCC"/>
      </a:lt2>
      <a:accent1>
        <a:srgbClr val="339966"/>
      </a:accent1>
      <a:accent2>
        <a:srgbClr val="5E855B"/>
      </a:accent2>
      <a:accent3>
        <a:srgbClr val="AAB8B8"/>
      </a:accent3>
      <a:accent4>
        <a:srgbClr val="C8C8C8"/>
      </a:accent4>
      <a:accent5>
        <a:srgbClr val="ADCAB8"/>
      </a:accent5>
      <a:accent6>
        <a:srgbClr val="547852"/>
      </a:accent6>
      <a:hlink>
        <a:srgbClr val="EEC85E"/>
      </a:hlink>
      <a:folHlink>
        <a:srgbClr val="AA845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liff">
  <a:themeElements>
    <a:clrScheme name="Cliff 5">
      <a:dk1>
        <a:srgbClr val="009999"/>
      </a:dk1>
      <a:lt1>
        <a:srgbClr val="EAEAEA"/>
      </a:lt1>
      <a:dk2>
        <a:srgbClr val="006666"/>
      </a:dk2>
      <a:lt2>
        <a:srgbClr val="FFFFCC"/>
      </a:lt2>
      <a:accent1>
        <a:srgbClr val="339966"/>
      </a:accent1>
      <a:accent2>
        <a:srgbClr val="5E855B"/>
      </a:accent2>
      <a:accent3>
        <a:srgbClr val="AAB8B8"/>
      </a:accent3>
      <a:accent4>
        <a:srgbClr val="C8C8C8"/>
      </a:accent4>
      <a:accent5>
        <a:srgbClr val="ADCAB8"/>
      </a:accent5>
      <a:accent6>
        <a:srgbClr val="547852"/>
      </a:accent6>
      <a:hlink>
        <a:srgbClr val="EEC85E"/>
      </a:hlink>
      <a:folHlink>
        <a:srgbClr val="AA845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Cliff">
  <a:themeElements>
    <a:clrScheme name="Cliff 5">
      <a:dk1>
        <a:srgbClr val="009999"/>
      </a:dk1>
      <a:lt1>
        <a:srgbClr val="EAEAEA"/>
      </a:lt1>
      <a:dk2>
        <a:srgbClr val="006666"/>
      </a:dk2>
      <a:lt2>
        <a:srgbClr val="FFFFCC"/>
      </a:lt2>
      <a:accent1>
        <a:srgbClr val="339966"/>
      </a:accent1>
      <a:accent2>
        <a:srgbClr val="5E855B"/>
      </a:accent2>
      <a:accent3>
        <a:srgbClr val="AAB8B8"/>
      </a:accent3>
      <a:accent4>
        <a:srgbClr val="C8C8C8"/>
      </a:accent4>
      <a:accent5>
        <a:srgbClr val="ADCAB8"/>
      </a:accent5>
      <a:accent6>
        <a:srgbClr val="547852"/>
      </a:accent6>
      <a:hlink>
        <a:srgbClr val="EEC85E"/>
      </a:hlink>
      <a:folHlink>
        <a:srgbClr val="AA845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1997-06-01T06:39:44Z</dcterms:created>
  <dc:creator>David W. Brown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