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oleObject" PartName="/ppt/embeddings/oleObject3.bin"/>
  <Override ContentType="application/vnd.openxmlformats-officedocument.oleObject" PartName="/ppt/embeddings/oleObject6.bin"/>
  <Override ContentType="application/vnd.openxmlformats-officedocument.oleObject" PartName="/ppt/embeddings/oleObject5.bin"/>
  <Override ContentType="application/vnd.openxmlformats-officedocument.oleObject" PartName="/ppt/embeddings/oleObject4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y="6858000" cx="9144000"/>
  <p:notesSz cx="6858000" cy="9144000"/>
  <p:embeddedFontLst>
    <p:embeddedFont>
      <p:font typeface="Corben"/>
      <p:bold r:id="rId58"/>
    </p:embeddedFont>
    <p:embeddedFont>
      <p:font typeface="Rosarivo"/>
      <p:regular r:id="rId59"/>
      <p:italic r:id="rId60"/>
    </p:embeddedFont>
    <p:embeddedFont>
      <p:font typeface="Century Schoolbook"/>
      <p:regular r:id="rId61"/>
      <p:bold r:id="rId62"/>
      <p:italic r:id="rId63"/>
      <p:boldItalic r:id="rId64"/>
    </p:embeddedFont>
    <p:embeddedFont>
      <p:font typeface="Noto Sans Symbols"/>
      <p:regular r:id="rId65"/>
      <p:bold r:id="rId66"/>
    </p:embeddedFont>
    <p:embeddedFont>
      <p:font typeface="Arial Black"/>
      <p:regular r:id="rId67"/>
    </p:embeddedFont>
    <p:embeddedFont>
      <p:font typeface="Bell MT"/>
      <p:regular r:id="rId68"/>
      <p:bold r:id="rId69"/>
      <p:italic r:id="rId70"/>
      <p:boldItalic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72" roundtripDataSignature="AMtx7mjAkv4gYohTiXCNLpqiEhL3Aq24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2" Type="http://customschemas.google.com/relationships/presentationmetadata" Target="meta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BellMT-boldItalic.fntdata"/><Relationship Id="rId70" Type="http://schemas.openxmlformats.org/officeDocument/2006/relationships/font" Target="fonts/BellMT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CenturySchoolbook-bold.fntdata"/><Relationship Id="rId61" Type="http://schemas.openxmlformats.org/officeDocument/2006/relationships/font" Target="fonts/CenturySchoolbook-regular.fntdata"/><Relationship Id="rId20" Type="http://schemas.openxmlformats.org/officeDocument/2006/relationships/slide" Target="slides/slide14.xml"/><Relationship Id="rId64" Type="http://schemas.openxmlformats.org/officeDocument/2006/relationships/font" Target="fonts/CenturySchoolbook-boldItalic.fntdata"/><Relationship Id="rId63" Type="http://schemas.openxmlformats.org/officeDocument/2006/relationships/font" Target="fonts/CenturySchoolbook-italic.fntdata"/><Relationship Id="rId22" Type="http://schemas.openxmlformats.org/officeDocument/2006/relationships/slide" Target="slides/slide16.xml"/><Relationship Id="rId66" Type="http://schemas.openxmlformats.org/officeDocument/2006/relationships/font" Target="fonts/NotoSansSymbols-bold.fntdata"/><Relationship Id="rId21" Type="http://schemas.openxmlformats.org/officeDocument/2006/relationships/slide" Target="slides/slide15.xml"/><Relationship Id="rId65" Type="http://schemas.openxmlformats.org/officeDocument/2006/relationships/font" Target="fonts/NotoSansSymbols-regular.fntdata"/><Relationship Id="rId24" Type="http://schemas.openxmlformats.org/officeDocument/2006/relationships/slide" Target="slides/slide18.xml"/><Relationship Id="rId68" Type="http://schemas.openxmlformats.org/officeDocument/2006/relationships/font" Target="fonts/BellMT-regular.fntdata"/><Relationship Id="rId23" Type="http://schemas.openxmlformats.org/officeDocument/2006/relationships/slide" Target="slides/slide17.xml"/><Relationship Id="rId67" Type="http://schemas.openxmlformats.org/officeDocument/2006/relationships/font" Target="fonts/ArialBlack-regular.fntdata"/><Relationship Id="rId60" Type="http://schemas.openxmlformats.org/officeDocument/2006/relationships/font" Target="fonts/Rosarivo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BellMT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Rosarivo-regular.fntdata"/><Relationship Id="rId14" Type="http://schemas.openxmlformats.org/officeDocument/2006/relationships/slide" Target="slides/slide8.xml"/><Relationship Id="rId58" Type="http://schemas.openxmlformats.org/officeDocument/2006/relationships/font" Target="fonts/Corben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7.png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7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426" name="Google Shape;142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49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3"/>
          <p:cNvSpPr txBox="1"/>
          <p:nvPr>
            <p:ph type="ctrTitle"/>
          </p:nvPr>
        </p:nvSpPr>
        <p:spPr>
          <a:xfrm>
            <a:off x="685800" y="1873250"/>
            <a:ext cx="7772400" cy="155575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240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9pPr>
          </a:lstStyle>
          <a:p/>
        </p:txBody>
      </p:sp>
      <p:sp>
        <p:nvSpPr>
          <p:cNvPr id="26" name="Google Shape;26;p53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3"/>
          <p:cNvSpPr txBox="1"/>
          <p:nvPr>
            <p:ph idx="12" type="sldNum"/>
          </p:nvPr>
        </p:nvSpPr>
        <p:spPr>
          <a:xfrm>
            <a:off x="123825" y="6219825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區段標題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9pPr>
          </a:lstStyle>
          <a:p/>
        </p:txBody>
      </p:sp>
      <p:sp>
        <p:nvSpPr>
          <p:cNvPr id="46" name="Google Shape;46;p55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5"/>
          <p:cNvSpPr txBox="1"/>
          <p:nvPr>
            <p:ph idx="12" type="sldNum"/>
          </p:nvPr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6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9pPr>
          </a:lstStyle>
          <a:p/>
        </p:txBody>
      </p:sp>
      <p:sp>
        <p:nvSpPr>
          <p:cNvPr id="52" name="Google Shape;52;p56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6"/>
          <p:cNvSpPr txBox="1"/>
          <p:nvPr>
            <p:ph idx="12" type="sldNum"/>
          </p:nvPr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7"/>
          <p:cNvSpPr txBox="1"/>
          <p:nvPr>
            <p:ph type="title"/>
          </p:nvPr>
        </p:nvSpPr>
        <p:spPr>
          <a:xfrm rot="5400000">
            <a:off x="4731544" y="2175669"/>
            <a:ext cx="5853112" cy="2057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7"/>
          <p:cNvSpPr txBox="1"/>
          <p:nvPr>
            <p:ph idx="1" type="body"/>
          </p:nvPr>
        </p:nvSpPr>
        <p:spPr>
          <a:xfrm rot="5400000">
            <a:off x="540544" y="194469"/>
            <a:ext cx="5853112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9pPr>
          </a:lstStyle>
          <a:p/>
        </p:txBody>
      </p:sp>
      <p:sp>
        <p:nvSpPr>
          <p:cNvPr id="58" name="Google Shape;58;p57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7"/>
          <p:cNvSpPr txBox="1"/>
          <p:nvPr>
            <p:ph idx="12" type="sldNum"/>
          </p:nvPr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8"/>
          <p:cNvSpPr txBox="1"/>
          <p:nvPr>
            <p:ph idx="1" type="body"/>
          </p:nvPr>
        </p:nvSpPr>
        <p:spPr>
          <a:xfrm rot="5400000">
            <a:off x="2306638" y="-249237"/>
            <a:ext cx="45307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9pPr>
          </a:lstStyle>
          <a:p/>
        </p:txBody>
      </p:sp>
      <p:sp>
        <p:nvSpPr>
          <p:cNvPr id="64" name="Google Shape;64;p58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8"/>
          <p:cNvSpPr txBox="1"/>
          <p:nvPr>
            <p:ph idx="12" type="sldNum"/>
          </p:nvPr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5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71" name="Google Shape;71;p59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9"/>
          <p:cNvSpPr txBox="1"/>
          <p:nvPr>
            <p:ph idx="12" type="sldNum"/>
          </p:nvPr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640"/>
              </a:spcBef>
              <a:spcAft>
                <a:spcPts val="0"/>
              </a:spcAft>
              <a:buSzPts val="2400"/>
              <a:buChar char="●"/>
              <a:defRPr sz="3200"/>
            </a:lvl1pPr>
            <a:lvl2pPr indent="-361950" lvl="1" marL="9144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2pPr>
            <a:lvl3pPr indent="-342900" lvl="2" marL="13716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4pPr>
            <a:lvl5pPr indent="-323850" lvl="4" marL="22860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5pPr>
            <a:lvl6pPr indent="-323850" lvl="5" marL="27432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6pPr>
            <a:lvl7pPr indent="-323850" lvl="6" marL="32004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7pPr>
            <a:lvl8pPr indent="-323850" lvl="7" marL="36576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8pPr>
            <a:lvl9pPr indent="-323850" lvl="8" marL="41148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9pPr>
          </a:lstStyle>
          <a:p/>
        </p:txBody>
      </p:sp>
      <p:sp>
        <p:nvSpPr>
          <p:cNvPr id="77" name="Google Shape;77;p6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78" name="Google Shape;78;p60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0"/>
          <p:cNvSpPr txBox="1"/>
          <p:nvPr>
            <p:ph idx="12" type="sldNum"/>
          </p:nvPr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1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1"/>
          <p:cNvSpPr txBox="1"/>
          <p:nvPr>
            <p:ph idx="12" type="sldNum"/>
          </p:nvPr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2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2"/>
          <p:cNvSpPr txBox="1"/>
          <p:nvPr>
            <p:ph idx="12" type="sldNum"/>
          </p:nvPr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  <p:sp>
        <p:nvSpPr>
          <p:cNvPr id="93" name="Google Shape;93;p6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9pPr>
          </a:lstStyle>
          <a:p/>
        </p:txBody>
      </p:sp>
      <p:sp>
        <p:nvSpPr>
          <p:cNvPr id="94" name="Google Shape;94;p6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  <p:sp>
        <p:nvSpPr>
          <p:cNvPr id="95" name="Google Shape;95;p6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9pPr>
          </a:lstStyle>
          <a:p/>
        </p:txBody>
      </p:sp>
      <p:sp>
        <p:nvSpPr>
          <p:cNvPr id="96" name="Google Shape;96;p63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3"/>
          <p:cNvSpPr txBox="1"/>
          <p:nvPr>
            <p:ph idx="12" type="sldNum"/>
          </p:nvPr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4"/>
          <p:cNvSpPr txBox="1"/>
          <p:nvPr>
            <p:ph idx="1" type="body"/>
          </p:nvPr>
        </p:nvSpPr>
        <p:spPr>
          <a:xfrm>
            <a:off x="457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9pPr>
          </a:lstStyle>
          <a:p/>
        </p:txBody>
      </p:sp>
      <p:sp>
        <p:nvSpPr>
          <p:cNvPr id="102" name="Google Shape;102;p64"/>
          <p:cNvSpPr txBox="1"/>
          <p:nvPr>
            <p:ph idx="2" type="body"/>
          </p:nvPr>
        </p:nvSpPr>
        <p:spPr>
          <a:xfrm>
            <a:off x="4648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9pPr>
          </a:lstStyle>
          <a:p/>
        </p:txBody>
      </p:sp>
      <p:sp>
        <p:nvSpPr>
          <p:cNvPr id="103" name="Google Shape;103;p64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64"/>
          <p:cNvSpPr txBox="1"/>
          <p:nvPr>
            <p:ph idx="12" type="sldNum"/>
          </p:nvPr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2"/>
          <p:cNvGrpSpPr/>
          <p:nvPr/>
        </p:nvGrpSpPr>
        <p:grpSpPr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11" name="Google Shape;11;p52"/>
            <p:cNvSpPr/>
            <p:nvPr/>
          </p:nvSpPr>
          <p:spPr>
            <a:xfrm>
              <a:off x="0" y="2508"/>
              <a:ext cx="2142" cy="1804"/>
            </a:xfrm>
            <a:custGeom>
              <a:rect b="b" l="l" r="r" t="t"/>
              <a:pathLst>
                <a:path extrusionOk="0" h="1804" w="2135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1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2"/>
            <p:cNvSpPr/>
            <p:nvPr/>
          </p:nvSpPr>
          <p:spPr>
            <a:xfrm>
              <a:off x="0" y="2458"/>
              <a:ext cx="1854" cy="1858"/>
            </a:xfrm>
            <a:custGeom>
              <a:rect b="b" l="l" r="r" t="t"/>
              <a:pathLst>
                <a:path extrusionOk="0" h="1858" w="1854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50000">
                  <a:schemeClr val="dk2"/>
                </a:gs>
                <a:gs pos="100000">
                  <a:schemeClr val="dk1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2"/>
            <p:cNvSpPr/>
            <p:nvPr/>
          </p:nvSpPr>
          <p:spPr>
            <a:xfrm>
              <a:off x="0" y="2735"/>
              <a:ext cx="1745" cy="1577"/>
            </a:xfrm>
            <a:custGeom>
              <a:rect b="b" l="l" r="r" t="t"/>
              <a:pathLst>
                <a:path extrusionOk="0" h="1577" w="1745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1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52"/>
            <p:cNvSpPr/>
            <p:nvPr/>
          </p:nvSpPr>
          <p:spPr>
            <a:xfrm>
              <a:off x="0" y="2544"/>
              <a:ext cx="1745" cy="1768"/>
            </a:xfrm>
            <a:custGeom>
              <a:rect b="b" l="l" r="r" t="t"/>
              <a:pathLst>
                <a:path extrusionOk="0" h="1768" w="1745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1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52"/>
            <p:cNvSpPr/>
            <p:nvPr/>
          </p:nvSpPr>
          <p:spPr>
            <a:xfrm>
              <a:off x="209" y="2784"/>
              <a:ext cx="86" cy="86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52"/>
            <p:cNvSpPr/>
            <p:nvPr/>
          </p:nvSpPr>
          <p:spPr>
            <a:xfrm>
              <a:off x="1536" y="3884"/>
              <a:ext cx="92" cy="92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52"/>
            <p:cNvSpPr/>
            <p:nvPr/>
          </p:nvSpPr>
          <p:spPr>
            <a:xfrm>
              <a:off x="791" y="2723"/>
              <a:ext cx="121" cy="12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5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5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●"/>
              <a:defRPr b="0" i="0" sz="32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indent="-3619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●"/>
              <a:defRPr b="0" i="0" sz="28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defRPr>
            </a:lvl2pPr>
            <a:lvl3pPr indent="-3429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24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5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52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5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52"/>
          <p:cNvSpPr txBox="1"/>
          <p:nvPr>
            <p:ph idx="12" type="sldNum"/>
          </p:nvPr>
        </p:nvSpPr>
        <p:spPr>
          <a:xfrm>
            <a:off x="123825" y="6219825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4"/>
          <p:cNvGrpSpPr/>
          <p:nvPr/>
        </p:nvGrpSpPr>
        <p:grpSpPr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31" name="Google Shape;31;p54"/>
            <p:cNvSpPr/>
            <p:nvPr/>
          </p:nvSpPr>
          <p:spPr>
            <a:xfrm>
              <a:off x="0" y="2508"/>
              <a:ext cx="2142" cy="1804"/>
            </a:xfrm>
            <a:custGeom>
              <a:rect b="b" l="l" r="r" t="t"/>
              <a:pathLst>
                <a:path extrusionOk="0" h="1804" w="2135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1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54"/>
            <p:cNvSpPr/>
            <p:nvPr/>
          </p:nvSpPr>
          <p:spPr>
            <a:xfrm>
              <a:off x="0" y="2458"/>
              <a:ext cx="1854" cy="1858"/>
            </a:xfrm>
            <a:custGeom>
              <a:rect b="b" l="l" r="r" t="t"/>
              <a:pathLst>
                <a:path extrusionOk="0" h="1858" w="1854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50000">
                  <a:schemeClr val="dk2"/>
                </a:gs>
                <a:gs pos="100000">
                  <a:schemeClr val="dk1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54"/>
            <p:cNvSpPr/>
            <p:nvPr/>
          </p:nvSpPr>
          <p:spPr>
            <a:xfrm>
              <a:off x="0" y="2735"/>
              <a:ext cx="1745" cy="1577"/>
            </a:xfrm>
            <a:custGeom>
              <a:rect b="b" l="l" r="r" t="t"/>
              <a:pathLst>
                <a:path extrusionOk="0" h="1577" w="1745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1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54"/>
            <p:cNvSpPr/>
            <p:nvPr/>
          </p:nvSpPr>
          <p:spPr>
            <a:xfrm>
              <a:off x="0" y="2544"/>
              <a:ext cx="1745" cy="1768"/>
            </a:xfrm>
            <a:custGeom>
              <a:rect b="b" l="l" r="r" t="t"/>
              <a:pathLst>
                <a:path extrusionOk="0" h="1768" w="1745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1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54"/>
            <p:cNvSpPr/>
            <p:nvPr/>
          </p:nvSpPr>
          <p:spPr>
            <a:xfrm>
              <a:off x="209" y="2784"/>
              <a:ext cx="86" cy="86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54"/>
            <p:cNvSpPr/>
            <p:nvPr/>
          </p:nvSpPr>
          <p:spPr>
            <a:xfrm>
              <a:off x="1536" y="3884"/>
              <a:ext cx="92" cy="92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54"/>
            <p:cNvSpPr/>
            <p:nvPr/>
          </p:nvSpPr>
          <p:spPr>
            <a:xfrm>
              <a:off x="791" y="2723"/>
              <a:ext cx="121" cy="12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5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54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●"/>
              <a:defRPr b="0" i="0" sz="32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indent="-3619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●"/>
              <a:defRPr b="0" i="0" sz="28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defRPr>
            </a:lvl2pPr>
            <a:lvl3pPr indent="-3429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24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5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54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5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54"/>
          <p:cNvSpPr txBox="1"/>
          <p:nvPr>
            <p:ph idx="12" type="sldNum"/>
          </p:nvPr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11" Type="http://schemas.openxmlformats.org/officeDocument/2006/relationships/image" Target="../media/image16.png"/><Relationship Id="rId10" Type="http://schemas.openxmlformats.org/officeDocument/2006/relationships/image" Target="../media/image8.png"/><Relationship Id="rId12" Type="http://schemas.openxmlformats.org/officeDocument/2006/relationships/image" Target="../media/image11.png"/><Relationship Id="rId9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Relationship Id="rId8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3.bin"/><Relationship Id="rId10" Type="http://schemas.openxmlformats.org/officeDocument/2006/relationships/oleObject" Target="../embeddings/oleObject3.bin"/><Relationship Id="rId13" Type="http://schemas.openxmlformats.org/officeDocument/2006/relationships/oleObject" Target="../embeddings/oleObject4.bin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image" Target="../media/image17.png"/><Relationship Id="rId14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8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5.bin"/><Relationship Id="rId9" Type="http://schemas.openxmlformats.org/officeDocument/2006/relationships/image" Target="../media/image17.png"/><Relationship Id="rId5" Type="http://schemas.openxmlformats.org/officeDocument/2006/relationships/oleObject" Target="../embeddings/oleObject5.bin"/><Relationship Id="rId6" Type="http://schemas.openxmlformats.org/officeDocument/2006/relationships/image" Target="../media/image18.png"/><Relationship Id="rId7" Type="http://schemas.openxmlformats.org/officeDocument/2006/relationships/oleObject" Target="../embeddings/oleObject6.bin"/><Relationship Id="rId8" Type="http://schemas.openxmlformats.org/officeDocument/2006/relationships/oleObject" Target="../embeddings/oleObject6.bin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/>
          <p:nvPr>
            <p:ph type="ctrTitle"/>
          </p:nvPr>
        </p:nvSpPr>
        <p:spPr>
          <a:xfrm>
            <a:off x="685800" y="1873250"/>
            <a:ext cx="7772400" cy="155575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Corben"/>
              <a:buNone/>
            </a:pPr>
            <a:r>
              <a:rPr b="0" i="0" lang="en-US" sz="4800" u="none">
                <a:solidFill>
                  <a:srgbClr val="FFFF00"/>
                </a:solidFill>
                <a:latin typeface="Corben"/>
                <a:ea typeface="Corben"/>
                <a:cs typeface="Corben"/>
                <a:sym typeface="Corben"/>
              </a:rPr>
              <a:t>How to find </a:t>
            </a:r>
            <a:br>
              <a:rPr b="0" i="0" lang="en-US" sz="4800" u="none">
                <a:solidFill>
                  <a:srgbClr val="FFFF00"/>
                </a:solidFill>
                <a:latin typeface="Corben"/>
                <a:ea typeface="Corben"/>
                <a:cs typeface="Corben"/>
                <a:sym typeface="Corben"/>
              </a:rPr>
            </a:br>
            <a:r>
              <a:rPr b="0" i="0" lang="en-US" sz="4800" u="none">
                <a:solidFill>
                  <a:srgbClr val="FFFF00"/>
                </a:solidFill>
                <a:latin typeface="Corben"/>
                <a:ea typeface="Corben"/>
                <a:cs typeface="Corben"/>
                <a:sym typeface="Corben"/>
              </a:rPr>
              <a:t>Classes and Objects?</a:t>
            </a:r>
            <a:endParaRPr/>
          </a:p>
        </p:txBody>
      </p:sp>
      <p:sp>
        <p:nvSpPr>
          <p:cNvPr id="111" name="Google Shape;111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12" name="Google Shape;112;p1"/>
          <p:cNvSpPr txBox="1"/>
          <p:nvPr/>
        </p:nvSpPr>
        <p:spPr>
          <a:xfrm>
            <a:off x="123825" y="6219825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>
            <p:ph type="title"/>
          </p:nvPr>
        </p:nvSpPr>
        <p:spPr>
          <a:xfrm>
            <a:off x="722312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000"/>
              <a:buFont typeface="DFKai-SB"/>
              <a:buNone/>
            </a:pPr>
            <a:r>
              <a:rPr b="1" i="0" lang="en-US" sz="4000" u="none">
                <a:solidFill>
                  <a:srgbClr val="FFC000"/>
                </a:solidFill>
                <a:latin typeface="DFKai-SB"/>
                <a:ea typeface="DFKai-SB"/>
                <a:cs typeface="DFKai-SB"/>
                <a:sym typeface="DFKai-SB"/>
              </a:rPr>
              <a:t>每年都差不多，供應商的例子大概只有 1/3 的人分析是答對的</a:t>
            </a:r>
            <a:endParaRPr/>
          </a:p>
        </p:txBody>
      </p:sp>
      <p:sp>
        <p:nvSpPr>
          <p:cNvPr id="118" name="Google Shape;118;p2"/>
          <p:cNvSpPr txBox="1"/>
          <p:nvPr>
            <p:ph idx="1" type="body"/>
          </p:nvPr>
        </p:nvSpPr>
        <p:spPr>
          <a:xfrm>
            <a:off x="722312" y="2906712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2000"/>
          </a:p>
        </p:txBody>
      </p:sp>
      <p:sp>
        <p:nvSpPr>
          <p:cNvPr id="119" name="Google Shape;119;p2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20" name="Google Shape;12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430212"/>
            <a:ext cx="3967162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887537"/>
            <a:ext cx="3838575" cy="2395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>
            <p:ph type="title"/>
          </p:nvPr>
        </p:nvSpPr>
        <p:spPr>
          <a:xfrm>
            <a:off x="722312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 cap="none"/>
          </a:p>
        </p:txBody>
      </p:sp>
      <p:sp>
        <p:nvSpPr>
          <p:cNvPr id="127" name="Google Shape;127;p3"/>
          <p:cNvSpPr txBox="1"/>
          <p:nvPr>
            <p:ph idx="1" type="body"/>
          </p:nvPr>
        </p:nvSpPr>
        <p:spPr>
          <a:xfrm>
            <a:off x="722312" y="2906712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2000"/>
          </a:p>
        </p:txBody>
      </p:sp>
      <p:sp>
        <p:nvSpPr>
          <p:cNvPr id="128" name="Google Shape;128;p3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29" name="Google Shape;1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00" y="61912"/>
            <a:ext cx="8978900" cy="6605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>
            <p:ph type="title"/>
          </p:nvPr>
        </p:nvSpPr>
        <p:spPr>
          <a:xfrm>
            <a:off x="990600" y="177800"/>
            <a:ext cx="7162800" cy="4572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Cambria"/>
              <a:buNone/>
            </a:pPr>
            <a:r>
              <a:rPr b="0" i="0" lang="en-US" sz="4400" u="sng">
                <a:solidFill>
                  <a:schemeClr val="lt2"/>
                </a:solidFill>
                <a:latin typeface="Cambria"/>
                <a:ea typeface="Cambria"/>
                <a:cs typeface="Cambria"/>
                <a:sym typeface="Cambria"/>
              </a:rPr>
              <a:t>THINGS</a:t>
            </a:r>
            <a:endParaRPr/>
          </a:p>
        </p:txBody>
      </p:sp>
      <p:sp>
        <p:nvSpPr>
          <p:cNvPr id="135" name="Google Shape;135;p4"/>
          <p:cNvSpPr txBox="1"/>
          <p:nvPr>
            <p:ph idx="1" type="body"/>
          </p:nvPr>
        </p:nvSpPr>
        <p:spPr>
          <a:xfrm>
            <a:off x="304800" y="914400"/>
            <a:ext cx="8458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An object is some </a:t>
            </a:r>
            <a:r>
              <a:rPr b="0" i="1" lang="en-US" sz="2400" u="none">
                <a:solidFill>
                  <a:srgbClr val="EF9100"/>
                </a:solidFill>
                <a:latin typeface="Cambria"/>
                <a:ea typeface="Cambria"/>
                <a:cs typeface="Cambria"/>
                <a:sym typeface="Cambria"/>
              </a:rPr>
              <a:t>Thing</a:t>
            </a:r>
            <a:r>
              <a:rPr b="0" i="0" lang="en-US" sz="24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in the world of the user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Car, Train, Elephant, Sale, Invoice, Division, Account, etc.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Physical or Conceptual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It has </a:t>
            </a:r>
            <a:r>
              <a:rPr b="0" i="1" lang="en-US" sz="2400" u="none">
                <a:solidFill>
                  <a:srgbClr val="EF9100"/>
                </a:solidFill>
                <a:latin typeface="Cambria"/>
                <a:ea typeface="Cambria"/>
                <a:cs typeface="Cambria"/>
                <a:sym typeface="Cambria"/>
              </a:rPr>
              <a:t>Attributes</a:t>
            </a:r>
            <a:r>
              <a:rPr b="0" i="1" lang="en-US" sz="24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-US" sz="24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that describe it:</a:t>
            </a:r>
            <a:endParaRPr b="0" i="0" sz="1400" u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Make, Model, Year,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Color, Weight,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Serial Number, License Number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It has </a:t>
            </a:r>
            <a:r>
              <a:rPr b="0" i="1" lang="en-US" sz="2400" u="none">
                <a:solidFill>
                  <a:srgbClr val="EF9100"/>
                </a:solidFill>
                <a:latin typeface="Cambria"/>
                <a:ea typeface="Cambria"/>
                <a:cs typeface="Cambria"/>
                <a:sym typeface="Cambria"/>
              </a:rPr>
              <a:t>Relationships</a:t>
            </a:r>
            <a:r>
              <a:rPr b="0" i="0" lang="en-US" sz="24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to other objects: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e.g., to a Person object, i.e., the Owner.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SzPts val="525"/>
              <a:buNone/>
            </a:pPr>
            <a:r>
              <a:t/>
            </a:r>
            <a:endParaRPr b="0" i="0" sz="700" u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It has </a:t>
            </a:r>
            <a:r>
              <a:rPr b="0" i="1" lang="en-US" sz="2400" u="none">
                <a:solidFill>
                  <a:srgbClr val="EF9100"/>
                </a:solidFill>
                <a:latin typeface="Cambria"/>
                <a:ea typeface="Cambria"/>
                <a:cs typeface="Cambria"/>
                <a:sym typeface="Cambria"/>
              </a:rPr>
              <a:t>Behavior</a:t>
            </a:r>
            <a:r>
              <a:rPr b="0" i="1" lang="en-US" sz="24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-US" sz="24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that it can </a:t>
            </a:r>
            <a:r>
              <a:rPr b="0" i="1" lang="en-US" sz="24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do</a:t>
            </a:r>
            <a:r>
              <a:rPr b="0" i="0" lang="en-US" sz="24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 b="0" i="1" sz="2400" u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Create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Change Color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Change Owner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Destroy Itself (Suicide?)</a:t>
            </a:r>
            <a:endParaRPr/>
          </a:p>
        </p:txBody>
      </p:sp>
      <p:cxnSp>
        <p:nvCxnSpPr>
          <p:cNvPr id="136" name="Google Shape;136;p4"/>
          <p:cNvCxnSpPr/>
          <p:nvPr/>
        </p:nvCxnSpPr>
        <p:spPr>
          <a:xfrm>
            <a:off x="0" y="4572000"/>
            <a:ext cx="90551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7" name="Google Shape;137;p4"/>
          <p:cNvSpPr txBox="1"/>
          <p:nvPr/>
        </p:nvSpPr>
        <p:spPr>
          <a:xfrm>
            <a:off x="7224712" y="2881312"/>
            <a:ext cx="1768475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7148512" y="5319712"/>
            <a:ext cx="18923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endParaRPr/>
          </a:p>
        </p:txBody>
      </p:sp>
    </p:spTree>
  </p:cSld>
  <p:clrMapOvr>
    <a:masterClrMapping/>
  </p:clrMapOvr>
  <p:transition spd="slow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/>
          <p:nvPr>
            <p:ph type="title"/>
          </p:nvPr>
        </p:nvSpPr>
        <p:spPr>
          <a:xfrm>
            <a:off x="762000" y="1524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9.1. The Importance of This Step. </a:t>
            </a:r>
            <a:b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b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4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Jacobson’s Three Types</a:t>
            </a:r>
            <a:endParaRPr/>
          </a:p>
        </p:txBody>
      </p:sp>
      <p:sp>
        <p:nvSpPr>
          <p:cNvPr id="144" name="Google Shape;144;p5"/>
          <p:cNvSpPr txBox="1"/>
          <p:nvPr>
            <p:ph idx="1" type="body"/>
          </p:nvPr>
        </p:nvSpPr>
        <p:spPr>
          <a:xfrm>
            <a:off x="95250" y="2057400"/>
            <a:ext cx="9067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1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Entity Objects 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- things in the users</a:t>
            </a: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’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real world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●"/>
            </a:pPr>
            <a:r>
              <a:rPr b="0" i="1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Concrete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objects - Employee, Product, Tool, etc.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●"/>
            </a:pPr>
            <a:r>
              <a:rPr b="0" i="1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Conceptual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objects - Corporation, strategy, 					    membership, approval, etc.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●"/>
            </a:pPr>
            <a:r>
              <a:rPr b="0" i="1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Event and State 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objects - Purchase, delivery, 				    arrival, ownership, status, etc.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1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Interface Objects 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- 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To encapsulate the details of 		GUIs, communication protocols, and the like.</a:t>
            </a:r>
            <a:endParaRPr b="0" i="0" sz="24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1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Control Objects 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- 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To carry complex methods that don</a:t>
            </a:r>
            <a:r>
              <a:rPr b="0" i="0" lang="en-US" sz="20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’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 have a class they obviously belong in.</a:t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1835150" y="0"/>
            <a:ext cx="4940300" cy="6553200"/>
          </a:xfrm>
          <a:prstGeom prst="triangle">
            <a:avLst>
              <a:gd fmla="val 51806" name="adj"/>
            </a:avLst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>
            <p:ph type="title"/>
          </p:nvPr>
        </p:nvSpPr>
        <p:spPr>
          <a:xfrm>
            <a:off x="304800" y="0"/>
            <a:ext cx="8534400" cy="1905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3600"/>
              <a:buFont typeface="Noto Sans Symbols"/>
              <a:buNone/>
            </a:pPr>
            <a: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1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2400" u="none">
                <a:solidFill>
                  <a:schemeClr val="lt2"/>
                </a:solidFill>
                <a:latin typeface="Cambria"/>
                <a:ea typeface="Cambria"/>
                <a:cs typeface="Cambria"/>
                <a:sym typeface="Cambria"/>
              </a:rPr>
              <a:t>5.1. Real-World vs Data-World Objects</a:t>
            </a:r>
            <a:br>
              <a:rPr b="0" i="0" lang="en-US" sz="2400" u="none">
                <a:solidFill>
                  <a:schemeClr val="lt2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400" u="none">
                <a:solidFill>
                  <a:schemeClr val="lt2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b="0" i="0" lang="en-US" sz="3600" u="none">
                <a:solidFill>
                  <a:schemeClr val="lt2"/>
                </a:solidFill>
                <a:latin typeface="Cambria"/>
                <a:ea typeface="Cambria"/>
                <a:cs typeface="Cambria"/>
                <a:sym typeface="Cambria"/>
              </a:rPr>
              <a:t>Jacobson’s Three Types </a:t>
            </a:r>
            <a:br>
              <a:rPr b="0" i="0" lang="en-US" sz="20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000" u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1" lang="en-US" sz="2800" u="sng">
                <a:solidFill>
                  <a:srgbClr val="7FFF00"/>
                </a:solidFill>
                <a:latin typeface="Cambria"/>
                <a:ea typeface="Cambria"/>
                <a:cs typeface="Cambria"/>
                <a:sym typeface="Cambria"/>
              </a:rPr>
              <a:t>Interface Objects</a:t>
            </a:r>
            <a:r>
              <a:rPr b="0" i="1" lang="en-US" sz="2800" u="none">
                <a:solidFill>
                  <a:srgbClr val="7FFF00"/>
                </a:solidFill>
                <a:latin typeface="Cambria"/>
                <a:ea typeface="Cambria"/>
                <a:cs typeface="Cambria"/>
                <a:sym typeface="Cambria"/>
              </a:rPr>
              <a:t>,</a:t>
            </a:r>
            <a:r>
              <a:rPr b="0" i="0" lang="en-US" sz="2800" u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-US" sz="2800" u="sng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Advantages: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3522662" y="2119312"/>
            <a:ext cx="162242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Interfaces</a:t>
            </a:r>
            <a:endParaRPr/>
          </a:p>
        </p:txBody>
      </p:sp>
      <p:cxnSp>
        <p:nvCxnSpPr>
          <p:cNvPr id="153" name="Google Shape;153;p6"/>
          <p:cNvCxnSpPr/>
          <p:nvPr/>
        </p:nvCxnSpPr>
        <p:spPr>
          <a:xfrm>
            <a:off x="3270250" y="3048000"/>
            <a:ext cx="20701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4" name="Google Shape;154;p6"/>
          <p:cNvSpPr txBox="1"/>
          <p:nvPr/>
        </p:nvSpPr>
        <p:spPr>
          <a:xfrm>
            <a:off x="3643312" y="3109912"/>
            <a:ext cx="1347787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Outputs</a:t>
            </a:r>
            <a:endParaRPr/>
          </a:p>
        </p:txBody>
      </p:sp>
      <p:cxnSp>
        <p:nvCxnSpPr>
          <p:cNvPr id="155" name="Google Shape;155;p6"/>
          <p:cNvCxnSpPr/>
          <p:nvPr/>
        </p:nvCxnSpPr>
        <p:spPr>
          <a:xfrm>
            <a:off x="3040062" y="3657600"/>
            <a:ext cx="2538412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6" name="Google Shape;156;p6"/>
          <p:cNvSpPr txBox="1"/>
          <p:nvPr/>
        </p:nvSpPr>
        <p:spPr>
          <a:xfrm>
            <a:off x="3262312" y="3795712"/>
            <a:ext cx="2216150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User Interface</a:t>
            </a:r>
            <a:endParaRPr/>
          </a:p>
        </p:txBody>
      </p:sp>
      <p:cxnSp>
        <p:nvCxnSpPr>
          <p:cNvPr id="157" name="Google Shape;157;p6"/>
          <p:cNvCxnSpPr/>
          <p:nvPr/>
        </p:nvCxnSpPr>
        <p:spPr>
          <a:xfrm>
            <a:off x="2773362" y="4343400"/>
            <a:ext cx="3063875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8" name="Google Shape;158;p6"/>
          <p:cNvSpPr txBox="1"/>
          <p:nvPr/>
        </p:nvSpPr>
        <p:spPr>
          <a:xfrm>
            <a:off x="3033712" y="4557712"/>
            <a:ext cx="25177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Object Behavior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2843212" y="5121275"/>
            <a:ext cx="3070225" cy="51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Object Attributes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2538412" y="5861050"/>
            <a:ext cx="3824287" cy="698500"/>
          </a:xfrm>
          <a:prstGeom prst="rect">
            <a:avLst/>
          </a:prstGeom>
          <a:noFill/>
          <a:ln>
            <a:noFill/>
          </a:ln>
          <a:effectLst>
            <a:outerShdw blurRad="63500" dir="2700000" dist="71842">
              <a:schemeClr val="lt1"/>
            </a:outerShdw>
          </a:effectLst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00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Object Classes</a:t>
            </a:r>
            <a:endParaRPr/>
          </a:p>
        </p:txBody>
      </p:sp>
      <p:cxnSp>
        <p:nvCxnSpPr>
          <p:cNvPr id="161" name="Google Shape;161;p6"/>
          <p:cNvCxnSpPr/>
          <p:nvPr/>
        </p:nvCxnSpPr>
        <p:spPr>
          <a:xfrm>
            <a:off x="2479675" y="5105400"/>
            <a:ext cx="3648075" cy="3175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2" name="Google Shape;162;p6"/>
          <p:cNvCxnSpPr/>
          <p:nvPr/>
        </p:nvCxnSpPr>
        <p:spPr>
          <a:xfrm>
            <a:off x="2249487" y="5715000"/>
            <a:ext cx="4111625" cy="3175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 txBox="1"/>
          <p:nvPr>
            <p:ph type="title"/>
          </p:nvPr>
        </p:nvSpPr>
        <p:spPr>
          <a:xfrm>
            <a:off x="381000" y="0"/>
            <a:ext cx="8229600" cy="103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The KRB Seven-Step Method </a:t>
            </a:r>
            <a:endParaRPr/>
          </a:p>
        </p:txBody>
      </p:sp>
      <p:sp>
        <p:nvSpPr>
          <p:cNvPr id="168" name="Google Shape;168;p7"/>
          <p:cNvSpPr txBox="1"/>
          <p:nvPr>
            <p:ph idx="1" type="body"/>
          </p:nvPr>
        </p:nvSpPr>
        <p:spPr>
          <a:xfrm>
            <a:off x="381000" y="1036637"/>
            <a:ext cx="90678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Step 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1" i="0" lang="en-US" sz="18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Candidate Classes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●"/>
            </a:pP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Several ways to  find </a:t>
            </a:r>
            <a:r>
              <a:rPr b="0" i="1" lang="en-US" sz="20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nouns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that might turn out to be names of classes that matter to your project.</a:t>
            </a:r>
            <a:endParaRPr b="0" i="0" sz="24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Step 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❷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1" i="0" lang="en-US" sz="18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Define Classes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●"/>
            </a:pP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Here we check for the meaning the </a:t>
            </a:r>
            <a:r>
              <a:rPr b="0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users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attach to each noun, and decide whether it is important </a:t>
            </a:r>
            <a:r>
              <a:rPr b="0" i="1" lang="en-US" sz="20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for this project.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Step 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❸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1" i="0" lang="en-US" sz="18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Establish Associations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●"/>
            </a:pP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Checking how these things interact gives us a picture of the pathways that exist throughout the data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Step 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❹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1" i="0" lang="en-US" sz="18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Expand Many-to-Many Associations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●"/>
            </a:pP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An essential step that generates much discussion and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		</a:t>
            </a:r>
            <a:r>
              <a:rPr b="0" i="0" lang="en-US" sz="20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more classes.</a:t>
            </a:r>
            <a:endParaRPr b="0" i="0" sz="16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266700" lvl="0" marL="342900" rtl="0" algn="l">
              <a:spcBef>
                <a:spcPts val="32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16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169" name="Google Shape;1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0275" y="2063750"/>
            <a:ext cx="1679575" cy="696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1475" y="2063750"/>
            <a:ext cx="858837" cy="51911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>
            <p:ph type="title"/>
          </p:nvPr>
        </p:nvSpPr>
        <p:spPr>
          <a:xfrm>
            <a:off x="457200" y="381000"/>
            <a:ext cx="8229600" cy="103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 </a:t>
            </a:r>
            <a:b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</a:b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Overview</a:t>
            </a:r>
            <a:endParaRPr/>
          </a:p>
        </p:txBody>
      </p:sp>
      <p:sp>
        <p:nvSpPr>
          <p:cNvPr id="177" name="Google Shape;177;p8"/>
          <p:cNvSpPr txBox="1"/>
          <p:nvPr>
            <p:ph idx="1" type="body"/>
          </p:nvPr>
        </p:nvSpPr>
        <p:spPr>
          <a:xfrm>
            <a:off x="228600" y="1417637"/>
            <a:ext cx="90678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Step </a:t>
            </a:r>
            <a:r>
              <a:rPr b="0" i="0" lang="en-US" sz="32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❺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1" i="0" lang="en-US" sz="20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Attributes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We list out all the data fields the users need to keep </a:t>
            </a:r>
            <a:r>
              <a:rPr b="0" i="1" lang="en-US" sz="28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about</a:t>
            </a: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each </a:t>
            </a:r>
            <a:r>
              <a:rPr b="0" i="1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thing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(i.e., </a:t>
            </a:r>
            <a:r>
              <a:rPr b="0" i="1" lang="en-US" sz="28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about</a:t>
            </a: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each type of entity).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Step </a:t>
            </a:r>
            <a:r>
              <a:rPr b="0" i="0" lang="en-US" sz="32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1" i="0" lang="en-US" sz="20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Normalization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 technical consideration, with a different relevance in the object paradigm.  This step is done behind closed doors without the users.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Step </a:t>
            </a:r>
            <a:r>
              <a:rPr b="0" i="0" lang="en-US" sz="32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❼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1" i="0" lang="en-US" sz="20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Operations (i.e., Behavior)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This is the additional step that distinguishes objects from entities and earlier models.  This part is the subject of Chapters 10 and 11.</a:t>
            </a:r>
            <a:endParaRPr/>
          </a:p>
        </p:txBody>
      </p:sp>
      <p:sp>
        <p:nvSpPr>
          <p:cNvPr id="178" name="Google Shape;178;p8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/>
          <p:nvPr>
            <p:ph type="title"/>
          </p:nvPr>
        </p:nvSpPr>
        <p:spPr>
          <a:xfrm>
            <a:off x="695325" y="5080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Candidate Classes</a:t>
            </a:r>
            <a:endParaRPr/>
          </a:p>
        </p:txBody>
      </p:sp>
      <p:sp>
        <p:nvSpPr>
          <p:cNvPr id="184" name="Google Shape;184;p9"/>
          <p:cNvSpPr txBox="1"/>
          <p:nvPr>
            <p:ph idx="1" type="body"/>
          </p:nvPr>
        </p:nvSpPr>
        <p:spPr>
          <a:xfrm>
            <a:off x="457200" y="1800225"/>
            <a:ext cx="8229600" cy="373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Definition: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1" i="0" lang="en-US" sz="2400" u="none">
                <a:solidFill>
                  <a:srgbClr val="92D050"/>
                </a:solidFill>
                <a:latin typeface="DFKai-SB"/>
                <a:ea typeface="DFKai-SB"/>
                <a:cs typeface="DFKai-SB"/>
                <a:sym typeface="DFKai-SB"/>
              </a:rPr>
              <a:t>Candidate Classes: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0" sz="2400" u="none">
              <a:solidFill>
                <a:srgbClr val="FE9B0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1800"/>
              <a:buNone/>
            </a:pPr>
            <a:r>
              <a:rPr b="1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Nouns that are possible class names, being considered for inclusion in the project</a:t>
            </a:r>
            <a:r>
              <a:rPr b="0" i="0" lang="en-US" sz="36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.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2700"/>
              <a:buNone/>
            </a:pPr>
            <a:r>
              <a:rPr b="0" i="0" lang="en-US" sz="36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Just find all the names!</a:t>
            </a:r>
            <a:endParaRPr/>
          </a:p>
        </p:txBody>
      </p:sp>
      <p:pic>
        <p:nvPicPr>
          <p:cNvPr id="185" name="Google Shape;1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9875" y="4079875"/>
            <a:ext cx="39401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012" y="4794250"/>
            <a:ext cx="7216775" cy="13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43312" y="5365750"/>
            <a:ext cx="1876425" cy="15398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DFKai-SB"/>
              <a:buNone/>
            </a:pPr>
            <a:r>
              <a:rPr b="0" i="0" lang="en-US" sz="4400" u="non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rPr>
              <a:t>The sources of entity objects</a:t>
            </a:r>
            <a:endParaRPr/>
          </a:p>
        </p:txBody>
      </p:sp>
      <p:sp>
        <p:nvSpPr>
          <p:cNvPr id="194" name="Google Shape;194;p10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Noto Sans Symbols"/>
              <a:buChar char="●"/>
            </a:pPr>
            <a:r>
              <a:rPr b="0" i="0" lang="en-US" sz="4000" u="sng">
                <a:solidFill>
                  <a:srgbClr val="7FFF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1.   Client Interviews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hlink"/>
              </a:buClr>
              <a:buSzPts val="2550"/>
              <a:buFont typeface="Noto Sans Symbols"/>
              <a:buChar char="●"/>
            </a:pPr>
            <a:r>
              <a:rPr b="0" i="0" lang="en-US" sz="3400" u="sng">
                <a:solidFill>
                  <a:srgbClr val="7FFF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2.   Nouns from the Documentation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Noto Sans Symbols"/>
              <a:buChar char="●"/>
            </a:pPr>
            <a:r>
              <a:rPr b="0" i="0" lang="en-US" sz="4000" u="sng">
                <a:solidFill>
                  <a:srgbClr val="7FFF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3.    Brainstorming</a:t>
            </a: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DFKai-SB"/>
              <a:buNone/>
            </a:pPr>
            <a:r>
              <a:rPr b="0" i="0" lang="en-US" sz="4400" u="non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rPr>
              <a:t>The sources of interface objects</a:t>
            </a:r>
            <a:endParaRPr/>
          </a:p>
        </p:txBody>
      </p:sp>
      <p:sp>
        <p:nvSpPr>
          <p:cNvPr id="201" name="Google Shape;201;p11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●"/>
            </a:pPr>
            <a:r>
              <a:rPr b="0" i="0" lang="en-US" sz="2800" u="sng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User Interfaces:</a:t>
            </a:r>
            <a:endParaRPr b="0" i="0" sz="28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Your classes will be defined by your GUI tool.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●"/>
            </a:pPr>
            <a:r>
              <a:rPr b="0" i="0" lang="en-US" sz="2800" u="sng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Data Communications Interfaces: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If you buy a communications class library, your classes are already defined for you.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The published comm protocol should be filed with or referred from your project documentation.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●"/>
            </a:pPr>
            <a:r>
              <a:rPr b="0" i="0" lang="en-US" sz="2800" u="sng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Real-world systems to control or monitor: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Industrial Processes, etc.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Define a single-instance class to represent the external system.</a:t>
            </a:r>
            <a:endParaRPr/>
          </a:p>
          <a:p>
            <a:pPr indent="-228600" lvl="0" marL="342900" rtl="0" algn="l"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0962" y="1160462"/>
            <a:ext cx="341312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4512" y="1222375"/>
            <a:ext cx="671512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2387" y="1133475"/>
            <a:ext cx="536575" cy="322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2525" y="1409700"/>
            <a:ext cx="11176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062" y="1624012"/>
            <a:ext cx="1162050" cy="2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05537" y="1874837"/>
            <a:ext cx="1465262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6212" y="2446337"/>
            <a:ext cx="242887" cy="22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29437" y="2392362"/>
            <a:ext cx="866775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91287" y="2767012"/>
            <a:ext cx="215900" cy="163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919912" y="2714625"/>
            <a:ext cx="733425" cy="1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1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/>
          <p:nvPr>
            <p:ph idx="1" type="body"/>
          </p:nvPr>
        </p:nvSpPr>
        <p:spPr>
          <a:xfrm>
            <a:off x="457200" y="1752600"/>
            <a:ext cx="8229600" cy="39973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Rosarivo"/>
                <a:ea typeface="Rosarivo"/>
                <a:cs typeface="Rosarivo"/>
                <a:sym typeface="Rosarivo"/>
              </a:rPr>
              <a:t>Will mostly be discovered in the Design Phase of the OODLC.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Rosarivo"/>
              <a:ea typeface="Rosarivo"/>
              <a:cs typeface="Rosarivo"/>
              <a:sym typeface="Rosarivo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Rosarivo"/>
                <a:ea typeface="Rosarivo"/>
                <a:cs typeface="Rosarivo"/>
                <a:sym typeface="Rosarivo"/>
              </a:rPr>
              <a:t>As with anything else, if the topic arises earlier during the Analysis Phase,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Rosarivo"/>
                <a:ea typeface="Rosarivo"/>
                <a:cs typeface="Rosarivo"/>
                <a:sym typeface="Rosarivo"/>
              </a:rPr>
              <a:t>Use you judgement;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Rosarivo"/>
                <a:ea typeface="Rosarivo"/>
                <a:cs typeface="Rosarivo"/>
                <a:sym typeface="Rosarivo"/>
              </a:rPr>
              <a:t>Either do it now, or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Rosarivo"/>
                <a:ea typeface="Rosarivo"/>
                <a:cs typeface="Rosarivo"/>
                <a:sym typeface="Rosarivo"/>
              </a:rPr>
              <a:t>Make serious notes to </a:t>
            </a:r>
            <a:r>
              <a:rPr b="0" i="0" lang="en-US" sz="2800" u="none">
                <a:solidFill>
                  <a:srgbClr val="FE9B03"/>
                </a:solidFill>
                <a:latin typeface="Rosarivo"/>
                <a:ea typeface="Rosarivo"/>
                <a:cs typeface="Rosarivo"/>
                <a:sym typeface="Rosarivo"/>
              </a:rPr>
              <a:t>ensure</a:t>
            </a:r>
            <a:r>
              <a:rPr b="0" i="0" lang="en-US" sz="2800" u="none">
                <a:solidFill>
                  <a:schemeClr val="lt1"/>
                </a:solidFill>
                <a:latin typeface="Rosarivo"/>
                <a:ea typeface="Rosarivo"/>
                <a:cs typeface="Rosarivo"/>
                <a:sym typeface="Rosarivo"/>
              </a:rPr>
              <a:t> </a:t>
            </a:r>
            <a:r>
              <a:rPr b="0" i="0" lang="en-US" sz="2400" u="none">
                <a:solidFill>
                  <a:schemeClr val="lt1"/>
                </a:solidFill>
                <a:latin typeface="Rosarivo"/>
                <a:ea typeface="Rosarivo"/>
                <a:cs typeface="Rosarivo"/>
                <a:sym typeface="Rosarivo"/>
              </a:rPr>
              <a:t>it gets done later.  </a:t>
            </a:r>
            <a:r>
              <a:rPr b="0" i="1" lang="en-US" sz="2400" u="none">
                <a:solidFill>
                  <a:schemeClr val="lt1"/>
                </a:solidFill>
                <a:latin typeface="Rosarivo"/>
                <a:ea typeface="Rosarivo"/>
                <a:cs typeface="Rosarivo"/>
                <a:sym typeface="Rosarivo"/>
              </a:rPr>
              <a:t>(Don’t ever miss it!)</a:t>
            </a:r>
            <a:endParaRPr/>
          </a:p>
        </p:txBody>
      </p:sp>
      <p:sp>
        <p:nvSpPr>
          <p:cNvPr id="218" name="Google Shape;218;p1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DFKai-SB"/>
              <a:buNone/>
            </a:pPr>
            <a:r>
              <a:rPr b="0" i="0" lang="en-US" sz="4400" u="non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rPr>
              <a:t>Control classes</a:t>
            </a:r>
            <a:endParaRPr/>
          </a:p>
        </p:txBody>
      </p:sp>
      <p:sp>
        <p:nvSpPr>
          <p:cNvPr id="219" name="Google Shape;219;p12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 txBox="1"/>
          <p:nvPr>
            <p:ph type="title"/>
          </p:nvPr>
        </p:nvSpPr>
        <p:spPr>
          <a:xfrm>
            <a:off x="685800" y="762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2800"/>
              <a:buFont typeface="DFKai-SB"/>
              <a:buNone/>
            </a:pPr>
            <a:r>
              <a:rPr b="0" i="0" lang="en-US" sz="28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28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</a:br>
            <a:r>
              <a:rPr b="0" i="0" lang="en-US" sz="28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❷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28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Define Classes</a:t>
            </a:r>
            <a:endParaRPr/>
          </a:p>
        </p:txBody>
      </p:sp>
      <p:sp>
        <p:nvSpPr>
          <p:cNvPr id="225" name="Google Shape;225;p13"/>
          <p:cNvSpPr txBox="1"/>
          <p:nvPr>
            <p:ph idx="1" type="body"/>
          </p:nvPr>
        </p:nvSpPr>
        <p:spPr>
          <a:xfrm>
            <a:off x="152400" y="27432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 Real-World </a:t>
            </a:r>
            <a:r>
              <a:rPr b="0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Identifier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(</a:t>
            </a: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How do I tell one . . . from another?</a:t>
            </a: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)</a:t>
            </a:r>
            <a:endParaRPr/>
          </a:p>
          <a:p>
            <a:pPr indent="-228600" lvl="4" marL="20574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16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A </a:t>
            </a:r>
            <a:r>
              <a:rPr b="0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Definition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(</a:t>
            </a: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What is a . . . ?</a:t>
            </a: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)</a:t>
            </a:r>
            <a:endParaRPr/>
          </a:p>
          <a:p>
            <a:pPr indent="-228600" lvl="4" marL="20574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16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Sample </a:t>
            </a:r>
            <a:r>
              <a:rPr b="0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Attributes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and </a:t>
            </a:r>
            <a:r>
              <a:rPr b="0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Behaviors</a:t>
            </a:r>
            <a:endParaRPr b="0" i="0" sz="24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(</a:t>
            </a: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What might I need to know </a:t>
            </a:r>
            <a:r>
              <a:rPr b="0" i="1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about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a . . .?</a:t>
            </a: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or </a:t>
            </a: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What can happen to a . . .?</a:t>
            </a: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)</a:t>
            </a:r>
            <a:endParaRPr/>
          </a:p>
        </p:txBody>
      </p:sp>
      <p:sp>
        <p:nvSpPr>
          <p:cNvPr id="226" name="Google Shape;226;p13"/>
          <p:cNvSpPr txBox="1"/>
          <p:nvPr/>
        </p:nvSpPr>
        <p:spPr>
          <a:xfrm>
            <a:off x="519112" y="1692275"/>
            <a:ext cx="7035800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i="0" lang="en-US" sz="28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Each Candidate Class must undergo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i="0" lang="en-US" sz="28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three checks:</a:t>
            </a:r>
            <a:endParaRPr/>
          </a:p>
        </p:txBody>
      </p:sp>
      <p:sp>
        <p:nvSpPr>
          <p:cNvPr id="227" name="Google Shape;227;p13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"/>
          <p:cNvSpPr txBox="1"/>
          <p:nvPr>
            <p:ph type="title"/>
          </p:nvPr>
        </p:nvSpPr>
        <p:spPr>
          <a:xfrm>
            <a:off x="723900" y="358775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</a:b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❷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Define Classes</a:t>
            </a:r>
            <a:endParaRPr/>
          </a:p>
        </p:txBody>
      </p:sp>
      <p:sp>
        <p:nvSpPr>
          <p:cNvPr id="233" name="Google Shape;233;p14"/>
          <p:cNvSpPr txBox="1"/>
          <p:nvPr>
            <p:ph idx="1" type="body"/>
          </p:nvPr>
        </p:nvSpPr>
        <p:spPr>
          <a:xfrm>
            <a:off x="152400" y="2133600"/>
            <a:ext cx="8915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Objects have </a:t>
            </a:r>
            <a:r>
              <a:rPr b="0" i="1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Identity,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So they are distinct from each other,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And there is usually some way to </a:t>
            </a:r>
            <a:r>
              <a:rPr b="0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tell them apart.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How do we tell one </a:t>
            </a:r>
            <a:r>
              <a:rPr b="0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Student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from another?</a:t>
            </a:r>
            <a:endParaRPr b="0" i="0" sz="4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228600" lvl="4" marL="205740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0" i="0" sz="4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		- Different names 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- won</a:t>
            </a: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’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 do, not unique.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		-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Also, names and such are too sensitive to errors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Punctuation and case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Spelling and spacing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		- Different faces 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- scanning technology not yet 	  				good enough</a:t>
            </a:r>
            <a:endParaRPr/>
          </a:p>
        </p:txBody>
      </p:sp>
      <p:sp>
        <p:nvSpPr>
          <p:cNvPr id="234" name="Google Shape;234;p14"/>
          <p:cNvSpPr txBox="1"/>
          <p:nvPr/>
        </p:nvSpPr>
        <p:spPr>
          <a:xfrm>
            <a:off x="190500" y="1466850"/>
            <a:ext cx="87534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00"/>
              </a:buClr>
              <a:buSzPts val="3600"/>
              <a:buFont typeface="Century Schoolbook"/>
              <a:buNone/>
            </a:pPr>
            <a:r>
              <a:rPr b="1" i="0" lang="en-US" sz="3600" u="sng">
                <a:solidFill>
                  <a:srgbClr val="7FFF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Question 1:  A Real-World Identifier</a:t>
            </a:r>
            <a:endParaRPr/>
          </a:p>
        </p:txBody>
      </p:sp>
      <p:sp>
        <p:nvSpPr>
          <p:cNvPr id="235" name="Google Shape;235;p14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 txBox="1"/>
          <p:nvPr>
            <p:ph type="title"/>
          </p:nvPr>
        </p:nvSpPr>
        <p:spPr>
          <a:xfrm>
            <a:off x="685800" y="346075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</a:b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❷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Define Classes</a:t>
            </a:r>
            <a:endParaRPr/>
          </a:p>
        </p:txBody>
      </p:sp>
      <p:sp>
        <p:nvSpPr>
          <p:cNvPr id="241" name="Google Shape;241;p15"/>
          <p:cNvSpPr txBox="1"/>
          <p:nvPr>
            <p:ph idx="1" type="body"/>
          </p:nvPr>
        </p:nvSpPr>
        <p:spPr>
          <a:xfrm>
            <a:off x="825500" y="27813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Student No.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Customer No.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Account No.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Licence No.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Serial No.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Product Code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Category Code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Vendor ID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Employee No.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288925" y="1395412"/>
            <a:ext cx="8753475" cy="13525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00"/>
              </a:buClr>
              <a:buSzPts val="3600"/>
              <a:buFont typeface="Century Schoolbook"/>
              <a:buNone/>
            </a:pPr>
            <a:r>
              <a:rPr b="1" i="0" lang="en-US" sz="3600" u="sng">
                <a:solidFill>
                  <a:srgbClr val="7FFF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Question 1:  A Real-World Identifier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r>
              <a:t/>
            </a:r>
            <a:endParaRPr b="1" i="0" sz="600" u="none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9100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Some Examples of Identifiers:</a:t>
            </a:r>
            <a:endParaRPr/>
          </a:p>
        </p:txBody>
      </p:sp>
      <p:sp>
        <p:nvSpPr>
          <p:cNvPr id="243" name="Google Shape;243;p15"/>
          <p:cNvSpPr txBox="1"/>
          <p:nvPr/>
        </p:nvSpPr>
        <p:spPr>
          <a:xfrm>
            <a:off x="4394200" y="2819400"/>
            <a:ext cx="46482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1710"/>
              <a:buFont typeface="Arial"/>
              <a:buChar char="●"/>
            </a:pPr>
            <a:r>
              <a:rPr b="1" i="0" lang="en-US" sz="18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Building ID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AFD00"/>
              </a:buClr>
              <a:buSzPts val="1710"/>
              <a:buFont typeface="Arial"/>
              <a:buChar char="●"/>
            </a:pPr>
            <a:r>
              <a:rPr b="1" i="0" lang="en-US" sz="18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Street Name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AFD00"/>
              </a:buClr>
              <a:buSzPts val="1710"/>
              <a:buFont typeface="Arial"/>
              <a:buChar char="●"/>
            </a:pPr>
            <a:r>
              <a:rPr b="1" i="0" lang="en-US" sz="18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City Name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AFD00"/>
              </a:buClr>
              <a:buSzPts val="1710"/>
              <a:buFont typeface="Arial"/>
              <a:buChar char="●"/>
            </a:pPr>
            <a:r>
              <a:rPr b="1" i="0" lang="en-US" sz="18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State/Province ID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AFD00"/>
              </a:buClr>
              <a:buSzPts val="1710"/>
              <a:buFont typeface="Arial"/>
              <a:buChar char="●"/>
            </a:pPr>
            <a:r>
              <a:rPr b="1" i="0" lang="en-US" sz="18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Vehicle ID  No. (VIN)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AFD00"/>
              </a:buClr>
              <a:buSzPts val="1710"/>
              <a:buFont typeface="Arial"/>
              <a:buChar char="●"/>
            </a:pPr>
            <a:r>
              <a:rPr b="1" i="0" lang="en-US" sz="18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Inventory No.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AFD00"/>
              </a:buClr>
              <a:buSzPts val="1710"/>
              <a:buFont typeface="Arial"/>
              <a:buChar char="●"/>
            </a:pPr>
            <a:r>
              <a:rPr b="1" i="0" lang="en-US" sz="18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Room No.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AFD00"/>
              </a:buClr>
              <a:buSzPts val="1710"/>
              <a:buFont typeface="Arial"/>
              <a:buChar char="●"/>
            </a:pPr>
            <a:r>
              <a:rPr b="1" i="0" lang="en-US" sz="18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Legal Description (Land)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AFD00"/>
              </a:buClr>
              <a:buSzPts val="1710"/>
              <a:buFont typeface="Arial"/>
              <a:buChar char="●"/>
            </a:pPr>
            <a:r>
              <a:rPr b="1" i="0" lang="en-US" sz="18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Policy No.</a:t>
            </a:r>
            <a:endParaRPr/>
          </a:p>
        </p:txBody>
      </p:sp>
      <p:sp>
        <p:nvSpPr>
          <p:cNvPr id="244" name="Google Shape;244;p15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"/>
          <p:cNvSpPr txBox="1"/>
          <p:nvPr>
            <p:ph type="title"/>
          </p:nvPr>
        </p:nvSpPr>
        <p:spPr>
          <a:xfrm>
            <a:off x="685800" y="76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</a:b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❷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Define Classes</a:t>
            </a:r>
            <a:endParaRPr/>
          </a:p>
        </p:txBody>
      </p:sp>
      <p:sp>
        <p:nvSpPr>
          <p:cNvPr id="250" name="Google Shape;250;p16"/>
          <p:cNvSpPr txBox="1"/>
          <p:nvPr>
            <p:ph idx="1" type="body"/>
          </p:nvPr>
        </p:nvSpPr>
        <p:spPr>
          <a:xfrm>
            <a:off x="266700" y="2032000"/>
            <a:ext cx="8915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Rosarivo"/>
                <a:ea typeface="Rosarivo"/>
                <a:cs typeface="Rosarivo"/>
                <a:sym typeface="Rosarivo"/>
              </a:rPr>
              <a:t>So we try to find a unique identifier for our Candidate Class.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Rosarivo"/>
                <a:ea typeface="Rosarivo"/>
                <a:cs typeface="Rosarivo"/>
                <a:sym typeface="Rosarivo"/>
              </a:rPr>
              <a:t>If we can’t, then it’s definitely not a class.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Rosarivo"/>
                <a:ea typeface="Rosarivo"/>
                <a:cs typeface="Rosarivo"/>
                <a:sym typeface="Rosarivo"/>
              </a:rPr>
              <a:t>If we eventually do find one, then we move on to the next test,</a:t>
            </a:r>
            <a:endParaRPr/>
          </a:p>
          <a:p>
            <a:pPr indent="-342900" lvl="0" marL="34290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000"/>
              <a:buNone/>
            </a:pPr>
            <a:r>
              <a:rPr b="0" i="0" lang="en-US" sz="4000" u="none">
                <a:solidFill>
                  <a:srgbClr val="FE9B03"/>
                </a:solidFill>
                <a:latin typeface="Rosarivo"/>
                <a:ea typeface="Rosarivo"/>
                <a:cs typeface="Rosarivo"/>
                <a:sym typeface="Rosarivo"/>
              </a:rPr>
              <a:t>Question 2: The Definition . . .</a:t>
            </a:r>
            <a:endParaRPr/>
          </a:p>
        </p:txBody>
      </p:sp>
      <p:sp>
        <p:nvSpPr>
          <p:cNvPr id="251" name="Google Shape;251;p16"/>
          <p:cNvSpPr txBox="1"/>
          <p:nvPr/>
        </p:nvSpPr>
        <p:spPr>
          <a:xfrm>
            <a:off x="309562" y="1143000"/>
            <a:ext cx="8755062" cy="64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00"/>
              </a:buClr>
              <a:buSzPts val="3600"/>
              <a:buFont typeface="Century Schoolbook"/>
              <a:buNone/>
            </a:pPr>
            <a:r>
              <a:rPr b="1" i="0" lang="en-US" sz="3600" u="sng">
                <a:solidFill>
                  <a:srgbClr val="7FFF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Question 1:  A Real-World Identifier</a:t>
            </a:r>
            <a:endParaRPr/>
          </a:p>
        </p:txBody>
      </p:sp>
      <p:sp>
        <p:nvSpPr>
          <p:cNvPr id="252" name="Google Shape;252;p16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"/>
          <p:cNvSpPr txBox="1"/>
          <p:nvPr>
            <p:ph idx="1" type="body"/>
          </p:nvPr>
        </p:nvSpPr>
        <p:spPr>
          <a:xfrm>
            <a:off x="152400" y="2133600"/>
            <a:ext cx="8915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Employee: A person who works at XYZ Widgets.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Sounds reasonable, but do we simply delete the records when (s)he quits?  Try this: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Employee: A person who works, or has worked, at XYZ Widgets.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Better, and this will work for most businesses.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But you may find a company that wants </a:t>
            </a:r>
            <a:r>
              <a:rPr b="0" i="1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prospective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employees to be kept in the database!  Try this: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Employee: A person who works, has worked, or may in the future work at XYZ Widgets.</a:t>
            </a:r>
            <a:endParaRPr/>
          </a:p>
        </p:txBody>
      </p:sp>
      <p:sp>
        <p:nvSpPr>
          <p:cNvPr id="258" name="Google Shape;258;p17"/>
          <p:cNvSpPr txBox="1"/>
          <p:nvPr>
            <p:ph type="title"/>
          </p:nvPr>
        </p:nvSpPr>
        <p:spPr>
          <a:xfrm>
            <a:off x="685800" y="76200"/>
            <a:ext cx="77724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</a:b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❷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Define Classes</a:t>
            </a:r>
            <a:b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4000" u="sng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Question 2: The Definition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"/>
          <p:cNvSpPr txBox="1"/>
          <p:nvPr>
            <p:ph type="title"/>
          </p:nvPr>
        </p:nvSpPr>
        <p:spPr>
          <a:xfrm>
            <a:off x="685800" y="1524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❸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Establish Associations</a:t>
            </a:r>
            <a:endParaRPr/>
          </a:p>
        </p:txBody>
      </p:sp>
      <p:sp>
        <p:nvSpPr>
          <p:cNvPr id="265" name="Google Shape;265;p18"/>
          <p:cNvSpPr txBox="1"/>
          <p:nvPr>
            <p:ph idx="1" type="body"/>
          </p:nvPr>
        </p:nvSpPr>
        <p:spPr>
          <a:xfrm>
            <a:off x="469900" y="1219200"/>
            <a:ext cx="8229600" cy="427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32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Here we ask the questions:</a:t>
            </a:r>
            <a:endParaRPr b="0" i="0" sz="28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What does a Student </a:t>
            </a:r>
            <a:r>
              <a:rPr b="0" i="1" lang="en-US" sz="36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DO</a:t>
            </a:r>
            <a:r>
              <a:rPr b="0" i="0" lang="en-US" sz="36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to a Course?</a:t>
            </a:r>
            <a:r>
              <a:rPr b="0" i="0" lang="en-US" sz="28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●"/>
            </a:pPr>
            <a:r>
              <a:rPr b="0" i="1" lang="en-US" sz="28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Enrolls in </a:t>
            </a: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it, of course.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What does a Customer </a:t>
            </a:r>
            <a:r>
              <a:rPr b="0" i="1" lang="en-US" sz="36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DO</a:t>
            </a:r>
            <a:r>
              <a:rPr b="0" i="0" lang="en-US" sz="36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to a Product?</a:t>
            </a:r>
            <a:r>
              <a:rPr b="0" i="0" lang="en-US" sz="28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 Customer </a:t>
            </a:r>
            <a:r>
              <a:rPr b="0" i="1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buys</a:t>
            </a:r>
            <a:r>
              <a:rPr b="0" i="0" lang="en-US" sz="32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 Product.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What does a Teacher </a:t>
            </a:r>
            <a:r>
              <a:rPr b="0" i="1" lang="en-US" sz="36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DO</a:t>
            </a:r>
            <a:r>
              <a:rPr b="0" i="0" lang="en-US" sz="36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to a Course?</a:t>
            </a:r>
            <a:r>
              <a:rPr b="0" i="0" lang="en-US" sz="28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 Teacher </a:t>
            </a:r>
            <a:r>
              <a:rPr b="0" i="1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teaches</a:t>
            </a:r>
            <a:r>
              <a:rPr b="0" i="0" lang="en-US" sz="32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 Course.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"/>
          <p:cNvSpPr txBox="1"/>
          <p:nvPr>
            <p:ph type="title"/>
          </p:nvPr>
        </p:nvSpPr>
        <p:spPr>
          <a:xfrm>
            <a:off x="685800" y="1524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❸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Establish Associations</a:t>
            </a:r>
            <a:endParaRPr/>
          </a:p>
        </p:txBody>
      </p:sp>
      <p:sp>
        <p:nvSpPr>
          <p:cNvPr id="272" name="Google Shape;272;p19"/>
          <p:cNvSpPr txBox="1"/>
          <p:nvPr>
            <p:ph idx="1" type="body"/>
          </p:nvPr>
        </p:nvSpPr>
        <p:spPr>
          <a:xfrm>
            <a:off x="533400" y="1371600"/>
            <a:ext cx="8229600" cy="427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Here we ask the questions:</a:t>
            </a:r>
            <a:endParaRPr b="0" i="0" sz="24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What does a Student </a:t>
            </a:r>
            <a:r>
              <a:rPr b="0" i="1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DO</a:t>
            </a:r>
            <a:r>
              <a:rPr b="0" i="0" lang="en-US" sz="32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to a Course?</a:t>
            </a: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1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Enrols in 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it, of course.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What does a Customer </a:t>
            </a:r>
            <a:r>
              <a:rPr b="0" i="1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DO</a:t>
            </a:r>
            <a:r>
              <a:rPr b="0" i="0" lang="en-US" sz="32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to a Product?</a:t>
            </a: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 Customer </a:t>
            </a:r>
            <a:r>
              <a:rPr b="0" i="1" lang="en-US" sz="28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buys</a:t>
            </a: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 Product.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What does a Teacher </a:t>
            </a:r>
            <a:r>
              <a:rPr b="0" i="1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DO</a:t>
            </a:r>
            <a:r>
              <a:rPr b="0" i="0" lang="en-US" sz="32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to a Course?</a:t>
            </a: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 Teacher </a:t>
            </a:r>
            <a:r>
              <a:rPr b="0" i="1" lang="en-US" sz="28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teaches</a:t>
            </a: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 Course.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"/>
          <p:cNvSpPr txBox="1"/>
          <p:nvPr>
            <p:ph type="title"/>
          </p:nvPr>
        </p:nvSpPr>
        <p:spPr>
          <a:xfrm>
            <a:off x="685800" y="1524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❸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Establish Associations</a:t>
            </a:r>
            <a:endParaRPr/>
          </a:p>
        </p:txBody>
      </p:sp>
      <p:sp>
        <p:nvSpPr>
          <p:cNvPr id="279" name="Google Shape;279;p20"/>
          <p:cNvSpPr txBox="1"/>
          <p:nvPr>
            <p:ph idx="1" type="body"/>
          </p:nvPr>
        </p:nvSpPr>
        <p:spPr>
          <a:xfrm>
            <a:off x="457200" y="1733550"/>
            <a:ext cx="8229600" cy="427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Char char="●"/>
            </a:pP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An </a:t>
            </a:r>
            <a:r>
              <a:rPr b="0" i="1" lang="en-US" sz="2400" u="sng">
                <a:solidFill>
                  <a:srgbClr val="00FF00"/>
                </a:solidFill>
                <a:latin typeface="DFKai-SB"/>
                <a:ea typeface="DFKai-SB"/>
                <a:cs typeface="DFKai-SB"/>
                <a:sym typeface="DFKai-SB"/>
              </a:rPr>
              <a:t>association</a:t>
            </a: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is an </a:t>
            </a:r>
            <a:r>
              <a:rPr b="0" i="1" lang="en-US" sz="4400" u="sng">
                <a:solidFill>
                  <a:srgbClr val="F5F943"/>
                </a:solidFill>
                <a:latin typeface="DFKai-SB"/>
                <a:ea typeface="DFKai-SB"/>
                <a:cs typeface="DFKai-SB"/>
                <a:sym typeface="DFKai-SB"/>
              </a:rPr>
              <a:t>inter</a:t>
            </a:r>
            <a:r>
              <a:rPr b="0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action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between instances of two classes,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Char char="●"/>
            </a:pP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Represented by a </a:t>
            </a:r>
            <a:r>
              <a:rPr b="0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verb.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Char char="●"/>
            </a:pP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The ones we want are those that describe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1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things that happen in the users</a:t>
            </a:r>
            <a:r>
              <a:rPr b="0" i="1" lang="en-US" sz="20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’</a:t>
            </a:r>
            <a:r>
              <a:rPr b="0" i="1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business.</a:t>
            </a:r>
            <a:endParaRPr b="0" i="0" sz="20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Char char="●"/>
            </a:pP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We need a sentence that goes </a:t>
            </a:r>
            <a:endParaRPr/>
          </a:p>
          <a:p>
            <a:pPr indent="-285750" lvl="1" marL="74295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“Object </a:t>
            </a:r>
            <a:r>
              <a:rPr b="0" i="1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verb</a:t>
            </a: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 Object”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1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And makes sense</a:t>
            </a: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in the users</a:t>
            </a:r>
            <a:r>
              <a:rPr b="0" i="0" lang="en-US" sz="18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’</a:t>
            </a: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world.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 txBox="1"/>
          <p:nvPr>
            <p:ph type="title"/>
          </p:nvPr>
        </p:nvSpPr>
        <p:spPr>
          <a:xfrm>
            <a:off x="685800" y="1524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❸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Establish Associations</a:t>
            </a:r>
            <a:endParaRPr/>
          </a:p>
        </p:txBody>
      </p:sp>
      <p:sp>
        <p:nvSpPr>
          <p:cNvPr id="286" name="Google Shape;286;p21"/>
          <p:cNvSpPr txBox="1"/>
          <p:nvPr>
            <p:ph idx="1" type="body"/>
          </p:nvPr>
        </p:nvSpPr>
        <p:spPr>
          <a:xfrm>
            <a:off x="457200" y="1855787"/>
            <a:ext cx="8229600" cy="427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There are two important parts to this sentence:</a:t>
            </a:r>
            <a:endParaRPr/>
          </a:p>
          <a:p>
            <a:pPr indent="-228600" lvl="4" marL="2057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3300"/>
              <a:buNone/>
            </a:pPr>
            <a:r>
              <a:rPr b="0" i="0" lang="en-US" sz="4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The </a:t>
            </a:r>
            <a:r>
              <a:rPr b="0" i="1" lang="en-US" sz="4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Verb</a:t>
            </a:r>
            <a:r>
              <a:rPr b="0" i="0" lang="en-US" sz="4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, </a:t>
            </a:r>
            <a:r>
              <a:rPr b="0" i="0" lang="en-US" sz="32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and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3300"/>
              <a:buNone/>
            </a:pPr>
            <a:r>
              <a:rPr b="0" i="0" lang="en-US" sz="4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The </a:t>
            </a:r>
            <a:r>
              <a:rPr b="0" i="1" lang="en-US" sz="4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Multiplicity</a:t>
            </a:r>
            <a:r>
              <a:rPr b="0" i="0" lang="en-US" sz="4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.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"/>
          <p:cNvSpPr txBox="1"/>
          <p:nvPr>
            <p:ph type="title"/>
          </p:nvPr>
        </p:nvSpPr>
        <p:spPr>
          <a:xfrm>
            <a:off x="685800" y="1524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❸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Establish Associations</a:t>
            </a:r>
            <a:endParaRPr/>
          </a:p>
        </p:txBody>
      </p:sp>
      <p:sp>
        <p:nvSpPr>
          <p:cNvPr id="293" name="Google Shape;293;p22"/>
          <p:cNvSpPr txBox="1"/>
          <p:nvPr>
            <p:ph idx="1" type="body"/>
          </p:nvPr>
        </p:nvSpPr>
        <p:spPr>
          <a:xfrm>
            <a:off x="1652587" y="4132262"/>
            <a:ext cx="6611937" cy="186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Draw a line against the list of classes,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	each time you check out a possibility.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This way you check out </a:t>
            </a:r>
            <a:r>
              <a:rPr b="0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each class</a:t>
            </a:r>
            <a:endParaRPr b="0" i="0" sz="2000" u="none">
              <a:solidFill>
                <a:srgbClr val="FE9B0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	against </a:t>
            </a:r>
            <a:r>
              <a:rPr b="0" i="0" lang="en-US" sz="24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every class</a:t>
            </a:r>
            <a:r>
              <a:rPr b="0" i="0" lang="en-US" sz="20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1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below it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in the list.</a:t>
            </a:r>
            <a:endParaRPr/>
          </a:p>
        </p:txBody>
      </p:sp>
      <p:grpSp>
        <p:nvGrpSpPr>
          <p:cNvPr id="294" name="Google Shape;294;p22"/>
          <p:cNvGrpSpPr/>
          <p:nvPr/>
        </p:nvGrpSpPr>
        <p:grpSpPr>
          <a:xfrm>
            <a:off x="1204912" y="1420812"/>
            <a:ext cx="1349375" cy="2238375"/>
            <a:chOff x="231" y="1008"/>
            <a:chExt cx="850" cy="1410"/>
          </a:xfrm>
        </p:grpSpPr>
        <p:sp>
          <p:nvSpPr>
            <p:cNvPr id="295" name="Google Shape;295;p22"/>
            <p:cNvSpPr txBox="1"/>
            <p:nvPr/>
          </p:nvSpPr>
          <p:spPr>
            <a:xfrm>
              <a:off x="231" y="1008"/>
              <a:ext cx="762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entury Schoolbook"/>
                <a:buNone/>
              </a:pPr>
              <a:r>
                <a:rPr b="1" i="0" lang="en-US" sz="1600" u="none">
                  <a:solidFill>
                    <a:srgbClr val="FFFFFF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Customer</a:t>
              </a:r>
              <a:endParaRPr/>
            </a:p>
          </p:txBody>
        </p:sp>
        <p:sp>
          <p:nvSpPr>
            <p:cNvPr id="296" name="Google Shape;296;p22"/>
            <p:cNvSpPr txBox="1"/>
            <p:nvPr/>
          </p:nvSpPr>
          <p:spPr>
            <a:xfrm>
              <a:off x="231" y="1248"/>
              <a:ext cx="654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entury Schoolbook"/>
                <a:buNone/>
              </a:pPr>
              <a:r>
                <a:rPr b="1" i="0" lang="en-US" sz="1600" u="none">
                  <a:solidFill>
                    <a:srgbClr val="FFFFFF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Product</a:t>
              </a:r>
              <a:endParaRPr/>
            </a:p>
          </p:txBody>
        </p:sp>
        <p:sp>
          <p:nvSpPr>
            <p:cNvPr id="297" name="Google Shape;297;p22"/>
            <p:cNvSpPr txBox="1"/>
            <p:nvPr/>
          </p:nvSpPr>
          <p:spPr>
            <a:xfrm>
              <a:off x="231" y="1488"/>
              <a:ext cx="602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entury Schoolbook"/>
                <a:buNone/>
              </a:pPr>
              <a:r>
                <a:rPr b="1" i="0" lang="en-US" sz="1600" u="none">
                  <a:solidFill>
                    <a:srgbClr val="FFFFFF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Vendor</a:t>
              </a:r>
              <a:endParaRPr/>
            </a:p>
          </p:txBody>
        </p:sp>
        <p:sp>
          <p:nvSpPr>
            <p:cNvPr id="298" name="Google Shape;298;p22"/>
            <p:cNvSpPr txBox="1"/>
            <p:nvPr/>
          </p:nvSpPr>
          <p:spPr>
            <a:xfrm>
              <a:off x="231" y="1728"/>
              <a:ext cx="607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entury Schoolbook"/>
                <a:buNone/>
              </a:pPr>
              <a:r>
                <a:rPr b="1" i="0" lang="en-US" sz="1600" u="none">
                  <a:solidFill>
                    <a:srgbClr val="FFFFFF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Invoice</a:t>
              </a:r>
              <a:endParaRPr/>
            </a:p>
          </p:txBody>
        </p:sp>
        <p:sp>
          <p:nvSpPr>
            <p:cNvPr id="299" name="Google Shape;299;p22"/>
            <p:cNvSpPr txBox="1"/>
            <p:nvPr/>
          </p:nvSpPr>
          <p:spPr>
            <a:xfrm>
              <a:off x="231" y="1968"/>
              <a:ext cx="349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entury Schoolbook"/>
                <a:buNone/>
              </a:pPr>
              <a:r>
                <a:rPr b="1" i="0" lang="en-US" sz="1600" u="none">
                  <a:solidFill>
                    <a:srgbClr val="FFFFFF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Bin</a:t>
              </a:r>
              <a:endParaRPr/>
            </a:p>
          </p:txBody>
        </p:sp>
        <p:sp>
          <p:nvSpPr>
            <p:cNvPr id="300" name="Google Shape;300;p22"/>
            <p:cNvSpPr txBox="1"/>
            <p:nvPr/>
          </p:nvSpPr>
          <p:spPr>
            <a:xfrm>
              <a:off x="231" y="2208"/>
              <a:ext cx="850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entury Schoolbook"/>
                <a:buNone/>
              </a:pPr>
              <a:r>
                <a:rPr b="1" i="0" lang="en-US" sz="1600" u="none">
                  <a:solidFill>
                    <a:srgbClr val="FFFFFF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Warehouse</a:t>
              </a:r>
              <a:endParaRPr/>
            </a:p>
          </p:txBody>
        </p:sp>
      </p:grpSp>
      <p:sp>
        <p:nvSpPr>
          <p:cNvPr id="301" name="Google Shape;301;p22"/>
          <p:cNvSpPr/>
          <p:nvPr/>
        </p:nvSpPr>
        <p:spPr>
          <a:xfrm>
            <a:off x="2438400" y="1600200"/>
            <a:ext cx="50800" cy="4318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2438400" y="1600200"/>
            <a:ext cx="279400" cy="736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2438400" y="1600200"/>
            <a:ext cx="508000" cy="1117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2362200" y="1600200"/>
            <a:ext cx="965200" cy="15748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2438400" y="1676400"/>
            <a:ext cx="1346200" cy="18034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3657600" y="1905000"/>
            <a:ext cx="203200" cy="355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E9B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22"/>
          <p:cNvCxnSpPr/>
          <p:nvPr/>
        </p:nvCxnSpPr>
        <p:spPr>
          <a:xfrm rot="10800000">
            <a:off x="1136650" y="1420812"/>
            <a:ext cx="6337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8" name="Google Shape;308;p22"/>
          <p:cNvCxnSpPr/>
          <p:nvPr/>
        </p:nvCxnSpPr>
        <p:spPr>
          <a:xfrm rot="10800000">
            <a:off x="1136650" y="1801812"/>
            <a:ext cx="6337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9" name="Google Shape;309;p22"/>
          <p:cNvCxnSpPr/>
          <p:nvPr/>
        </p:nvCxnSpPr>
        <p:spPr>
          <a:xfrm rot="10800000">
            <a:off x="1136650" y="2182812"/>
            <a:ext cx="6337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0" name="Google Shape;310;p22"/>
          <p:cNvCxnSpPr/>
          <p:nvPr/>
        </p:nvCxnSpPr>
        <p:spPr>
          <a:xfrm rot="10800000">
            <a:off x="1136650" y="2563812"/>
            <a:ext cx="6337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1" name="Google Shape;311;p22"/>
          <p:cNvCxnSpPr/>
          <p:nvPr/>
        </p:nvCxnSpPr>
        <p:spPr>
          <a:xfrm rot="10800000">
            <a:off x="1136650" y="2944812"/>
            <a:ext cx="6337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2" name="Google Shape;312;p22"/>
          <p:cNvCxnSpPr/>
          <p:nvPr/>
        </p:nvCxnSpPr>
        <p:spPr>
          <a:xfrm rot="10800000">
            <a:off x="1136650" y="3325812"/>
            <a:ext cx="6337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3" name="Google Shape;313;p22"/>
          <p:cNvCxnSpPr/>
          <p:nvPr/>
        </p:nvCxnSpPr>
        <p:spPr>
          <a:xfrm rot="10800000">
            <a:off x="1136650" y="3706812"/>
            <a:ext cx="6337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14" name="Google Shape;314;p22"/>
          <p:cNvSpPr/>
          <p:nvPr/>
        </p:nvSpPr>
        <p:spPr>
          <a:xfrm>
            <a:off x="3733800" y="1878012"/>
            <a:ext cx="660400" cy="8890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E9B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3733800" y="1905000"/>
            <a:ext cx="1117600" cy="12700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E9B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3733800" y="1905000"/>
            <a:ext cx="1422400" cy="16510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E9B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5105400" y="2438400"/>
            <a:ext cx="508000" cy="355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7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5257800" y="2438400"/>
            <a:ext cx="812800" cy="736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7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5181600" y="2438400"/>
            <a:ext cx="1193800" cy="10414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7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6553200" y="2819400"/>
            <a:ext cx="203200" cy="355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6477000" y="2819400"/>
            <a:ext cx="584200" cy="736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7239000" y="3200400"/>
            <a:ext cx="355600" cy="355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DC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3"/>
          <p:cNvSpPr txBox="1"/>
          <p:nvPr>
            <p:ph type="title"/>
          </p:nvPr>
        </p:nvSpPr>
        <p:spPr>
          <a:xfrm>
            <a:off x="76200" y="152400"/>
            <a:ext cx="8991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❹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Expand Many-to-Many Associations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7315200" y="2578100"/>
            <a:ext cx="1384300" cy="6921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3"/>
          <p:cNvSpPr txBox="1"/>
          <p:nvPr/>
        </p:nvSpPr>
        <p:spPr>
          <a:xfrm>
            <a:off x="6985000" y="3019425"/>
            <a:ext cx="1409700" cy="6921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3"/>
          <p:cNvSpPr txBox="1"/>
          <p:nvPr/>
        </p:nvSpPr>
        <p:spPr>
          <a:xfrm>
            <a:off x="6654800" y="3459162"/>
            <a:ext cx="1511300" cy="6921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3"/>
          <p:cNvSpPr txBox="1"/>
          <p:nvPr/>
        </p:nvSpPr>
        <p:spPr>
          <a:xfrm>
            <a:off x="6324600" y="3900487"/>
            <a:ext cx="1460500" cy="6921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3"/>
          <p:cNvSpPr txBox="1"/>
          <p:nvPr/>
        </p:nvSpPr>
        <p:spPr>
          <a:xfrm>
            <a:off x="5994400" y="4340225"/>
            <a:ext cx="1308100" cy="6921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3"/>
          <p:cNvSpPr txBox="1"/>
          <p:nvPr/>
        </p:nvSpPr>
        <p:spPr>
          <a:xfrm>
            <a:off x="5664200" y="4768850"/>
            <a:ext cx="1308100" cy="6921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787400" y="2578100"/>
            <a:ext cx="1308100" cy="6921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3"/>
          <p:cNvSpPr txBox="1"/>
          <p:nvPr/>
        </p:nvSpPr>
        <p:spPr>
          <a:xfrm>
            <a:off x="1117600" y="3019425"/>
            <a:ext cx="1308100" cy="6921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3"/>
          <p:cNvSpPr txBox="1"/>
          <p:nvPr/>
        </p:nvSpPr>
        <p:spPr>
          <a:xfrm>
            <a:off x="1447800" y="3459162"/>
            <a:ext cx="1308100" cy="6921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1778000" y="3900487"/>
            <a:ext cx="1308100" cy="6921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3"/>
          <p:cNvSpPr txBox="1"/>
          <p:nvPr/>
        </p:nvSpPr>
        <p:spPr>
          <a:xfrm>
            <a:off x="2108200" y="4340225"/>
            <a:ext cx="1308100" cy="6921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2438400" y="4768850"/>
            <a:ext cx="1308100" cy="6921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3"/>
          <p:cNvSpPr txBox="1"/>
          <p:nvPr/>
        </p:nvSpPr>
        <p:spPr>
          <a:xfrm>
            <a:off x="2443162" y="4781550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2138362" y="4400550"/>
            <a:ext cx="417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1757362" y="3867150"/>
            <a:ext cx="474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</a:t>
            </a:r>
            <a:endParaRPr/>
          </a:p>
        </p:txBody>
      </p:sp>
      <p:sp>
        <p:nvSpPr>
          <p:cNvPr id="344" name="Google Shape;344;p23"/>
          <p:cNvSpPr txBox="1"/>
          <p:nvPr/>
        </p:nvSpPr>
        <p:spPr>
          <a:xfrm>
            <a:off x="1452562" y="3486150"/>
            <a:ext cx="4968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1147762" y="3028950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</a:t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766762" y="2571750"/>
            <a:ext cx="4397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5757862" y="4800600"/>
            <a:ext cx="81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Coffee</a:t>
            </a: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6100762" y="4324350"/>
            <a:ext cx="879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349" name="Google Shape;349;p23"/>
          <p:cNvSpPr txBox="1"/>
          <p:nvPr/>
        </p:nvSpPr>
        <p:spPr>
          <a:xfrm>
            <a:off x="6405562" y="3867150"/>
            <a:ext cx="1174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Dictionary</a:t>
            </a:r>
            <a:endParaRPr/>
          </a:p>
        </p:txBody>
      </p:sp>
      <p:sp>
        <p:nvSpPr>
          <p:cNvPr id="350" name="Google Shape;350;p23"/>
          <p:cNvSpPr txBox="1"/>
          <p:nvPr/>
        </p:nvSpPr>
        <p:spPr>
          <a:xfrm>
            <a:off x="6710362" y="3486150"/>
            <a:ext cx="120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Thesaurus</a:t>
            </a:r>
            <a:endParaRPr/>
          </a:p>
        </p:txBody>
      </p:sp>
      <p:sp>
        <p:nvSpPr>
          <p:cNvPr id="351" name="Google Shape;351;p23"/>
          <p:cNvSpPr txBox="1"/>
          <p:nvPr/>
        </p:nvSpPr>
        <p:spPr>
          <a:xfrm>
            <a:off x="7091362" y="3028950"/>
            <a:ext cx="11160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352" name="Google Shape;352;p23"/>
          <p:cNvSpPr txBox="1"/>
          <p:nvPr/>
        </p:nvSpPr>
        <p:spPr>
          <a:xfrm>
            <a:off x="7548562" y="2571750"/>
            <a:ext cx="7794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</a:t>
            </a:r>
            <a:endParaRPr/>
          </a:p>
        </p:txBody>
      </p:sp>
      <p:sp>
        <p:nvSpPr>
          <p:cNvPr id="353" name="Google Shape;353;p23"/>
          <p:cNvSpPr/>
          <p:nvPr/>
        </p:nvSpPr>
        <p:spPr>
          <a:xfrm>
            <a:off x="3548062" y="4819650"/>
            <a:ext cx="139700" cy="1397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3225800" y="4394200"/>
            <a:ext cx="139700" cy="1397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2873375" y="3941762"/>
            <a:ext cx="139700" cy="1397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2562225" y="3492500"/>
            <a:ext cx="139700" cy="1397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2230437" y="3065462"/>
            <a:ext cx="139700" cy="1397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1897062" y="2622550"/>
            <a:ext cx="139700" cy="1397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5716587" y="4810125"/>
            <a:ext cx="139700" cy="1397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6043612" y="4383087"/>
            <a:ext cx="139700" cy="1397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6350000" y="3927475"/>
            <a:ext cx="139700" cy="1397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6683375" y="3484562"/>
            <a:ext cx="139700" cy="1397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7026275" y="3062287"/>
            <a:ext cx="139700" cy="1397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7351712" y="2611437"/>
            <a:ext cx="139700" cy="1397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5" name="Google Shape;365;p23"/>
          <p:cNvGrpSpPr/>
          <p:nvPr/>
        </p:nvGrpSpPr>
        <p:grpSpPr>
          <a:xfrm>
            <a:off x="2305050" y="2700337"/>
            <a:ext cx="5106987" cy="2216150"/>
            <a:chOff x="1452" y="1701"/>
            <a:chExt cx="3217" cy="1396"/>
          </a:xfrm>
        </p:grpSpPr>
        <p:sp>
          <p:nvSpPr>
            <p:cNvPr id="366" name="Google Shape;366;p23"/>
            <p:cNvSpPr/>
            <p:nvPr/>
          </p:nvSpPr>
          <p:spPr>
            <a:xfrm>
              <a:off x="2076" y="2829"/>
              <a:ext cx="1576" cy="268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3"/>
            <p:cNvSpPr/>
            <p:nvPr/>
          </p:nvSpPr>
          <p:spPr>
            <a:xfrm>
              <a:off x="2073" y="2613"/>
              <a:ext cx="844" cy="220"/>
            </a:xfrm>
            <a:custGeom>
              <a:rect b="b" l="l" r="r" t="t"/>
              <a:pathLst>
                <a:path extrusionOk="0" fill="none" h="21600" w="21600">
                  <a:moveTo>
                    <a:pt x="0" y="21600"/>
                  </a:moveTo>
                  <a:cubicBezTo>
                    <a:pt x="0" y="9680"/>
                    <a:pt x="9654" y="14"/>
                    <a:pt x="21574" y="0"/>
                  </a:cubicBezTo>
                </a:path>
                <a:path extrusionOk="0" h="21600" w="21600">
                  <a:moveTo>
                    <a:pt x="0" y="21600"/>
                  </a:moveTo>
                  <a:cubicBezTo>
                    <a:pt x="0" y="9680"/>
                    <a:pt x="9654" y="14"/>
                    <a:pt x="21574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3"/>
            <p:cNvSpPr/>
            <p:nvPr/>
          </p:nvSpPr>
          <p:spPr>
            <a:xfrm>
              <a:off x="2923" y="2614"/>
              <a:ext cx="909" cy="207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3"/>
            <p:cNvSpPr/>
            <p:nvPr/>
          </p:nvSpPr>
          <p:spPr>
            <a:xfrm>
              <a:off x="2073" y="2265"/>
              <a:ext cx="2200" cy="556"/>
            </a:xfrm>
            <a:custGeom>
              <a:rect b="b" l="l" r="r" t="t"/>
              <a:pathLst>
                <a:path extrusionOk="0" fill="none" h="21600" w="21600">
                  <a:moveTo>
                    <a:pt x="0" y="21600"/>
                  </a:moveTo>
                  <a:cubicBezTo>
                    <a:pt x="0" y="9674"/>
                    <a:pt x="9664" y="5"/>
                    <a:pt x="21590" y="0"/>
                  </a:cubicBezTo>
                </a:path>
                <a:path extrusionOk="0" h="21600" w="21600">
                  <a:moveTo>
                    <a:pt x="0" y="21600"/>
                  </a:moveTo>
                  <a:cubicBezTo>
                    <a:pt x="0" y="9674"/>
                    <a:pt x="9664" y="5"/>
                    <a:pt x="21590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3"/>
            <p:cNvSpPr/>
            <p:nvPr/>
          </p:nvSpPr>
          <p:spPr>
            <a:xfrm>
              <a:off x="1656" y="2265"/>
              <a:ext cx="2200" cy="592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3"/>
            <p:cNvSpPr/>
            <p:nvPr/>
          </p:nvSpPr>
          <p:spPr>
            <a:xfrm>
              <a:off x="1452" y="2001"/>
              <a:ext cx="2392" cy="832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3"/>
            <p:cNvSpPr/>
            <p:nvPr/>
          </p:nvSpPr>
          <p:spPr>
            <a:xfrm>
              <a:off x="2073" y="2410"/>
              <a:ext cx="1672" cy="411"/>
            </a:xfrm>
            <a:custGeom>
              <a:rect b="b" l="l" r="r" t="t"/>
              <a:pathLst>
                <a:path extrusionOk="0" fill="none" h="21600" w="21600">
                  <a:moveTo>
                    <a:pt x="0" y="21600"/>
                  </a:moveTo>
                  <a:cubicBezTo>
                    <a:pt x="0" y="9675"/>
                    <a:pt x="9662" y="7"/>
                    <a:pt x="21587" y="0"/>
                  </a:cubicBezTo>
                </a:path>
                <a:path extrusionOk="0" h="21600" w="21600">
                  <a:moveTo>
                    <a:pt x="0" y="21600"/>
                  </a:moveTo>
                  <a:cubicBezTo>
                    <a:pt x="0" y="9675"/>
                    <a:pt x="9662" y="7"/>
                    <a:pt x="21587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3"/>
            <p:cNvSpPr/>
            <p:nvPr/>
          </p:nvSpPr>
          <p:spPr>
            <a:xfrm>
              <a:off x="3744" y="2409"/>
              <a:ext cx="292" cy="124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3"/>
            <p:cNvSpPr/>
            <p:nvPr/>
          </p:nvSpPr>
          <p:spPr>
            <a:xfrm>
              <a:off x="1665" y="1977"/>
              <a:ext cx="2836" cy="268"/>
            </a:xfrm>
            <a:custGeom>
              <a:rect b="b" l="l" r="r" t="t"/>
              <a:pathLst>
                <a:path extrusionOk="0" fill="none" h="21600" w="21600">
                  <a:moveTo>
                    <a:pt x="0" y="21600"/>
                  </a:moveTo>
                  <a:cubicBezTo>
                    <a:pt x="0" y="9673"/>
                    <a:pt x="9665" y="4"/>
                    <a:pt x="21592" y="0"/>
                  </a:cubicBezTo>
                </a:path>
                <a:path extrusionOk="0" h="21600" w="21600">
                  <a:moveTo>
                    <a:pt x="0" y="21600"/>
                  </a:moveTo>
                  <a:cubicBezTo>
                    <a:pt x="0" y="9673"/>
                    <a:pt x="9665" y="4"/>
                    <a:pt x="21592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3"/>
            <p:cNvSpPr/>
            <p:nvPr/>
          </p:nvSpPr>
          <p:spPr>
            <a:xfrm>
              <a:off x="2277" y="1701"/>
              <a:ext cx="2392" cy="1396"/>
            </a:xfrm>
            <a:custGeom>
              <a:rect b="b" l="l" r="r" t="t"/>
              <a:pathLst>
                <a:path extrusionOk="0" fill="none" h="21600" w="21600">
                  <a:moveTo>
                    <a:pt x="0" y="21600"/>
                  </a:moveTo>
                  <a:cubicBezTo>
                    <a:pt x="0" y="9674"/>
                    <a:pt x="9665" y="4"/>
                    <a:pt x="21591" y="0"/>
                  </a:cubicBezTo>
                </a:path>
                <a:path extrusionOk="0" h="21600" w="21600">
                  <a:moveTo>
                    <a:pt x="0" y="21600"/>
                  </a:moveTo>
                  <a:cubicBezTo>
                    <a:pt x="0" y="9674"/>
                    <a:pt x="9665" y="4"/>
                    <a:pt x="21591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6" name="Google Shape;376;p23"/>
          <p:cNvSpPr txBox="1"/>
          <p:nvPr/>
        </p:nvSpPr>
        <p:spPr>
          <a:xfrm>
            <a:off x="823912" y="1662112"/>
            <a:ext cx="7332662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Schoolbook"/>
              <a:buNone/>
            </a:pPr>
            <a:r>
              <a:rPr b="1" i="0" lang="en-US" sz="2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Take a look at this  card-and-string database:</a:t>
            </a:r>
            <a:endParaRPr/>
          </a:p>
        </p:txBody>
      </p:sp>
      <p:sp>
        <p:nvSpPr>
          <p:cNvPr id="377" name="Google Shape;377;p23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4"/>
          <p:cNvSpPr txBox="1"/>
          <p:nvPr>
            <p:ph type="title"/>
          </p:nvPr>
        </p:nvSpPr>
        <p:spPr>
          <a:xfrm>
            <a:off x="76200" y="152400"/>
            <a:ext cx="8991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❹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Expand Many-to-Many Associations</a:t>
            </a:r>
            <a:endParaRPr/>
          </a:p>
        </p:txBody>
      </p:sp>
      <p:sp>
        <p:nvSpPr>
          <p:cNvPr id="383" name="Google Shape;383;p24"/>
          <p:cNvSpPr txBox="1"/>
          <p:nvPr>
            <p:ph idx="1" type="body"/>
          </p:nvPr>
        </p:nvSpPr>
        <p:spPr>
          <a:xfrm>
            <a:off x="457200" y="1462087"/>
            <a:ext cx="8229600" cy="25495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This will allow us to do sales reports by either: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Pulling a Customer card, and the strings will bring all the relevant Product cards,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Or vice-versa.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But there are problems . . .</a:t>
            </a:r>
            <a:endParaRPr/>
          </a:p>
        </p:txBody>
      </p:sp>
      <p:sp>
        <p:nvSpPr>
          <p:cNvPr id="384" name="Google Shape;384;p24"/>
          <p:cNvSpPr txBox="1"/>
          <p:nvPr/>
        </p:nvSpPr>
        <p:spPr>
          <a:xfrm>
            <a:off x="8112125" y="4691062"/>
            <a:ext cx="911225" cy="40481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4"/>
          <p:cNvSpPr txBox="1"/>
          <p:nvPr/>
        </p:nvSpPr>
        <p:spPr>
          <a:xfrm>
            <a:off x="7893050" y="4951412"/>
            <a:ext cx="928687" cy="406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4"/>
          <p:cNvSpPr txBox="1"/>
          <p:nvPr/>
        </p:nvSpPr>
        <p:spPr>
          <a:xfrm>
            <a:off x="7675562" y="5213350"/>
            <a:ext cx="995362" cy="40481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4"/>
          <p:cNvSpPr txBox="1"/>
          <p:nvPr/>
        </p:nvSpPr>
        <p:spPr>
          <a:xfrm>
            <a:off x="7456487" y="5473700"/>
            <a:ext cx="962025" cy="40481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4"/>
          <p:cNvSpPr txBox="1"/>
          <p:nvPr/>
        </p:nvSpPr>
        <p:spPr>
          <a:xfrm>
            <a:off x="7237412" y="5734050"/>
            <a:ext cx="862012" cy="406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4"/>
          <p:cNvSpPr txBox="1"/>
          <p:nvPr/>
        </p:nvSpPr>
        <p:spPr>
          <a:xfrm>
            <a:off x="7019925" y="5989637"/>
            <a:ext cx="860425" cy="40481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4"/>
          <p:cNvSpPr txBox="1"/>
          <p:nvPr/>
        </p:nvSpPr>
        <p:spPr>
          <a:xfrm>
            <a:off x="3790950" y="4691062"/>
            <a:ext cx="860425" cy="40481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4"/>
          <p:cNvSpPr txBox="1"/>
          <p:nvPr/>
        </p:nvSpPr>
        <p:spPr>
          <a:xfrm>
            <a:off x="4008437" y="4951412"/>
            <a:ext cx="862012" cy="406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4"/>
          <p:cNvSpPr txBox="1"/>
          <p:nvPr/>
        </p:nvSpPr>
        <p:spPr>
          <a:xfrm>
            <a:off x="4227512" y="5213350"/>
            <a:ext cx="860425" cy="40481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4"/>
          <p:cNvSpPr txBox="1"/>
          <p:nvPr/>
        </p:nvSpPr>
        <p:spPr>
          <a:xfrm>
            <a:off x="4445000" y="5473700"/>
            <a:ext cx="863600" cy="40481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4"/>
          <p:cNvSpPr txBox="1"/>
          <p:nvPr/>
        </p:nvSpPr>
        <p:spPr>
          <a:xfrm>
            <a:off x="4664075" y="5734050"/>
            <a:ext cx="862012" cy="406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4"/>
          <p:cNvSpPr txBox="1"/>
          <p:nvPr/>
        </p:nvSpPr>
        <p:spPr>
          <a:xfrm>
            <a:off x="4883150" y="5989637"/>
            <a:ext cx="862012" cy="40481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4"/>
          <p:cNvSpPr txBox="1"/>
          <p:nvPr/>
        </p:nvSpPr>
        <p:spPr>
          <a:xfrm>
            <a:off x="4852987" y="6000750"/>
            <a:ext cx="41751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397" name="Google Shape;397;p24"/>
          <p:cNvSpPr txBox="1"/>
          <p:nvPr/>
        </p:nvSpPr>
        <p:spPr>
          <a:xfrm>
            <a:off x="4651375" y="5773737"/>
            <a:ext cx="38735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398" name="Google Shape;398;p24"/>
          <p:cNvSpPr txBox="1"/>
          <p:nvPr/>
        </p:nvSpPr>
        <p:spPr>
          <a:xfrm>
            <a:off x="4398962" y="5457825"/>
            <a:ext cx="4365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</a:t>
            </a:r>
            <a:endParaRPr/>
          </a:p>
        </p:txBody>
      </p:sp>
      <p:sp>
        <p:nvSpPr>
          <p:cNvPr id="399" name="Google Shape;399;p24"/>
          <p:cNvSpPr txBox="1"/>
          <p:nvPr/>
        </p:nvSpPr>
        <p:spPr>
          <a:xfrm>
            <a:off x="4197350" y="5230812"/>
            <a:ext cx="45720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400" name="Google Shape;400;p24"/>
          <p:cNvSpPr txBox="1"/>
          <p:nvPr/>
        </p:nvSpPr>
        <p:spPr>
          <a:xfrm>
            <a:off x="3997325" y="4960937"/>
            <a:ext cx="41751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</a:t>
            </a:r>
            <a:endParaRPr/>
          </a:p>
        </p:txBody>
      </p:sp>
      <p:sp>
        <p:nvSpPr>
          <p:cNvPr id="401" name="Google Shape;401;p24"/>
          <p:cNvSpPr txBox="1"/>
          <p:nvPr/>
        </p:nvSpPr>
        <p:spPr>
          <a:xfrm>
            <a:off x="3744912" y="4689475"/>
            <a:ext cx="407987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</a:t>
            </a:r>
            <a:endParaRPr/>
          </a:p>
        </p:txBody>
      </p:sp>
      <p:sp>
        <p:nvSpPr>
          <p:cNvPr id="402" name="Google Shape;402;p24"/>
          <p:cNvSpPr txBox="1"/>
          <p:nvPr/>
        </p:nvSpPr>
        <p:spPr>
          <a:xfrm>
            <a:off x="7048500" y="6011862"/>
            <a:ext cx="731837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Coffee</a:t>
            </a:r>
            <a:endParaRPr/>
          </a:p>
        </p:txBody>
      </p:sp>
      <p:sp>
        <p:nvSpPr>
          <p:cNvPr id="403" name="Google Shape;403;p24"/>
          <p:cNvSpPr txBox="1"/>
          <p:nvPr/>
        </p:nvSpPr>
        <p:spPr>
          <a:xfrm>
            <a:off x="7275512" y="5729287"/>
            <a:ext cx="79057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404" name="Google Shape;404;p24"/>
          <p:cNvSpPr txBox="1"/>
          <p:nvPr/>
        </p:nvSpPr>
        <p:spPr>
          <a:xfrm>
            <a:off x="7477125" y="5457825"/>
            <a:ext cx="104775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Dictionary</a:t>
            </a:r>
            <a:endParaRPr/>
          </a:p>
        </p:txBody>
      </p:sp>
      <p:sp>
        <p:nvSpPr>
          <p:cNvPr id="405" name="Google Shape;405;p24"/>
          <p:cNvSpPr txBox="1"/>
          <p:nvPr/>
        </p:nvSpPr>
        <p:spPr>
          <a:xfrm>
            <a:off x="7678737" y="5230812"/>
            <a:ext cx="107632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Thesaurus</a:t>
            </a:r>
            <a:endParaRPr/>
          </a:p>
        </p:txBody>
      </p:sp>
      <p:sp>
        <p:nvSpPr>
          <p:cNvPr id="406" name="Google Shape;406;p24"/>
          <p:cNvSpPr txBox="1"/>
          <p:nvPr/>
        </p:nvSpPr>
        <p:spPr>
          <a:xfrm>
            <a:off x="7931150" y="4960937"/>
            <a:ext cx="99695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407" name="Google Shape;407;p24"/>
          <p:cNvSpPr txBox="1"/>
          <p:nvPr/>
        </p:nvSpPr>
        <p:spPr>
          <a:xfrm>
            <a:off x="8232775" y="4689475"/>
            <a:ext cx="7032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</a:t>
            </a:r>
            <a:endParaRPr/>
          </a:p>
        </p:txBody>
      </p:sp>
      <p:sp>
        <p:nvSpPr>
          <p:cNvPr id="408" name="Google Shape;408;p24"/>
          <p:cNvSpPr/>
          <p:nvPr/>
        </p:nvSpPr>
        <p:spPr>
          <a:xfrm>
            <a:off x="5618162" y="6018212"/>
            <a:ext cx="87312" cy="793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4"/>
          <p:cNvSpPr/>
          <p:nvPr/>
        </p:nvSpPr>
        <p:spPr>
          <a:xfrm>
            <a:off x="5403850" y="5767387"/>
            <a:ext cx="88900" cy="7778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5170487" y="5499100"/>
            <a:ext cx="88900" cy="76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4965700" y="5232400"/>
            <a:ext cx="87312" cy="7778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4"/>
          <p:cNvSpPr/>
          <p:nvPr/>
        </p:nvSpPr>
        <p:spPr>
          <a:xfrm>
            <a:off x="4745037" y="4979987"/>
            <a:ext cx="88900" cy="7778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4524375" y="4716462"/>
            <a:ext cx="88900" cy="7778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7053262" y="6013450"/>
            <a:ext cx="88900" cy="7778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7270750" y="5759450"/>
            <a:ext cx="87312" cy="7778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7473950" y="5491162"/>
            <a:ext cx="87312" cy="76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7694612" y="5227637"/>
            <a:ext cx="87312" cy="7778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7920037" y="4976812"/>
            <a:ext cx="88900" cy="7778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8135937" y="4710112"/>
            <a:ext cx="88900" cy="76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5448300" y="5827712"/>
            <a:ext cx="1654175" cy="247650"/>
          </a:xfrm>
          <a:custGeom>
            <a:rect b="b" l="l" r="r" t="t"/>
            <a:pathLst>
              <a:path extrusionOk="0" fill="none" h="21600" w="21621">
                <a:moveTo>
                  <a:pt x="0" y="0"/>
                </a:moveTo>
                <a:cubicBezTo>
                  <a:pt x="7" y="0"/>
                  <a:pt x="14" y="-1"/>
                  <a:pt x="21" y="0"/>
                </a:cubicBezTo>
                <a:cubicBezTo>
                  <a:pt x="11896" y="0"/>
                  <a:pt x="21544" y="9586"/>
                  <a:pt x="21620" y="21461"/>
                </a:cubicBezTo>
              </a:path>
              <a:path extrusionOk="0" h="21600" w="21621">
                <a:moveTo>
                  <a:pt x="0" y="0"/>
                </a:moveTo>
                <a:cubicBezTo>
                  <a:pt x="7" y="0"/>
                  <a:pt x="14" y="-1"/>
                  <a:pt x="21" y="0"/>
                </a:cubicBezTo>
                <a:cubicBezTo>
                  <a:pt x="11896" y="0"/>
                  <a:pt x="21544" y="9586"/>
                  <a:pt x="21620" y="21461"/>
                </a:cubicBezTo>
                <a:lnTo>
                  <a:pt x="21" y="21600"/>
                </a:lnTo>
                <a:lnTo>
                  <a:pt x="0" y="0"/>
                </a:lnTo>
                <a:close/>
              </a:path>
            </a:pathLst>
          </a:custGeom>
          <a:noFill/>
          <a:ln cap="rnd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5449887" y="5624512"/>
            <a:ext cx="882650" cy="201612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85"/>
                  <a:pt x="9646" y="21"/>
                  <a:pt x="21561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85"/>
                  <a:pt x="9646" y="21"/>
                  <a:pt x="21561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6338887" y="5624512"/>
            <a:ext cx="950912" cy="190500"/>
          </a:xfrm>
          <a:custGeom>
            <a:rect b="b" l="l" r="r" t="t"/>
            <a:pathLst>
              <a:path extrusionOk="0" fill="none" h="21600" w="21599">
                <a:moveTo>
                  <a:pt x="-1" y="0"/>
                </a:moveTo>
                <a:cubicBezTo>
                  <a:pt x="11858" y="0"/>
                  <a:pt x="21499" y="9560"/>
                  <a:pt x="21599" y="21418"/>
                </a:cubicBezTo>
              </a:path>
              <a:path extrusionOk="0" h="21600" w="21599">
                <a:moveTo>
                  <a:pt x="-1" y="0"/>
                </a:moveTo>
                <a:cubicBezTo>
                  <a:pt x="11858" y="0"/>
                  <a:pt x="21499" y="9560"/>
                  <a:pt x="21599" y="21418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5449887" y="5295900"/>
            <a:ext cx="2308225" cy="519112"/>
          </a:xfrm>
          <a:custGeom>
            <a:rect b="b" l="l" r="r" t="t"/>
            <a:pathLst>
              <a:path extrusionOk="0" fill="none" h="21600" w="21600">
                <a:moveTo>
                  <a:pt x="0" y="21534"/>
                </a:moveTo>
                <a:cubicBezTo>
                  <a:pt x="36" y="9636"/>
                  <a:pt x="9687" y="8"/>
                  <a:pt x="21585" y="0"/>
                </a:cubicBezTo>
              </a:path>
              <a:path extrusionOk="0" h="21600" w="21600">
                <a:moveTo>
                  <a:pt x="0" y="21534"/>
                </a:moveTo>
                <a:cubicBezTo>
                  <a:pt x="36" y="9636"/>
                  <a:pt x="9687" y="8"/>
                  <a:pt x="21585" y="0"/>
                </a:cubicBezTo>
                <a:lnTo>
                  <a:pt x="21600" y="21600"/>
                </a:lnTo>
                <a:lnTo>
                  <a:pt x="0" y="21534"/>
                </a:lnTo>
                <a:close/>
              </a:path>
            </a:pathLst>
          </a:custGeom>
          <a:noFill/>
          <a:ln cap="rnd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5006975" y="5295900"/>
            <a:ext cx="2309812" cy="552450"/>
          </a:xfrm>
          <a:custGeom>
            <a:rect b="b" l="l" r="r" t="t"/>
            <a:pathLst>
              <a:path extrusionOk="0" fill="none" h="21600" w="21615">
                <a:moveTo>
                  <a:pt x="0" y="0"/>
                </a:moveTo>
                <a:cubicBezTo>
                  <a:pt x="5" y="0"/>
                  <a:pt x="10" y="-1"/>
                  <a:pt x="15" y="0"/>
                </a:cubicBezTo>
                <a:cubicBezTo>
                  <a:pt x="11944" y="0"/>
                  <a:pt x="21615" y="9670"/>
                  <a:pt x="21615" y="21600"/>
                </a:cubicBezTo>
              </a:path>
              <a:path extrusionOk="0" h="21600" w="21615">
                <a:moveTo>
                  <a:pt x="0" y="0"/>
                </a:moveTo>
                <a:cubicBezTo>
                  <a:pt x="5" y="0"/>
                  <a:pt x="10" y="-1"/>
                  <a:pt x="15" y="0"/>
                </a:cubicBezTo>
                <a:cubicBezTo>
                  <a:pt x="11944" y="0"/>
                  <a:pt x="21615" y="9670"/>
                  <a:pt x="21615" y="21600"/>
                </a:cubicBezTo>
                <a:lnTo>
                  <a:pt x="15" y="21600"/>
                </a:lnTo>
                <a:lnTo>
                  <a:pt x="0" y="0"/>
                </a:lnTo>
                <a:close/>
              </a:path>
            </a:pathLst>
          </a:custGeom>
          <a:noFill/>
          <a:ln cap="rnd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4792662" y="5048250"/>
            <a:ext cx="2509837" cy="77787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5449887" y="5434012"/>
            <a:ext cx="1754187" cy="382587"/>
          </a:xfrm>
          <a:custGeom>
            <a:rect b="b" l="l" r="r" t="t"/>
            <a:pathLst>
              <a:path extrusionOk="0" fill="none" h="21600" w="21600">
                <a:moveTo>
                  <a:pt x="0" y="21510"/>
                </a:moveTo>
                <a:cubicBezTo>
                  <a:pt x="49" y="9623"/>
                  <a:pt x="9693" y="11"/>
                  <a:pt x="21580" y="0"/>
                </a:cubicBezTo>
              </a:path>
              <a:path extrusionOk="0" h="21600" w="21600">
                <a:moveTo>
                  <a:pt x="0" y="21510"/>
                </a:moveTo>
                <a:cubicBezTo>
                  <a:pt x="49" y="9623"/>
                  <a:pt x="9693" y="11"/>
                  <a:pt x="21580" y="0"/>
                </a:cubicBezTo>
                <a:lnTo>
                  <a:pt x="21600" y="21600"/>
                </a:lnTo>
                <a:lnTo>
                  <a:pt x="0" y="21510"/>
                </a:lnTo>
                <a:close/>
              </a:path>
            </a:pathLst>
          </a:custGeom>
          <a:noFill/>
          <a:ln cap="rnd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7202487" y="5432425"/>
            <a:ext cx="303212" cy="112712"/>
          </a:xfrm>
          <a:custGeom>
            <a:rect b="b" l="l" r="r" t="t"/>
            <a:pathLst>
              <a:path extrusionOk="0" fill="none" h="21600" w="21711">
                <a:moveTo>
                  <a:pt x="0" y="0"/>
                </a:moveTo>
                <a:cubicBezTo>
                  <a:pt x="37" y="0"/>
                  <a:pt x="75" y="-1"/>
                  <a:pt x="113" y="0"/>
                </a:cubicBezTo>
                <a:cubicBezTo>
                  <a:pt x="11922" y="0"/>
                  <a:pt x="21542" y="9484"/>
                  <a:pt x="21710" y="21293"/>
                </a:cubicBezTo>
              </a:path>
              <a:path extrusionOk="0" h="21600" w="21711">
                <a:moveTo>
                  <a:pt x="0" y="0"/>
                </a:moveTo>
                <a:cubicBezTo>
                  <a:pt x="37" y="0"/>
                  <a:pt x="75" y="-1"/>
                  <a:pt x="113" y="0"/>
                </a:cubicBezTo>
                <a:cubicBezTo>
                  <a:pt x="11922" y="0"/>
                  <a:pt x="21542" y="9484"/>
                  <a:pt x="21710" y="21293"/>
                </a:cubicBezTo>
                <a:lnTo>
                  <a:pt x="113" y="21600"/>
                </a:lnTo>
                <a:lnTo>
                  <a:pt x="0" y="0"/>
                </a:lnTo>
                <a:close/>
              </a:path>
            </a:pathLst>
          </a:custGeom>
          <a:noFill/>
          <a:ln cap="rnd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5021262" y="5026025"/>
            <a:ext cx="2976562" cy="247650"/>
          </a:xfrm>
          <a:custGeom>
            <a:rect b="b" l="l" r="r" t="t"/>
            <a:pathLst>
              <a:path extrusionOk="0" fill="none" h="21600" w="21600">
                <a:moveTo>
                  <a:pt x="0" y="21461"/>
                </a:moveTo>
                <a:cubicBezTo>
                  <a:pt x="76" y="9590"/>
                  <a:pt x="9718" y="6"/>
                  <a:pt x="21589" y="0"/>
                </a:cubicBezTo>
              </a:path>
              <a:path extrusionOk="0" h="21600" w="21600">
                <a:moveTo>
                  <a:pt x="0" y="21461"/>
                </a:moveTo>
                <a:cubicBezTo>
                  <a:pt x="76" y="9590"/>
                  <a:pt x="9718" y="6"/>
                  <a:pt x="21589" y="0"/>
                </a:cubicBezTo>
                <a:lnTo>
                  <a:pt x="21600" y="21600"/>
                </a:lnTo>
                <a:lnTo>
                  <a:pt x="0" y="21461"/>
                </a:lnTo>
                <a:close/>
              </a:path>
            </a:pathLst>
          </a:custGeom>
          <a:noFill/>
          <a:ln cap="rnd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5664200" y="4767262"/>
            <a:ext cx="2509837" cy="130810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76"/>
                  <a:pt x="9662" y="7"/>
                  <a:pt x="21586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76"/>
                  <a:pt x="9662" y="7"/>
                  <a:pt x="21586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4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"/>
          <p:cNvSpPr txBox="1"/>
          <p:nvPr>
            <p:ph idx="1" type="body"/>
          </p:nvPr>
        </p:nvSpPr>
        <p:spPr>
          <a:xfrm>
            <a:off x="114300" y="1244600"/>
            <a:ext cx="8915400" cy="3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More realistically, we could perhaps write on the cards instead of using strings: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As you can easily see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on Jo’s card, we are </a:t>
            </a:r>
            <a:endParaRPr/>
          </a:p>
          <a:p>
            <a:pPr indent="-285750" lvl="1" marL="74295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likely to run out of </a:t>
            </a:r>
            <a:endParaRPr/>
          </a:p>
          <a:p>
            <a:pPr indent="-285750" lvl="1" marL="74295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room!</a:t>
            </a:r>
            <a:endParaRPr/>
          </a:p>
        </p:txBody>
      </p:sp>
      <p:sp>
        <p:nvSpPr>
          <p:cNvPr id="436" name="Google Shape;436;p25"/>
          <p:cNvSpPr txBox="1"/>
          <p:nvPr>
            <p:ph type="title"/>
          </p:nvPr>
        </p:nvSpPr>
        <p:spPr>
          <a:xfrm>
            <a:off x="76200" y="152400"/>
            <a:ext cx="8991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❹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Expand Many-to-Many Associations</a:t>
            </a:r>
            <a:endParaRPr/>
          </a:p>
        </p:txBody>
      </p:sp>
      <p:sp>
        <p:nvSpPr>
          <p:cNvPr id="437" name="Google Shape;437;p25"/>
          <p:cNvSpPr txBox="1"/>
          <p:nvPr/>
        </p:nvSpPr>
        <p:spPr>
          <a:xfrm>
            <a:off x="158750" y="2178050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5"/>
          <p:cNvSpPr txBox="1"/>
          <p:nvPr/>
        </p:nvSpPr>
        <p:spPr>
          <a:xfrm>
            <a:off x="506412" y="2795587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5"/>
          <p:cNvSpPr txBox="1"/>
          <p:nvPr/>
        </p:nvSpPr>
        <p:spPr>
          <a:xfrm>
            <a:off x="877887" y="3444875"/>
            <a:ext cx="1473200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5"/>
          <p:cNvSpPr txBox="1"/>
          <p:nvPr/>
        </p:nvSpPr>
        <p:spPr>
          <a:xfrm>
            <a:off x="1249362" y="4097337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5"/>
          <p:cNvSpPr txBox="1"/>
          <p:nvPr/>
        </p:nvSpPr>
        <p:spPr>
          <a:xfrm>
            <a:off x="1620837" y="4748212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5"/>
          <p:cNvSpPr txBox="1"/>
          <p:nvPr/>
        </p:nvSpPr>
        <p:spPr>
          <a:xfrm>
            <a:off x="7443787" y="2139950"/>
            <a:ext cx="1560512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5"/>
          <p:cNvSpPr txBox="1"/>
          <p:nvPr/>
        </p:nvSpPr>
        <p:spPr>
          <a:xfrm>
            <a:off x="7072312" y="2795587"/>
            <a:ext cx="15875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5"/>
          <p:cNvSpPr txBox="1"/>
          <p:nvPr/>
        </p:nvSpPr>
        <p:spPr>
          <a:xfrm>
            <a:off x="6700837" y="3444875"/>
            <a:ext cx="1703387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5"/>
          <p:cNvSpPr txBox="1"/>
          <p:nvPr/>
        </p:nvSpPr>
        <p:spPr>
          <a:xfrm>
            <a:off x="6329362" y="4097337"/>
            <a:ext cx="164623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5"/>
          <p:cNvSpPr txBox="1"/>
          <p:nvPr/>
        </p:nvSpPr>
        <p:spPr>
          <a:xfrm>
            <a:off x="5957887" y="4748212"/>
            <a:ext cx="1473200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5"/>
          <p:cNvSpPr txBox="1"/>
          <p:nvPr/>
        </p:nvSpPr>
        <p:spPr>
          <a:xfrm>
            <a:off x="5584825" y="5384800"/>
            <a:ext cx="1474787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5"/>
          <p:cNvSpPr txBox="1"/>
          <p:nvPr/>
        </p:nvSpPr>
        <p:spPr>
          <a:xfrm>
            <a:off x="2011362" y="5499100"/>
            <a:ext cx="1474787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5"/>
          <p:cNvSpPr txBox="1"/>
          <p:nvPr/>
        </p:nvSpPr>
        <p:spPr>
          <a:xfrm>
            <a:off x="2011362" y="542607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450" name="Google Shape;450;p25"/>
          <p:cNvSpPr txBox="1"/>
          <p:nvPr/>
        </p:nvSpPr>
        <p:spPr>
          <a:xfrm>
            <a:off x="1571625" y="4729162"/>
            <a:ext cx="417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451" name="Google Shape;451;p25"/>
          <p:cNvSpPr txBox="1"/>
          <p:nvPr/>
        </p:nvSpPr>
        <p:spPr>
          <a:xfrm>
            <a:off x="1238250" y="4075112"/>
            <a:ext cx="474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</a:t>
            </a:r>
            <a:endParaRPr/>
          </a:p>
        </p:txBody>
      </p:sp>
      <p:sp>
        <p:nvSpPr>
          <p:cNvPr id="452" name="Google Shape;452;p25"/>
          <p:cNvSpPr txBox="1"/>
          <p:nvPr/>
        </p:nvSpPr>
        <p:spPr>
          <a:xfrm>
            <a:off x="895350" y="3509962"/>
            <a:ext cx="4968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453" name="Google Shape;453;p25"/>
          <p:cNvSpPr txBox="1"/>
          <p:nvPr/>
        </p:nvSpPr>
        <p:spPr>
          <a:xfrm>
            <a:off x="552450" y="2833687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</a:t>
            </a:r>
            <a:endParaRPr/>
          </a:p>
        </p:txBody>
      </p:sp>
      <p:sp>
        <p:nvSpPr>
          <p:cNvPr id="454" name="Google Shape;454;p25"/>
          <p:cNvSpPr txBox="1"/>
          <p:nvPr/>
        </p:nvSpPr>
        <p:spPr>
          <a:xfrm>
            <a:off x="123825" y="2154237"/>
            <a:ext cx="4397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</a:t>
            </a:r>
            <a:endParaRPr/>
          </a:p>
        </p:txBody>
      </p:sp>
      <p:sp>
        <p:nvSpPr>
          <p:cNvPr id="455" name="Google Shape;455;p25"/>
          <p:cNvSpPr txBox="1"/>
          <p:nvPr/>
        </p:nvSpPr>
        <p:spPr>
          <a:xfrm>
            <a:off x="5703887" y="5456237"/>
            <a:ext cx="81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Coffee</a:t>
            </a:r>
            <a:endParaRPr/>
          </a:p>
        </p:txBody>
      </p:sp>
      <p:sp>
        <p:nvSpPr>
          <p:cNvPr id="456" name="Google Shape;456;p25"/>
          <p:cNvSpPr txBox="1"/>
          <p:nvPr/>
        </p:nvSpPr>
        <p:spPr>
          <a:xfrm>
            <a:off x="6089650" y="4751387"/>
            <a:ext cx="879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457" name="Google Shape;457;p25"/>
          <p:cNvSpPr txBox="1"/>
          <p:nvPr/>
        </p:nvSpPr>
        <p:spPr>
          <a:xfrm>
            <a:off x="6430962" y="4075112"/>
            <a:ext cx="1174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Dictionary</a:t>
            </a:r>
            <a:endParaRPr/>
          </a:p>
        </p:txBody>
      </p:sp>
      <p:sp>
        <p:nvSpPr>
          <p:cNvPr id="458" name="Google Shape;458;p25"/>
          <p:cNvSpPr txBox="1"/>
          <p:nvPr/>
        </p:nvSpPr>
        <p:spPr>
          <a:xfrm>
            <a:off x="6775450" y="3509962"/>
            <a:ext cx="120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Thesaurus</a:t>
            </a:r>
            <a:endParaRPr/>
          </a:p>
        </p:txBody>
      </p:sp>
      <p:sp>
        <p:nvSpPr>
          <p:cNvPr id="459" name="Google Shape;459;p25"/>
          <p:cNvSpPr txBox="1"/>
          <p:nvPr/>
        </p:nvSpPr>
        <p:spPr>
          <a:xfrm>
            <a:off x="7204075" y="2833687"/>
            <a:ext cx="11160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460" name="Google Shape;460;p25"/>
          <p:cNvSpPr txBox="1"/>
          <p:nvPr/>
        </p:nvSpPr>
        <p:spPr>
          <a:xfrm>
            <a:off x="7718425" y="2154237"/>
            <a:ext cx="7794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</a:t>
            </a:r>
            <a:endParaRPr/>
          </a:p>
        </p:txBody>
      </p:sp>
      <p:sp>
        <p:nvSpPr>
          <p:cNvPr id="461" name="Google Shape;461;p25"/>
          <p:cNvSpPr/>
          <p:nvPr/>
        </p:nvSpPr>
        <p:spPr>
          <a:xfrm>
            <a:off x="3241675" y="5592762"/>
            <a:ext cx="160337" cy="2127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5"/>
          <p:cNvSpPr/>
          <p:nvPr/>
        </p:nvSpPr>
        <p:spPr>
          <a:xfrm>
            <a:off x="2878137" y="4827587"/>
            <a:ext cx="160337" cy="2127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5"/>
          <p:cNvSpPr/>
          <p:nvPr/>
        </p:nvSpPr>
        <p:spPr>
          <a:xfrm>
            <a:off x="2482850" y="4159250"/>
            <a:ext cx="157162" cy="2111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5"/>
          <p:cNvSpPr/>
          <p:nvPr/>
        </p:nvSpPr>
        <p:spPr>
          <a:xfrm>
            <a:off x="2132012" y="3494087"/>
            <a:ext cx="158750" cy="2127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5"/>
          <p:cNvSpPr/>
          <p:nvPr/>
        </p:nvSpPr>
        <p:spPr>
          <a:xfrm>
            <a:off x="1758950" y="2862262"/>
            <a:ext cx="158750" cy="2127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5"/>
          <p:cNvSpPr/>
          <p:nvPr/>
        </p:nvSpPr>
        <p:spPr>
          <a:xfrm>
            <a:off x="1384300" y="2205037"/>
            <a:ext cx="158750" cy="2143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5"/>
          <p:cNvSpPr/>
          <p:nvPr/>
        </p:nvSpPr>
        <p:spPr>
          <a:xfrm>
            <a:off x="5643562" y="5443537"/>
            <a:ext cx="160337" cy="2143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6011862" y="4811712"/>
            <a:ext cx="160337" cy="2127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5"/>
          <p:cNvSpPr/>
          <p:nvPr/>
        </p:nvSpPr>
        <p:spPr>
          <a:xfrm>
            <a:off x="6357937" y="4138612"/>
            <a:ext cx="157162" cy="2127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5"/>
          <p:cNvSpPr/>
          <p:nvPr/>
        </p:nvSpPr>
        <p:spPr>
          <a:xfrm>
            <a:off x="6732587" y="3481387"/>
            <a:ext cx="158750" cy="2127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5"/>
          <p:cNvSpPr/>
          <p:nvPr/>
        </p:nvSpPr>
        <p:spPr>
          <a:xfrm>
            <a:off x="7118350" y="2855912"/>
            <a:ext cx="160337" cy="2143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7485062" y="2189162"/>
            <a:ext cx="157162" cy="2127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5"/>
          <p:cNvSpPr txBox="1"/>
          <p:nvPr/>
        </p:nvSpPr>
        <p:spPr>
          <a:xfrm>
            <a:off x="1014412" y="2919412"/>
            <a:ext cx="74295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474" name="Google Shape;474;p25"/>
          <p:cNvSpPr txBox="1"/>
          <p:nvPr/>
        </p:nvSpPr>
        <p:spPr>
          <a:xfrm>
            <a:off x="1414462" y="3509962"/>
            <a:ext cx="939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475" name="Google Shape;475;p25"/>
          <p:cNvSpPr txBox="1"/>
          <p:nvPr/>
        </p:nvSpPr>
        <p:spPr>
          <a:xfrm>
            <a:off x="1585912" y="4786312"/>
            <a:ext cx="1581150" cy="7270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Coffee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 Dictionary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Thesaurus</a:t>
            </a:r>
            <a:endParaRPr/>
          </a:p>
        </p:txBody>
      </p:sp>
      <p:sp>
        <p:nvSpPr>
          <p:cNvPr id="476" name="Google Shape;476;p25"/>
          <p:cNvSpPr txBox="1"/>
          <p:nvPr/>
        </p:nvSpPr>
        <p:spPr>
          <a:xfrm>
            <a:off x="2366962" y="5567362"/>
            <a:ext cx="6651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</a:t>
            </a:r>
            <a:endParaRPr/>
          </a:p>
        </p:txBody>
      </p:sp>
      <p:sp>
        <p:nvSpPr>
          <p:cNvPr id="477" name="Google Shape;477;p25"/>
          <p:cNvSpPr txBox="1"/>
          <p:nvPr/>
        </p:nvSpPr>
        <p:spPr>
          <a:xfrm>
            <a:off x="8520112" y="2157412"/>
            <a:ext cx="3984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478" name="Google Shape;478;p25"/>
          <p:cNvSpPr txBox="1"/>
          <p:nvPr/>
        </p:nvSpPr>
        <p:spPr>
          <a:xfrm>
            <a:off x="8215312" y="3014662"/>
            <a:ext cx="43815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479" name="Google Shape;479;p25"/>
          <p:cNvSpPr txBox="1"/>
          <p:nvPr/>
        </p:nvSpPr>
        <p:spPr>
          <a:xfrm>
            <a:off x="8043862" y="3529012"/>
            <a:ext cx="36830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480" name="Google Shape;480;p25"/>
          <p:cNvSpPr txBox="1"/>
          <p:nvPr/>
        </p:nvSpPr>
        <p:spPr>
          <a:xfrm>
            <a:off x="7548562" y="4195762"/>
            <a:ext cx="36830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481" name="Google Shape;481;p25"/>
          <p:cNvSpPr txBox="1"/>
          <p:nvPr/>
        </p:nvSpPr>
        <p:spPr>
          <a:xfrm>
            <a:off x="7053262" y="4824412"/>
            <a:ext cx="438150" cy="7270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</a:t>
            </a:r>
            <a:endParaRPr/>
          </a:p>
        </p:txBody>
      </p:sp>
      <p:sp>
        <p:nvSpPr>
          <p:cNvPr id="482" name="Google Shape;482;p25"/>
          <p:cNvSpPr txBox="1"/>
          <p:nvPr/>
        </p:nvSpPr>
        <p:spPr>
          <a:xfrm>
            <a:off x="6634162" y="5472112"/>
            <a:ext cx="36830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483" name="Google Shape;483;p25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6"/>
          <p:cNvSpPr txBox="1"/>
          <p:nvPr>
            <p:ph type="title"/>
          </p:nvPr>
        </p:nvSpPr>
        <p:spPr>
          <a:xfrm>
            <a:off x="76200" y="152400"/>
            <a:ext cx="8991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❹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Expand Many-to-Many Associations</a:t>
            </a:r>
            <a:endParaRPr/>
          </a:p>
        </p:txBody>
      </p:sp>
      <p:sp>
        <p:nvSpPr>
          <p:cNvPr id="489" name="Google Shape;489;p26"/>
          <p:cNvSpPr txBox="1"/>
          <p:nvPr/>
        </p:nvSpPr>
        <p:spPr>
          <a:xfrm>
            <a:off x="103187" y="1997075"/>
            <a:ext cx="1473200" cy="9429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6"/>
          <p:cNvSpPr txBox="1"/>
          <p:nvPr/>
        </p:nvSpPr>
        <p:spPr>
          <a:xfrm>
            <a:off x="512762" y="2652712"/>
            <a:ext cx="1473200" cy="9429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6"/>
          <p:cNvSpPr txBox="1"/>
          <p:nvPr/>
        </p:nvSpPr>
        <p:spPr>
          <a:xfrm>
            <a:off x="884237" y="3302000"/>
            <a:ext cx="1473200" cy="94456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6"/>
          <p:cNvSpPr txBox="1"/>
          <p:nvPr/>
        </p:nvSpPr>
        <p:spPr>
          <a:xfrm>
            <a:off x="1255712" y="3954462"/>
            <a:ext cx="1474787" cy="9461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6"/>
          <p:cNvSpPr txBox="1"/>
          <p:nvPr/>
        </p:nvSpPr>
        <p:spPr>
          <a:xfrm>
            <a:off x="1627187" y="4605337"/>
            <a:ext cx="1474787" cy="9461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6"/>
          <p:cNvSpPr txBox="1"/>
          <p:nvPr/>
        </p:nvSpPr>
        <p:spPr>
          <a:xfrm>
            <a:off x="7526337" y="1997075"/>
            <a:ext cx="1560512" cy="9429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6"/>
          <p:cNvSpPr txBox="1"/>
          <p:nvPr/>
        </p:nvSpPr>
        <p:spPr>
          <a:xfrm>
            <a:off x="7078662" y="2652712"/>
            <a:ext cx="1587500" cy="9429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6"/>
          <p:cNvSpPr txBox="1"/>
          <p:nvPr/>
        </p:nvSpPr>
        <p:spPr>
          <a:xfrm>
            <a:off x="6707187" y="3302000"/>
            <a:ext cx="1703387" cy="94456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6"/>
          <p:cNvSpPr txBox="1"/>
          <p:nvPr/>
        </p:nvSpPr>
        <p:spPr>
          <a:xfrm>
            <a:off x="6335712" y="3954462"/>
            <a:ext cx="1646237" cy="9461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6"/>
          <p:cNvSpPr txBox="1"/>
          <p:nvPr/>
        </p:nvSpPr>
        <p:spPr>
          <a:xfrm>
            <a:off x="5964237" y="4605337"/>
            <a:ext cx="1473200" cy="9461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6"/>
          <p:cNvSpPr txBox="1"/>
          <p:nvPr/>
        </p:nvSpPr>
        <p:spPr>
          <a:xfrm>
            <a:off x="5591175" y="5241925"/>
            <a:ext cx="1474787" cy="9429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6"/>
          <p:cNvSpPr txBox="1"/>
          <p:nvPr/>
        </p:nvSpPr>
        <p:spPr>
          <a:xfrm>
            <a:off x="2017712" y="5356225"/>
            <a:ext cx="1474787" cy="78581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6"/>
          <p:cNvSpPr txBox="1"/>
          <p:nvPr/>
        </p:nvSpPr>
        <p:spPr>
          <a:xfrm>
            <a:off x="2022475" y="5321300"/>
            <a:ext cx="4524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502" name="Google Shape;502;p26"/>
          <p:cNvSpPr txBox="1"/>
          <p:nvPr/>
        </p:nvSpPr>
        <p:spPr>
          <a:xfrm>
            <a:off x="1577975" y="4586287"/>
            <a:ext cx="417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503" name="Google Shape;503;p26"/>
          <p:cNvSpPr txBox="1"/>
          <p:nvPr/>
        </p:nvSpPr>
        <p:spPr>
          <a:xfrm>
            <a:off x="1244600" y="3932237"/>
            <a:ext cx="474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</a:t>
            </a:r>
            <a:endParaRPr/>
          </a:p>
        </p:txBody>
      </p:sp>
      <p:sp>
        <p:nvSpPr>
          <p:cNvPr id="504" name="Google Shape;504;p26"/>
          <p:cNvSpPr txBox="1"/>
          <p:nvPr/>
        </p:nvSpPr>
        <p:spPr>
          <a:xfrm>
            <a:off x="887412" y="3333750"/>
            <a:ext cx="4968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505" name="Google Shape;505;p26"/>
          <p:cNvSpPr txBox="1"/>
          <p:nvPr/>
        </p:nvSpPr>
        <p:spPr>
          <a:xfrm>
            <a:off x="558800" y="2690812"/>
            <a:ext cx="4524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</a:t>
            </a:r>
            <a:endParaRPr/>
          </a:p>
        </p:txBody>
      </p:sp>
      <p:sp>
        <p:nvSpPr>
          <p:cNvPr id="506" name="Google Shape;506;p26"/>
          <p:cNvSpPr txBox="1"/>
          <p:nvPr/>
        </p:nvSpPr>
        <p:spPr>
          <a:xfrm>
            <a:off x="130175" y="2011362"/>
            <a:ext cx="4413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</a:t>
            </a:r>
            <a:endParaRPr/>
          </a:p>
        </p:txBody>
      </p:sp>
      <p:sp>
        <p:nvSpPr>
          <p:cNvPr id="507" name="Google Shape;507;p26"/>
          <p:cNvSpPr txBox="1"/>
          <p:nvPr/>
        </p:nvSpPr>
        <p:spPr>
          <a:xfrm>
            <a:off x="5710237" y="5313362"/>
            <a:ext cx="81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Coffee</a:t>
            </a:r>
            <a:endParaRPr/>
          </a:p>
        </p:txBody>
      </p:sp>
      <p:sp>
        <p:nvSpPr>
          <p:cNvPr id="508" name="Google Shape;508;p26"/>
          <p:cNvSpPr txBox="1"/>
          <p:nvPr/>
        </p:nvSpPr>
        <p:spPr>
          <a:xfrm>
            <a:off x="6096000" y="4608512"/>
            <a:ext cx="8810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509" name="Google Shape;509;p26"/>
          <p:cNvSpPr txBox="1"/>
          <p:nvPr/>
        </p:nvSpPr>
        <p:spPr>
          <a:xfrm>
            <a:off x="6437312" y="3932237"/>
            <a:ext cx="1174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Dictionary</a:t>
            </a:r>
            <a:endParaRPr/>
          </a:p>
        </p:txBody>
      </p:sp>
      <p:sp>
        <p:nvSpPr>
          <p:cNvPr id="510" name="Google Shape;510;p26"/>
          <p:cNvSpPr txBox="1"/>
          <p:nvPr/>
        </p:nvSpPr>
        <p:spPr>
          <a:xfrm>
            <a:off x="6781800" y="3367087"/>
            <a:ext cx="12080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Thesaurus</a:t>
            </a:r>
            <a:endParaRPr/>
          </a:p>
        </p:txBody>
      </p:sp>
      <p:sp>
        <p:nvSpPr>
          <p:cNvPr id="511" name="Google Shape;511;p26"/>
          <p:cNvSpPr txBox="1"/>
          <p:nvPr/>
        </p:nvSpPr>
        <p:spPr>
          <a:xfrm>
            <a:off x="7210425" y="2690812"/>
            <a:ext cx="11176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512" name="Google Shape;512;p26"/>
          <p:cNvSpPr txBox="1"/>
          <p:nvPr/>
        </p:nvSpPr>
        <p:spPr>
          <a:xfrm>
            <a:off x="7724775" y="2011362"/>
            <a:ext cx="7794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</a:t>
            </a:r>
            <a:endParaRPr/>
          </a:p>
        </p:txBody>
      </p:sp>
      <p:sp>
        <p:nvSpPr>
          <p:cNvPr id="513" name="Google Shape;513;p26"/>
          <p:cNvSpPr/>
          <p:nvPr/>
        </p:nvSpPr>
        <p:spPr>
          <a:xfrm>
            <a:off x="3248025" y="5449887"/>
            <a:ext cx="160337" cy="15875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6"/>
          <p:cNvSpPr/>
          <p:nvPr/>
        </p:nvSpPr>
        <p:spPr>
          <a:xfrm>
            <a:off x="2884487" y="4684712"/>
            <a:ext cx="160337" cy="1571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6"/>
          <p:cNvSpPr/>
          <p:nvPr/>
        </p:nvSpPr>
        <p:spPr>
          <a:xfrm>
            <a:off x="2489200" y="4016375"/>
            <a:ext cx="157162" cy="15398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6"/>
          <p:cNvSpPr/>
          <p:nvPr/>
        </p:nvSpPr>
        <p:spPr>
          <a:xfrm>
            <a:off x="2138362" y="3351212"/>
            <a:ext cx="158750" cy="1524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6"/>
          <p:cNvSpPr/>
          <p:nvPr/>
        </p:nvSpPr>
        <p:spPr>
          <a:xfrm>
            <a:off x="1765300" y="2719387"/>
            <a:ext cx="158750" cy="14605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6"/>
          <p:cNvSpPr/>
          <p:nvPr/>
        </p:nvSpPr>
        <p:spPr>
          <a:xfrm>
            <a:off x="1376362" y="2057400"/>
            <a:ext cx="158750" cy="1603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6"/>
          <p:cNvSpPr/>
          <p:nvPr/>
        </p:nvSpPr>
        <p:spPr>
          <a:xfrm>
            <a:off x="5649912" y="5300662"/>
            <a:ext cx="160337" cy="1746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6018212" y="4668837"/>
            <a:ext cx="160337" cy="1635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6"/>
          <p:cNvSpPr/>
          <p:nvPr/>
        </p:nvSpPr>
        <p:spPr>
          <a:xfrm>
            <a:off x="6364287" y="3995737"/>
            <a:ext cx="157162" cy="1746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6"/>
          <p:cNvSpPr/>
          <p:nvPr/>
        </p:nvSpPr>
        <p:spPr>
          <a:xfrm>
            <a:off x="6738937" y="3338512"/>
            <a:ext cx="158750" cy="1651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6"/>
          <p:cNvSpPr/>
          <p:nvPr/>
        </p:nvSpPr>
        <p:spPr>
          <a:xfrm>
            <a:off x="7124700" y="2713037"/>
            <a:ext cx="160337" cy="1476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6"/>
          <p:cNvSpPr/>
          <p:nvPr/>
        </p:nvSpPr>
        <p:spPr>
          <a:xfrm>
            <a:off x="7567612" y="2027237"/>
            <a:ext cx="157162" cy="17145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6"/>
          <p:cNvSpPr txBox="1"/>
          <p:nvPr/>
        </p:nvSpPr>
        <p:spPr>
          <a:xfrm>
            <a:off x="1020762" y="2776537"/>
            <a:ext cx="744537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526" name="Google Shape;526;p26"/>
          <p:cNvSpPr txBox="1"/>
          <p:nvPr/>
        </p:nvSpPr>
        <p:spPr>
          <a:xfrm>
            <a:off x="1420812" y="3367087"/>
            <a:ext cx="94138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527" name="Google Shape;527;p26"/>
          <p:cNvSpPr txBox="1"/>
          <p:nvPr/>
        </p:nvSpPr>
        <p:spPr>
          <a:xfrm>
            <a:off x="1601787" y="4619625"/>
            <a:ext cx="1584325" cy="7270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Coffee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 Dictionary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Thesaurus</a:t>
            </a:r>
            <a:endParaRPr/>
          </a:p>
        </p:txBody>
      </p:sp>
      <p:sp>
        <p:nvSpPr>
          <p:cNvPr id="528" name="Google Shape;528;p26"/>
          <p:cNvSpPr txBox="1"/>
          <p:nvPr/>
        </p:nvSpPr>
        <p:spPr>
          <a:xfrm>
            <a:off x="2373312" y="5424487"/>
            <a:ext cx="6651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</a:t>
            </a:r>
            <a:endParaRPr/>
          </a:p>
        </p:txBody>
      </p:sp>
      <p:sp>
        <p:nvSpPr>
          <p:cNvPr id="529" name="Google Shape;529;p26"/>
          <p:cNvSpPr txBox="1"/>
          <p:nvPr/>
        </p:nvSpPr>
        <p:spPr>
          <a:xfrm>
            <a:off x="8526462" y="2014537"/>
            <a:ext cx="3984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530" name="Google Shape;530;p26"/>
          <p:cNvSpPr txBox="1"/>
          <p:nvPr/>
        </p:nvSpPr>
        <p:spPr>
          <a:xfrm>
            <a:off x="8221662" y="2871787"/>
            <a:ext cx="43815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531" name="Google Shape;531;p26"/>
          <p:cNvSpPr txBox="1"/>
          <p:nvPr/>
        </p:nvSpPr>
        <p:spPr>
          <a:xfrm>
            <a:off x="8050212" y="3386137"/>
            <a:ext cx="36830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532" name="Google Shape;532;p26"/>
          <p:cNvSpPr txBox="1"/>
          <p:nvPr/>
        </p:nvSpPr>
        <p:spPr>
          <a:xfrm>
            <a:off x="7554912" y="4052887"/>
            <a:ext cx="36830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533" name="Google Shape;533;p26"/>
          <p:cNvSpPr txBox="1"/>
          <p:nvPr/>
        </p:nvSpPr>
        <p:spPr>
          <a:xfrm>
            <a:off x="7059612" y="4681537"/>
            <a:ext cx="438150" cy="7270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</a:t>
            </a:r>
            <a:endParaRPr/>
          </a:p>
        </p:txBody>
      </p:sp>
      <p:sp>
        <p:nvSpPr>
          <p:cNvPr id="534" name="Google Shape;534;p26"/>
          <p:cNvSpPr txBox="1"/>
          <p:nvPr/>
        </p:nvSpPr>
        <p:spPr>
          <a:xfrm>
            <a:off x="6640512" y="5329237"/>
            <a:ext cx="36830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535" name="Google Shape;535;p26"/>
          <p:cNvSpPr txBox="1"/>
          <p:nvPr>
            <p:ph idx="1" type="body"/>
          </p:nvPr>
        </p:nvSpPr>
        <p:spPr>
          <a:xfrm>
            <a:off x="609600" y="1054100"/>
            <a:ext cx="7886700" cy="3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i="1" lang="en-US" sz="48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And,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SzPts val="525"/>
              <a:buNone/>
            </a:pPr>
            <a:r>
              <a:t/>
            </a:r>
            <a:endParaRPr b="0" i="0" sz="700" u="none">
              <a:solidFill>
                <a:srgbClr val="7FFF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The data is recorded in </a:t>
            </a:r>
            <a:r>
              <a:rPr b="0" i="1" lang="en-US" sz="24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two</a:t>
            </a:r>
            <a:r>
              <a:rPr b="0" i="0" lang="en-US" sz="20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 places,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which is not good design,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since it </a:t>
            </a:r>
            <a:r>
              <a:rPr b="0" i="1" lang="en-US" sz="2800" u="sng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will</a:t>
            </a:r>
            <a:r>
              <a:rPr b="0" i="0" lang="en-US" sz="24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 get</a:t>
            </a:r>
            <a:endParaRPr/>
          </a:p>
          <a:p>
            <a:pPr indent="-285750" lvl="1" marL="74295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out of step</a:t>
            </a:r>
            <a:endParaRPr/>
          </a:p>
          <a:p>
            <a:pPr indent="-285750" lvl="1" marL="742950" rtl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00"/>
              <a:buNone/>
            </a:pPr>
            <a:r>
              <a:rPr b="0" i="0" lang="en-US" sz="16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(Murphy’s Law)</a:t>
            </a:r>
            <a:endParaRPr/>
          </a:p>
        </p:txBody>
      </p:sp>
      <p:sp>
        <p:nvSpPr>
          <p:cNvPr id="536" name="Google Shape;536;p26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7"/>
          <p:cNvSpPr txBox="1"/>
          <p:nvPr>
            <p:ph type="title"/>
          </p:nvPr>
        </p:nvSpPr>
        <p:spPr>
          <a:xfrm>
            <a:off x="76200" y="152400"/>
            <a:ext cx="8991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❹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Expand Many-to-Many Associations</a:t>
            </a:r>
            <a:endParaRPr/>
          </a:p>
        </p:txBody>
      </p:sp>
      <p:sp>
        <p:nvSpPr>
          <p:cNvPr id="542" name="Google Shape;542;p27"/>
          <p:cNvSpPr txBox="1"/>
          <p:nvPr/>
        </p:nvSpPr>
        <p:spPr>
          <a:xfrm>
            <a:off x="96837" y="2197100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7"/>
          <p:cNvSpPr txBox="1"/>
          <p:nvPr/>
        </p:nvSpPr>
        <p:spPr>
          <a:xfrm>
            <a:off x="468312" y="2852737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7"/>
          <p:cNvSpPr txBox="1"/>
          <p:nvPr/>
        </p:nvSpPr>
        <p:spPr>
          <a:xfrm>
            <a:off x="839787" y="3502025"/>
            <a:ext cx="1473200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7"/>
          <p:cNvSpPr txBox="1"/>
          <p:nvPr/>
        </p:nvSpPr>
        <p:spPr>
          <a:xfrm>
            <a:off x="1211262" y="4154487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7"/>
          <p:cNvSpPr txBox="1"/>
          <p:nvPr/>
        </p:nvSpPr>
        <p:spPr>
          <a:xfrm>
            <a:off x="1582737" y="4805362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7"/>
          <p:cNvSpPr txBox="1"/>
          <p:nvPr/>
        </p:nvSpPr>
        <p:spPr>
          <a:xfrm>
            <a:off x="7443787" y="2139950"/>
            <a:ext cx="1560512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7"/>
          <p:cNvSpPr txBox="1"/>
          <p:nvPr/>
        </p:nvSpPr>
        <p:spPr>
          <a:xfrm>
            <a:off x="7072312" y="2795587"/>
            <a:ext cx="15875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7"/>
          <p:cNvSpPr txBox="1"/>
          <p:nvPr/>
        </p:nvSpPr>
        <p:spPr>
          <a:xfrm>
            <a:off x="6700837" y="3444875"/>
            <a:ext cx="1703387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7"/>
          <p:cNvSpPr txBox="1"/>
          <p:nvPr/>
        </p:nvSpPr>
        <p:spPr>
          <a:xfrm>
            <a:off x="6329362" y="4097337"/>
            <a:ext cx="164623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7"/>
          <p:cNvSpPr txBox="1"/>
          <p:nvPr/>
        </p:nvSpPr>
        <p:spPr>
          <a:xfrm>
            <a:off x="5957887" y="4748212"/>
            <a:ext cx="1473200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7"/>
          <p:cNvSpPr txBox="1"/>
          <p:nvPr/>
        </p:nvSpPr>
        <p:spPr>
          <a:xfrm>
            <a:off x="5584825" y="5384800"/>
            <a:ext cx="1474787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7"/>
          <p:cNvSpPr txBox="1"/>
          <p:nvPr/>
        </p:nvSpPr>
        <p:spPr>
          <a:xfrm>
            <a:off x="1973262" y="5556250"/>
            <a:ext cx="1474787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7"/>
          <p:cNvSpPr txBox="1"/>
          <p:nvPr/>
        </p:nvSpPr>
        <p:spPr>
          <a:xfrm>
            <a:off x="1973262" y="548322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555" name="Google Shape;555;p27"/>
          <p:cNvSpPr txBox="1"/>
          <p:nvPr/>
        </p:nvSpPr>
        <p:spPr>
          <a:xfrm>
            <a:off x="1533525" y="4786312"/>
            <a:ext cx="417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556" name="Google Shape;556;p27"/>
          <p:cNvSpPr txBox="1"/>
          <p:nvPr/>
        </p:nvSpPr>
        <p:spPr>
          <a:xfrm>
            <a:off x="1200150" y="4132262"/>
            <a:ext cx="474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</a:t>
            </a:r>
            <a:endParaRPr/>
          </a:p>
        </p:txBody>
      </p:sp>
      <p:sp>
        <p:nvSpPr>
          <p:cNvPr id="557" name="Google Shape;557;p27"/>
          <p:cNvSpPr txBox="1"/>
          <p:nvPr/>
        </p:nvSpPr>
        <p:spPr>
          <a:xfrm>
            <a:off x="857250" y="3567112"/>
            <a:ext cx="4968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558" name="Google Shape;558;p27"/>
          <p:cNvSpPr txBox="1"/>
          <p:nvPr/>
        </p:nvSpPr>
        <p:spPr>
          <a:xfrm>
            <a:off x="514350" y="2890837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</a:t>
            </a:r>
            <a:endParaRPr/>
          </a:p>
        </p:txBody>
      </p:sp>
      <p:sp>
        <p:nvSpPr>
          <p:cNvPr id="559" name="Google Shape;559;p27"/>
          <p:cNvSpPr txBox="1"/>
          <p:nvPr/>
        </p:nvSpPr>
        <p:spPr>
          <a:xfrm>
            <a:off x="85725" y="2211387"/>
            <a:ext cx="4397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</a:t>
            </a:r>
            <a:endParaRPr/>
          </a:p>
        </p:txBody>
      </p:sp>
      <p:sp>
        <p:nvSpPr>
          <p:cNvPr id="560" name="Google Shape;560;p27"/>
          <p:cNvSpPr txBox="1"/>
          <p:nvPr/>
        </p:nvSpPr>
        <p:spPr>
          <a:xfrm>
            <a:off x="5703887" y="5456237"/>
            <a:ext cx="81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Coffee</a:t>
            </a:r>
            <a:endParaRPr/>
          </a:p>
        </p:txBody>
      </p:sp>
      <p:sp>
        <p:nvSpPr>
          <p:cNvPr id="561" name="Google Shape;561;p27"/>
          <p:cNvSpPr txBox="1"/>
          <p:nvPr/>
        </p:nvSpPr>
        <p:spPr>
          <a:xfrm>
            <a:off x="6089650" y="4751387"/>
            <a:ext cx="879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562" name="Google Shape;562;p27"/>
          <p:cNvSpPr txBox="1"/>
          <p:nvPr/>
        </p:nvSpPr>
        <p:spPr>
          <a:xfrm>
            <a:off x="6430962" y="4075112"/>
            <a:ext cx="1174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Dictionary</a:t>
            </a:r>
            <a:endParaRPr/>
          </a:p>
        </p:txBody>
      </p:sp>
      <p:sp>
        <p:nvSpPr>
          <p:cNvPr id="563" name="Google Shape;563;p27"/>
          <p:cNvSpPr txBox="1"/>
          <p:nvPr/>
        </p:nvSpPr>
        <p:spPr>
          <a:xfrm>
            <a:off x="6775450" y="3509962"/>
            <a:ext cx="120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Thesaurus</a:t>
            </a:r>
            <a:endParaRPr/>
          </a:p>
        </p:txBody>
      </p:sp>
      <p:sp>
        <p:nvSpPr>
          <p:cNvPr id="564" name="Google Shape;564;p27"/>
          <p:cNvSpPr txBox="1"/>
          <p:nvPr/>
        </p:nvSpPr>
        <p:spPr>
          <a:xfrm>
            <a:off x="7204075" y="2833687"/>
            <a:ext cx="11160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565" name="Google Shape;565;p27"/>
          <p:cNvSpPr txBox="1"/>
          <p:nvPr/>
        </p:nvSpPr>
        <p:spPr>
          <a:xfrm>
            <a:off x="7718425" y="2154237"/>
            <a:ext cx="7794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</a:t>
            </a:r>
            <a:endParaRPr/>
          </a:p>
        </p:txBody>
      </p:sp>
      <p:sp>
        <p:nvSpPr>
          <p:cNvPr id="566" name="Google Shape;566;p27"/>
          <p:cNvSpPr/>
          <p:nvPr/>
        </p:nvSpPr>
        <p:spPr>
          <a:xfrm>
            <a:off x="3203575" y="5649912"/>
            <a:ext cx="160337" cy="2127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7"/>
          <p:cNvSpPr/>
          <p:nvPr/>
        </p:nvSpPr>
        <p:spPr>
          <a:xfrm>
            <a:off x="2840037" y="4884737"/>
            <a:ext cx="160337" cy="2127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7"/>
          <p:cNvSpPr/>
          <p:nvPr/>
        </p:nvSpPr>
        <p:spPr>
          <a:xfrm>
            <a:off x="2444750" y="4216400"/>
            <a:ext cx="157162" cy="2111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7"/>
          <p:cNvSpPr/>
          <p:nvPr/>
        </p:nvSpPr>
        <p:spPr>
          <a:xfrm>
            <a:off x="2093912" y="3551237"/>
            <a:ext cx="158750" cy="2127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7"/>
          <p:cNvSpPr/>
          <p:nvPr/>
        </p:nvSpPr>
        <p:spPr>
          <a:xfrm>
            <a:off x="1720850" y="2919412"/>
            <a:ext cx="158750" cy="2127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7"/>
          <p:cNvSpPr/>
          <p:nvPr/>
        </p:nvSpPr>
        <p:spPr>
          <a:xfrm>
            <a:off x="1346200" y="2262187"/>
            <a:ext cx="158750" cy="2143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7"/>
          <p:cNvSpPr/>
          <p:nvPr/>
        </p:nvSpPr>
        <p:spPr>
          <a:xfrm>
            <a:off x="5643562" y="5443537"/>
            <a:ext cx="160337" cy="2143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7"/>
          <p:cNvSpPr/>
          <p:nvPr/>
        </p:nvSpPr>
        <p:spPr>
          <a:xfrm>
            <a:off x="6011862" y="4811712"/>
            <a:ext cx="160337" cy="2127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7"/>
          <p:cNvSpPr/>
          <p:nvPr/>
        </p:nvSpPr>
        <p:spPr>
          <a:xfrm>
            <a:off x="6357937" y="4138612"/>
            <a:ext cx="157162" cy="2127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7"/>
          <p:cNvSpPr/>
          <p:nvPr/>
        </p:nvSpPr>
        <p:spPr>
          <a:xfrm>
            <a:off x="6732587" y="3481387"/>
            <a:ext cx="158750" cy="2127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7"/>
          <p:cNvSpPr/>
          <p:nvPr/>
        </p:nvSpPr>
        <p:spPr>
          <a:xfrm>
            <a:off x="7118350" y="2855912"/>
            <a:ext cx="160337" cy="2143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7"/>
          <p:cNvSpPr/>
          <p:nvPr/>
        </p:nvSpPr>
        <p:spPr>
          <a:xfrm>
            <a:off x="7485062" y="2189162"/>
            <a:ext cx="157162" cy="21272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7"/>
          <p:cNvSpPr txBox="1"/>
          <p:nvPr/>
        </p:nvSpPr>
        <p:spPr>
          <a:xfrm>
            <a:off x="976312" y="2976562"/>
            <a:ext cx="74295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579" name="Google Shape;579;p27"/>
          <p:cNvSpPr txBox="1"/>
          <p:nvPr/>
        </p:nvSpPr>
        <p:spPr>
          <a:xfrm>
            <a:off x="1376362" y="3567112"/>
            <a:ext cx="939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580" name="Google Shape;580;p27"/>
          <p:cNvSpPr txBox="1"/>
          <p:nvPr/>
        </p:nvSpPr>
        <p:spPr>
          <a:xfrm>
            <a:off x="1547812" y="4843462"/>
            <a:ext cx="1581150" cy="7270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Coffee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 Dictionary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Thesaurus</a:t>
            </a:r>
            <a:endParaRPr/>
          </a:p>
        </p:txBody>
      </p:sp>
      <p:sp>
        <p:nvSpPr>
          <p:cNvPr id="581" name="Google Shape;581;p27"/>
          <p:cNvSpPr txBox="1"/>
          <p:nvPr/>
        </p:nvSpPr>
        <p:spPr>
          <a:xfrm>
            <a:off x="2328862" y="5624512"/>
            <a:ext cx="6651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</a:t>
            </a:r>
            <a:endParaRPr/>
          </a:p>
        </p:txBody>
      </p:sp>
      <p:sp>
        <p:nvSpPr>
          <p:cNvPr id="582" name="Google Shape;582;p27"/>
          <p:cNvSpPr txBox="1"/>
          <p:nvPr/>
        </p:nvSpPr>
        <p:spPr>
          <a:xfrm>
            <a:off x="8520112" y="2157412"/>
            <a:ext cx="3984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583" name="Google Shape;583;p27"/>
          <p:cNvSpPr txBox="1"/>
          <p:nvPr/>
        </p:nvSpPr>
        <p:spPr>
          <a:xfrm>
            <a:off x="8215312" y="3014662"/>
            <a:ext cx="43815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584" name="Google Shape;584;p27"/>
          <p:cNvSpPr txBox="1"/>
          <p:nvPr/>
        </p:nvSpPr>
        <p:spPr>
          <a:xfrm>
            <a:off x="8043862" y="3529012"/>
            <a:ext cx="36830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585" name="Google Shape;585;p27"/>
          <p:cNvSpPr txBox="1"/>
          <p:nvPr/>
        </p:nvSpPr>
        <p:spPr>
          <a:xfrm>
            <a:off x="7548562" y="4195762"/>
            <a:ext cx="36830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586" name="Google Shape;586;p27"/>
          <p:cNvSpPr txBox="1"/>
          <p:nvPr/>
        </p:nvSpPr>
        <p:spPr>
          <a:xfrm>
            <a:off x="7053262" y="4824412"/>
            <a:ext cx="438150" cy="7270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</a:t>
            </a:r>
            <a:endParaRPr/>
          </a:p>
        </p:txBody>
      </p:sp>
      <p:sp>
        <p:nvSpPr>
          <p:cNvPr id="587" name="Google Shape;587;p27"/>
          <p:cNvSpPr txBox="1"/>
          <p:nvPr/>
        </p:nvSpPr>
        <p:spPr>
          <a:xfrm>
            <a:off x="6634162" y="5472112"/>
            <a:ext cx="36830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588" name="Google Shape;588;p27"/>
          <p:cNvSpPr/>
          <p:nvPr/>
        </p:nvSpPr>
        <p:spPr>
          <a:xfrm>
            <a:off x="2957512" y="5043487"/>
            <a:ext cx="2754312" cy="520700"/>
          </a:xfrm>
          <a:custGeom>
            <a:rect b="b" l="l" r="r" t="t"/>
            <a:pathLst>
              <a:path extrusionOk="0" fill="none" h="21600" w="21612">
                <a:moveTo>
                  <a:pt x="0" y="0"/>
                </a:moveTo>
                <a:cubicBezTo>
                  <a:pt x="4" y="0"/>
                  <a:pt x="8" y="-1"/>
                  <a:pt x="12" y="0"/>
                </a:cubicBezTo>
                <a:cubicBezTo>
                  <a:pt x="11941" y="0"/>
                  <a:pt x="21612" y="9670"/>
                  <a:pt x="21612" y="21600"/>
                </a:cubicBezTo>
              </a:path>
              <a:path extrusionOk="0" h="21600" w="21612">
                <a:moveTo>
                  <a:pt x="0" y="0"/>
                </a:moveTo>
                <a:cubicBezTo>
                  <a:pt x="4" y="0"/>
                  <a:pt x="8" y="-1"/>
                  <a:pt x="12" y="0"/>
                </a:cubicBezTo>
                <a:cubicBezTo>
                  <a:pt x="11941" y="0"/>
                  <a:pt x="21612" y="9670"/>
                  <a:pt x="21612" y="21600"/>
                </a:cubicBezTo>
                <a:lnTo>
                  <a:pt x="12" y="21600"/>
                </a:lnTo>
                <a:lnTo>
                  <a:pt x="0" y="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7"/>
          <p:cNvSpPr/>
          <p:nvPr/>
        </p:nvSpPr>
        <p:spPr>
          <a:xfrm>
            <a:off x="2941637" y="4516437"/>
            <a:ext cx="1508125" cy="55245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79"/>
                  <a:pt x="9656" y="12"/>
                  <a:pt x="21577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79"/>
                  <a:pt x="9656" y="12"/>
                  <a:pt x="21577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7"/>
          <p:cNvSpPr/>
          <p:nvPr/>
        </p:nvSpPr>
        <p:spPr>
          <a:xfrm>
            <a:off x="4462462" y="4518025"/>
            <a:ext cx="1611312" cy="438150"/>
          </a:xfrm>
          <a:custGeom>
            <a:rect b="b" l="l" r="r" t="t"/>
            <a:pathLst>
              <a:path extrusionOk="0" fill="none" h="21600" w="21621">
                <a:moveTo>
                  <a:pt x="0" y="0"/>
                </a:moveTo>
                <a:cubicBezTo>
                  <a:pt x="7" y="0"/>
                  <a:pt x="14" y="-1"/>
                  <a:pt x="21" y="0"/>
                </a:cubicBezTo>
                <a:cubicBezTo>
                  <a:pt x="11919" y="0"/>
                  <a:pt x="21577" y="9623"/>
                  <a:pt x="21620" y="21522"/>
                </a:cubicBezTo>
              </a:path>
              <a:path extrusionOk="0" h="21600" w="21621">
                <a:moveTo>
                  <a:pt x="0" y="0"/>
                </a:moveTo>
                <a:cubicBezTo>
                  <a:pt x="7" y="0"/>
                  <a:pt x="14" y="-1"/>
                  <a:pt x="21" y="0"/>
                </a:cubicBezTo>
                <a:cubicBezTo>
                  <a:pt x="11919" y="0"/>
                  <a:pt x="21577" y="9623"/>
                  <a:pt x="21620" y="21522"/>
                </a:cubicBezTo>
                <a:lnTo>
                  <a:pt x="21" y="21600"/>
                </a:lnTo>
                <a:lnTo>
                  <a:pt x="0" y="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7"/>
          <p:cNvSpPr/>
          <p:nvPr/>
        </p:nvSpPr>
        <p:spPr>
          <a:xfrm>
            <a:off x="2941637" y="3608387"/>
            <a:ext cx="3879850" cy="1431925"/>
          </a:xfrm>
          <a:custGeom>
            <a:rect b="b" l="l" r="r" t="t"/>
            <a:pathLst>
              <a:path extrusionOk="0" fill="none" h="21600" w="21600">
                <a:moveTo>
                  <a:pt x="0" y="21576"/>
                </a:moveTo>
                <a:cubicBezTo>
                  <a:pt x="13" y="9659"/>
                  <a:pt x="9674" y="4"/>
                  <a:pt x="21591" y="0"/>
                </a:cubicBezTo>
              </a:path>
              <a:path extrusionOk="0" h="21600" w="21600">
                <a:moveTo>
                  <a:pt x="0" y="21576"/>
                </a:moveTo>
                <a:cubicBezTo>
                  <a:pt x="13" y="9659"/>
                  <a:pt x="9674" y="4"/>
                  <a:pt x="21591" y="0"/>
                </a:cubicBezTo>
                <a:lnTo>
                  <a:pt x="21600" y="21600"/>
                </a:lnTo>
                <a:lnTo>
                  <a:pt x="0" y="21576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7"/>
          <p:cNvSpPr/>
          <p:nvPr/>
        </p:nvSpPr>
        <p:spPr>
          <a:xfrm>
            <a:off x="2208212" y="3660775"/>
            <a:ext cx="3890962" cy="1233487"/>
          </a:xfrm>
          <a:custGeom>
            <a:rect b="b" l="l" r="r" t="t"/>
            <a:pathLst>
              <a:path extrusionOk="0" fill="none" h="21600" w="21609">
                <a:moveTo>
                  <a:pt x="0" y="0"/>
                </a:moveTo>
                <a:cubicBezTo>
                  <a:pt x="3" y="0"/>
                  <a:pt x="6" y="-1"/>
                  <a:pt x="9" y="0"/>
                </a:cubicBezTo>
                <a:cubicBezTo>
                  <a:pt x="11927" y="0"/>
                  <a:pt x="21593" y="9653"/>
                  <a:pt x="21608" y="21572"/>
                </a:cubicBezTo>
              </a:path>
              <a:path extrusionOk="0" h="21600" w="21609">
                <a:moveTo>
                  <a:pt x="0" y="0"/>
                </a:moveTo>
                <a:cubicBezTo>
                  <a:pt x="3" y="0"/>
                  <a:pt x="6" y="-1"/>
                  <a:pt x="9" y="0"/>
                </a:cubicBezTo>
                <a:cubicBezTo>
                  <a:pt x="11927" y="0"/>
                  <a:pt x="21593" y="9653"/>
                  <a:pt x="21608" y="21572"/>
                </a:cubicBezTo>
                <a:lnTo>
                  <a:pt x="9" y="21600"/>
                </a:lnTo>
                <a:lnTo>
                  <a:pt x="0" y="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7"/>
          <p:cNvSpPr/>
          <p:nvPr/>
        </p:nvSpPr>
        <p:spPr>
          <a:xfrm>
            <a:off x="1847850" y="3013075"/>
            <a:ext cx="4225925" cy="1725612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7"/>
          <p:cNvSpPr/>
          <p:nvPr/>
        </p:nvSpPr>
        <p:spPr>
          <a:xfrm>
            <a:off x="2941637" y="4016375"/>
            <a:ext cx="2981325" cy="1023937"/>
          </a:xfrm>
          <a:custGeom>
            <a:rect b="b" l="l" r="r" t="t"/>
            <a:pathLst>
              <a:path extrusionOk="0" fill="none" h="21600" w="21600">
                <a:moveTo>
                  <a:pt x="0" y="21566"/>
                </a:moveTo>
                <a:cubicBezTo>
                  <a:pt x="18" y="9654"/>
                  <a:pt x="9677" y="6"/>
                  <a:pt x="21589" y="0"/>
                </a:cubicBezTo>
              </a:path>
              <a:path extrusionOk="0" h="21600" w="21600">
                <a:moveTo>
                  <a:pt x="0" y="21566"/>
                </a:moveTo>
                <a:cubicBezTo>
                  <a:pt x="18" y="9654"/>
                  <a:pt x="9677" y="6"/>
                  <a:pt x="21589" y="0"/>
                </a:cubicBezTo>
                <a:lnTo>
                  <a:pt x="21600" y="21600"/>
                </a:lnTo>
                <a:lnTo>
                  <a:pt x="0" y="21566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7"/>
          <p:cNvSpPr/>
          <p:nvPr/>
        </p:nvSpPr>
        <p:spPr>
          <a:xfrm>
            <a:off x="5921375" y="4014787"/>
            <a:ext cx="533400" cy="273050"/>
          </a:xfrm>
          <a:custGeom>
            <a:rect b="b" l="l" r="r" t="t"/>
            <a:pathLst>
              <a:path extrusionOk="0" fill="none" h="21600" w="21664">
                <a:moveTo>
                  <a:pt x="0" y="0"/>
                </a:moveTo>
                <a:cubicBezTo>
                  <a:pt x="21" y="0"/>
                  <a:pt x="42" y="-1"/>
                  <a:pt x="64" y="0"/>
                </a:cubicBezTo>
                <a:cubicBezTo>
                  <a:pt x="11993" y="0"/>
                  <a:pt x="21664" y="9670"/>
                  <a:pt x="21664" y="21600"/>
                </a:cubicBezTo>
              </a:path>
              <a:path extrusionOk="0" h="21600" w="21664">
                <a:moveTo>
                  <a:pt x="0" y="0"/>
                </a:moveTo>
                <a:cubicBezTo>
                  <a:pt x="21" y="0"/>
                  <a:pt x="42" y="-1"/>
                  <a:pt x="64" y="0"/>
                </a:cubicBezTo>
                <a:cubicBezTo>
                  <a:pt x="11993" y="0"/>
                  <a:pt x="21664" y="9670"/>
                  <a:pt x="21664" y="21600"/>
                </a:cubicBezTo>
                <a:lnTo>
                  <a:pt x="64" y="21600"/>
                </a:lnTo>
                <a:lnTo>
                  <a:pt x="0" y="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2219325" y="2979737"/>
            <a:ext cx="4927600" cy="646112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73"/>
                  <a:pt x="9666" y="3"/>
                  <a:pt x="21593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73"/>
                  <a:pt x="9666" y="3"/>
                  <a:pt x="21593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7"/>
          <p:cNvSpPr/>
          <p:nvPr/>
        </p:nvSpPr>
        <p:spPr>
          <a:xfrm>
            <a:off x="3305175" y="2274887"/>
            <a:ext cx="4259262" cy="344170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73"/>
                  <a:pt x="9665" y="4"/>
                  <a:pt x="21592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73"/>
                  <a:pt x="9665" y="4"/>
                  <a:pt x="21592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7"/>
          <p:cNvSpPr txBox="1"/>
          <p:nvPr>
            <p:ph idx="1" type="body"/>
          </p:nvPr>
        </p:nvSpPr>
        <p:spPr>
          <a:xfrm>
            <a:off x="0" y="1276350"/>
            <a:ext cx="9144000" cy="474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32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Not only that, </a:t>
            </a: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but where would we write the date, quantity and selling price for each sale?</a:t>
            </a:r>
            <a:endParaRPr b="0" i="0" sz="32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50"/>
              <a:buNone/>
            </a:pPr>
            <a:r>
              <a:t/>
            </a:r>
            <a:endParaRPr b="0" i="0" sz="10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SzPts val="6600"/>
              <a:buNone/>
            </a:pPr>
            <a:r>
              <a:rPr b="0" i="1" lang="en-US" sz="8800" u="sng">
                <a:solidFill>
                  <a:srgbClr val="00FF00"/>
                </a:solidFill>
                <a:latin typeface="Arial Black"/>
                <a:ea typeface="Arial Black"/>
                <a:cs typeface="Arial Black"/>
                <a:sym typeface="Arial Black"/>
              </a:rPr>
              <a:t>On the strings, </a:t>
            </a:r>
            <a:endParaRPr/>
          </a:p>
          <a:p>
            <a:pPr indent="-285750" lvl="1" marL="742950" rtl="0" algn="ctr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SzPts val="6600"/>
              <a:buNone/>
            </a:pPr>
            <a:r>
              <a:rPr b="0" i="1" lang="en-US" sz="8800" u="sng">
                <a:solidFill>
                  <a:srgbClr val="00FF00"/>
                </a:solidFill>
                <a:latin typeface="Arial Black"/>
                <a:ea typeface="Arial Black"/>
                <a:cs typeface="Arial Black"/>
                <a:sym typeface="Arial Black"/>
              </a:rPr>
              <a:t>perhaps?</a:t>
            </a:r>
            <a:endParaRPr/>
          </a:p>
        </p:txBody>
      </p:sp>
      <p:sp>
        <p:nvSpPr>
          <p:cNvPr id="599" name="Google Shape;599;p27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8"/>
          <p:cNvSpPr txBox="1"/>
          <p:nvPr>
            <p:ph type="title"/>
          </p:nvPr>
        </p:nvSpPr>
        <p:spPr>
          <a:xfrm>
            <a:off x="76200" y="152400"/>
            <a:ext cx="8991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❹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Expand Many-to-Many Associations</a:t>
            </a:r>
            <a:endParaRPr/>
          </a:p>
        </p:txBody>
      </p:sp>
      <p:sp>
        <p:nvSpPr>
          <p:cNvPr id="605" name="Google Shape;605;p28"/>
          <p:cNvSpPr txBox="1"/>
          <p:nvPr/>
        </p:nvSpPr>
        <p:spPr>
          <a:xfrm>
            <a:off x="134937" y="2139950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8"/>
          <p:cNvSpPr txBox="1"/>
          <p:nvPr/>
        </p:nvSpPr>
        <p:spPr>
          <a:xfrm>
            <a:off x="373062" y="2547937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8"/>
          <p:cNvSpPr txBox="1"/>
          <p:nvPr/>
        </p:nvSpPr>
        <p:spPr>
          <a:xfrm>
            <a:off x="630237" y="3044825"/>
            <a:ext cx="1473200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8"/>
          <p:cNvSpPr txBox="1"/>
          <p:nvPr/>
        </p:nvSpPr>
        <p:spPr>
          <a:xfrm>
            <a:off x="925512" y="3678237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8"/>
          <p:cNvSpPr txBox="1"/>
          <p:nvPr/>
        </p:nvSpPr>
        <p:spPr>
          <a:xfrm>
            <a:off x="1220787" y="4119562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8"/>
          <p:cNvSpPr txBox="1"/>
          <p:nvPr/>
        </p:nvSpPr>
        <p:spPr>
          <a:xfrm>
            <a:off x="7443787" y="2139950"/>
            <a:ext cx="1560512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8"/>
          <p:cNvSpPr txBox="1"/>
          <p:nvPr/>
        </p:nvSpPr>
        <p:spPr>
          <a:xfrm>
            <a:off x="7167562" y="2540000"/>
            <a:ext cx="15875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8"/>
          <p:cNvSpPr txBox="1"/>
          <p:nvPr/>
        </p:nvSpPr>
        <p:spPr>
          <a:xfrm>
            <a:off x="6834187" y="3035300"/>
            <a:ext cx="1703387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8"/>
          <p:cNvSpPr txBox="1"/>
          <p:nvPr/>
        </p:nvSpPr>
        <p:spPr>
          <a:xfrm>
            <a:off x="6653212" y="3687762"/>
            <a:ext cx="164623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8"/>
          <p:cNvSpPr txBox="1"/>
          <p:nvPr/>
        </p:nvSpPr>
        <p:spPr>
          <a:xfrm>
            <a:off x="6491287" y="4140200"/>
            <a:ext cx="1473200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8"/>
          <p:cNvSpPr txBox="1"/>
          <p:nvPr/>
        </p:nvSpPr>
        <p:spPr>
          <a:xfrm>
            <a:off x="6118225" y="4776787"/>
            <a:ext cx="1474787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8"/>
          <p:cNvSpPr txBox="1"/>
          <p:nvPr/>
        </p:nvSpPr>
        <p:spPr>
          <a:xfrm>
            <a:off x="1611312" y="4870450"/>
            <a:ext cx="1474787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8"/>
          <p:cNvSpPr txBox="1"/>
          <p:nvPr/>
        </p:nvSpPr>
        <p:spPr>
          <a:xfrm>
            <a:off x="1611312" y="481647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618" name="Google Shape;618;p28"/>
          <p:cNvSpPr txBox="1"/>
          <p:nvPr/>
        </p:nvSpPr>
        <p:spPr>
          <a:xfrm>
            <a:off x="1171575" y="4100512"/>
            <a:ext cx="417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619" name="Google Shape;619;p28"/>
          <p:cNvSpPr txBox="1"/>
          <p:nvPr/>
        </p:nvSpPr>
        <p:spPr>
          <a:xfrm>
            <a:off x="914400" y="3656012"/>
            <a:ext cx="474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</a:t>
            </a:r>
            <a:endParaRPr/>
          </a:p>
        </p:txBody>
      </p:sp>
      <p:sp>
        <p:nvSpPr>
          <p:cNvPr id="620" name="Google Shape;620;p28"/>
          <p:cNvSpPr txBox="1"/>
          <p:nvPr/>
        </p:nvSpPr>
        <p:spPr>
          <a:xfrm>
            <a:off x="647700" y="3109912"/>
            <a:ext cx="4968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621" name="Google Shape;621;p28"/>
          <p:cNvSpPr txBox="1"/>
          <p:nvPr/>
        </p:nvSpPr>
        <p:spPr>
          <a:xfrm>
            <a:off x="419100" y="2586037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</a:t>
            </a:r>
            <a:endParaRPr/>
          </a:p>
        </p:txBody>
      </p:sp>
      <p:sp>
        <p:nvSpPr>
          <p:cNvPr id="622" name="Google Shape;622;p28"/>
          <p:cNvSpPr txBox="1"/>
          <p:nvPr/>
        </p:nvSpPr>
        <p:spPr>
          <a:xfrm>
            <a:off x="123825" y="2154237"/>
            <a:ext cx="4397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</a:t>
            </a:r>
            <a:endParaRPr/>
          </a:p>
        </p:txBody>
      </p:sp>
      <p:sp>
        <p:nvSpPr>
          <p:cNvPr id="623" name="Google Shape;623;p28"/>
          <p:cNvSpPr/>
          <p:nvPr/>
        </p:nvSpPr>
        <p:spPr>
          <a:xfrm>
            <a:off x="2841625" y="4964112"/>
            <a:ext cx="160337" cy="1635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8"/>
          <p:cNvSpPr/>
          <p:nvPr/>
        </p:nvSpPr>
        <p:spPr>
          <a:xfrm>
            <a:off x="2478087" y="4198937"/>
            <a:ext cx="160337" cy="1428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8"/>
          <p:cNvSpPr/>
          <p:nvPr/>
        </p:nvSpPr>
        <p:spPr>
          <a:xfrm>
            <a:off x="2159000" y="3740150"/>
            <a:ext cx="157162" cy="1635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8"/>
          <p:cNvSpPr/>
          <p:nvPr/>
        </p:nvSpPr>
        <p:spPr>
          <a:xfrm>
            <a:off x="1884362" y="3094037"/>
            <a:ext cx="158750" cy="1524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8"/>
          <p:cNvSpPr/>
          <p:nvPr/>
        </p:nvSpPr>
        <p:spPr>
          <a:xfrm>
            <a:off x="1625600" y="2614612"/>
            <a:ext cx="158750" cy="1603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8"/>
          <p:cNvSpPr/>
          <p:nvPr/>
        </p:nvSpPr>
        <p:spPr>
          <a:xfrm>
            <a:off x="1384300" y="2205037"/>
            <a:ext cx="158750" cy="1651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8"/>
          <p:cNvSpPr/>
          <p:nvPr/>
        </p:nvSpPr>
        <p:spPr>
          <a:xfrm>
            <a:off x="6143625" y="483552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8"/>
          <p:cNvSpPr/>
          <p:nvPr/>
        </p:nvSpPr>
        <p:spPr>
          <a:xfrm>
            <a:off x="6545262" y="4203700"/>
            <a:ext cx="160337" cy="1571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8"/>
          <p:cNvSpPr/>
          <p:nvPr/>
        </p:nvSpPr>
        <p:spPr>
          <a:xfrm>
            <a:off x="6681787" y="3729037"/>
            <a:ext cx="157162" cy="1698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8"/>
          <p:cNvSpPr/>
          <p:nvPr/>
        </p:nvSpPr>
        <p:spPr>
          <a:xfrm>
            <a:off x="6865937" y="3071812"/>
            <a:ext cx="158750" cy="1603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8"/>
          <p:cNvSpPr/>
          <p:nvPr/>
        </p:nvSpPr>
        <p:spPr>
          <a:xfrm>
            <a:off x="7213600" y="2600325"/>
            <a:ext cx="160337" cy="1698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8"/>
          <p:cNvSpPr/>
          <p:nvPr/>
        </p:nvSpPr>
        <p:spPr>
          <a:xfrm>
            <a:off x="7485062" y="2189162"/>
            <a:ext cx="157162" cy="1524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8"/>
          <p:cNvSpPr txBox="1"/>
          <p:nvPr/>
        </p:nvSpPr>
        <p:spPr>
          <a:xfrm>
            <a:off x="6446837" y="4829175"/>
            <a:ext cx="81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Coffee</a:t>
            </a:r>
            <a:endParaRPr/>
          </a:p>
        </p:txBody>
      </p:sp>
      <p:sp>
        <p:nvSpPr>
          <p:cNvPr id="636" name="Google Shape;636;p28"/>
          <p:cNvSpPr txBox="1"/>
          <p:nvPr/>
        </p:nvSpPr>
        <p:spPr>
          <a:xfrm>
            <a:off x="6851650" y="4124325"/>
            <a:ext cx="879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637" name="Google Shape;637;p28"/>
          <p:cNvSpPr txBox="1"/>
          <p:nvPr/>
        </p:nvSpPr>
        <p:spPr>
          <a:xfrm>
            <a:off x="7069137" y="3665537"/>
            <a:ext cx="1174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Dictionary</a:t>
            </a:r>
            <a:endParaRPr/>
          </a:p>
        </p:txBody>
      </p:sp>
      <p:sp>
        <p:nvSpPr>
          <p:cNvPr id="638" name="Google Shape;638;p28"/>
          <p:cNvSpPr txBox="1"/>
          <p:nvPr/>
        </p:nvSpPr>
        <p:spPr>
          <a:xfrm>
            <a:off x="7213600" y="3100387"/>
            <a:ext cx="120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Thesaurus</a:t>
            </a:r>
            <a:endParaRPr/>
          </a:p>
        </p:txBody>
      </p:sp>
      <p:sp>
        <p:nvSpPr>
          <p:cNvPr id="639" name="Google Shape;639;p28"/>
          <p:cNvSpPr txBox="1"/>
          <p:nvPr/>
        </p:nvSpPr>
        <p:spPr>
          <a:xfrm>
            <a:off x="7527925" y="2578100"/>
            <a:ext cx="11160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640" name="Google Shape;640;p28"/>
          <p:cNvSpPr txBox="1"/>
          <p:nvPr/>
        </p:nvSpPr>
        <p:spPr>
          <a:xfrm>
            <a:off x="7775575" y="2154237"/>
            <a:ext cx="7794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</a:t>
            </a:r>
            <a:endParaRPr/>
          </a:p>
        </p:txBody>
      </p:sp>
      <p:sp>
        <p:nvSpPr>
          <p:cNvPr id="641" name="Google Shape;641;p28"/>
          <p:cNvSpPr txBox="1"/>
          <p:nvPr/>
        </p:nvSpPr>
        <p:spPr>
          <a:xfrm>
            <a:off x="3635375" y="1765300"/>
            <a:ext cx="1597025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8"/>
          <p:cNvSpPr txBox="1"/>
          <p:nvPr/>
        </p:nvSpPr>
        <p:spPr>
          <a:xfrm>
            <a:off x="3897312" y="174942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643" name="Google Shape;643;p28"/>
          <p:cNvSpPr/>
          <p:nvPr/>
        </p:nvSpPr>
        <p:spPr>
          <a:xfrm>
            <a:off x="4932362" y="1820862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8"/>
          <p:cNvSpPr txBox="1"/>
          <p:nvPr/>
        </p:nvSpPr>
        <p:spPr>
          <a:xfrm>
            <a:off x="4224337" y="1771650"/>
            <a:ext cx="7540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Pencils</a:t>
            </a:r>
            <a:endParaRPr/>
          </a:p>
        </p:txBody>
      </p:sp>
      <p:sp>
        <p:nvSpPr>
          <p:cNvPr id="645" name="Google Shape;645;p28"/>
          <p:cNvSpPr/>
          <p:nvPr/>
        </p:nvSpPr>
        <p:spPr>
          <a:xfrm>
            <a:off x="3736975" y="182562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8"/>
          <p:cNvSpPr txBox="1"/>
          <p:nvPr>
            <p:ph idx="1" type="body"/>
          </p:nvPr>
        </p:nvSpPr>
        <p:spPr>
          <a:xfrm>
            <a:off x="166687" y="1193800"/>
            <a:ext cx="8915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We replace each string with a card and two strings:</a:t>
            </a:r>
            <a:endParaRPr/>
          </a:p>
        </p:txBody>
      </p:sp>
      <p:sp>
        <p:nvSpPr>
          <p:cNvPr id="647" name="Google Shape;647;p28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wipe dir="u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9"/>
          <p:cNvSpPr txBox="1"/>
          <p:nvPr>
            <p:ph type="title"/>
          </p:nvPr>
        </p:nvSpPr>
        <p:spPr>
          <a:xfrm>
            <a:off x="76200" y="152400"/>
            <a:ext cx="8991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❹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Expand Many-to-Many Associations</a:t>
            </a:r>
            <a:endParaRPr/>
          </a:p>
        </p:txBody>
      </p:sp>
      <p:sp>
        <p:nvSpPr>
          <p:cNvPr id="653" name="Google Shape;653;p29"/>
          <p:cNvSpPr txBox="1"/>
          <p:nvPr/>
        </p:nvSpPr>
        <p:spPr>
          <a:xfrm>
            <a:off x="134937" y="2139950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9"/>
          <p:cNvSpPr txBox="1"/>
          <p:nvPr/>
        </p:nvSpPr>
        <p:spPr>
          <a:xfrm>
            <a:off x="373062" y="2547937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9"/>
          <p:cNvSpPr txBox="1"/>
          <p:nvPr/>
        </p:nvSpPr>
        <p:spPr>
          <a:xfrm>
            <a:off x="630237" y="3044825"/>
            <a:ext cx="1473200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9"/>
          <p:cNvSpPr txBox="1"/>
          <p:nvPr/>
        </p:nvSpPr>
        <p:spPr>
          <a:xfrm>
            <a:off x="925512" y="3678237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9"/>
          <p:cNvSpPr txBox="1"/>
          <p:nvPr/>
        </p:nvSpPr>
        <p:spPr>
          <a:xfrm>
            <a:off x="1220787" y="4119562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9"/>
          <p:cNvSpPr txBox="1"/>
          <p:nvPr/>
        </p:nvSpPr>
        <p:spPr>
          <a:xfrm>
            <a:off x="7443787" y="2139950"/>
            <a:ext cx="1560512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9"/>
          <p:cNvSpPr txBox="1"/>
          <p:nvPr/>
        </p:nvSpPr>
        <p:spPr>
          <a:xfrm>
            <a:off x="7167562" y="2540000"/>
            <a:ext cx="15875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9"/>
          <p:cNvSpPr txBox="1"/>
          <p:nvPr/>
        </p:nvSpPr>
        <p:spPr>
          <a:xfrm>
            <a:off x="6834187" y="3035300"/>
            <a:ext cx="1703387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9"/>
          <p:cNvSpPr txBox="1"/>
          <p:nvPr/>
        </p:nvSpPr>
        <p:spPr>
          <a:xfrm>
            <a:off x="6653212" y="3687762"/>
            <a:ext cx="164623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9"/>
          <p:cNvSpPr txBox="1"/>
          <p:nvPr/>
        </p:nvSpPr>
        <p:spPr>
          <a:xfrm>
            <a:off x="6491287" y="4140200"/>
            <a:ext cx="1473200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9"/>
          <p:cNvSpPr txBox="1"/>
          <p:nvPr/>
        </p:nvSpPr>
        <p:spPr>
          <a:xfrm>
            <a:off x="6118225" y="4776787"/>
            <a:ext cx="1474787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9"/>
          <p:cNvSpPr txBox="1"/>
          <p:nvPr/>
        </p:nvSpPr>
        <p:spPr>
          <a:xfrm>
            <a:off x="1611312" y="4870450"/>
            <a:ext cx="1474787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9"/>
          <p:cNvSpPr txBox="1"/>
          <p:nvPr/>
        </p:nvSpPr>
        <p:spPr>
          <a:xfrm>
            <a:off x="1611312" y="481647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666" name="Google Shape;666;p29"/>
          <p:cNvSpPr txBox="1"/>
          <p:nvPr/>
        </p:nvSpPr>
        <p:spPr>
          <a:xfrm>
            <a:off x="1171575" y="4100512"/>
            <a:ext cx="417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667" name="Google Shape;667;p29"/>
          <p:cNvSpPr txBox="1"/>
          <p:nvPr/>
        </p:nvSpPr>
        <p:spPr>
          <a:xfrm>
            <a:off x="914400" y="3656012"/>
            <a:ext cx="474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</a:t>
            </a:r>
            <a:endParaRPr/>
          </a:p>
        </p:txBody>
      </p:sp>
      <p:sp>
        <p:nvSpPr>
          <p:cNvPr id="668" name="Google Shape;668;p29"/>
          <p:cNvSpPr txBox="1"/>
          <p:nvPr/>
        </p:nvSpPr>
        <p:spPr>
          <a:xfrm>
            <a:off x="647700" y="3109912"/>
            <a:ext cx="4968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669" name="Google Shape;669;p29"/>
          <p:cNvSpPr txBox="1"/>
          <p:nvPr/>
        </p:nvSpPr>
        <p:spPr>
          <a:xfrm>
            <a:off x="419100" y="2586037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</a:t>
            </a:r>
            <a:endParaRPr/>
          </a:p>
        </p:txBody>
      </p:sp>
      <p:sp>
        <p:nvSpPr>
          <p:cNvPr id="670" name="Google Shape;670;p29"/>
          <p:cNvSpPr txBox="1"/>
          <p:nvPr/>
        </p:nvSpPr>
        <p:spPr>
          <a:xfrm>
            <a:off x="123825" y="2154237"/>
            <a:ext cx="4397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</a:t>
            </a:r>
            <a:endParaRPr/>
          </a:p>
        </p:txBody>
      </p:sp>
      <p:sp>
        <p:nvSpPr>
          <p:cNvPr id="671" name="Google Shape;671;p29"/>
          <p:cNvSpPr/>
          <p:nvPr/>
        </p:nvSpPr>
        <p:spPr>
          <a:xfrm>
            <a:off x="2841625" y="4964112"/>
            <a:ext cx="160337" cy="1635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9"/>
          <p:cNvSpPr/>
          <p:nvPr/>
        </p:nvSpPr>
        <p:spPr>
          <a:xfrm>
            <a:off x="2478087" y="4198937"/>
            <a:ext cx="160337" cy="1428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9"/>
          <p:cNvSpPr/>
          <p:nvPr/>
        </p:nvSpPr>
        <p:spPr>
          <a:xfrm>
            <a:off x="2159000" y="3740150"/>
            <a:ext cx="157162" cy="1635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9"/>
          <p:cNvSpPr/>
          <p:nvPr/>
        </p:nvSpPr>
        <p:spPr>
          <a:xfrm>
            <a:off x="1884362" y="3094037"/>
            <a:ext cx="158750" cy="1524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9"/>
          <p:cNvSpPr/>
          <p:nvPr/>
        </p:nvSpPr>
        <p:spPr>
          <a:xfrm>
            <a:off x="1625600" y="2614612"/>
            <a:ext cx="158750" cy="1603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9"/>
          <p:cNvSpPr/>
          <p:nvPr/>
        </p:nvSpPr>
        <p:spPr>
          <a:xfrm>
            <a:off x="1384300" y="2205037"/>
            <a:ext cx="158750" cy="1651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9"/>
          <p:cNvSpPr/>
          <p:nvPr/>
        </p:nvSpPr>
        <p:spPr>
          <a:xfrm>
            <a:off x="6143625" y="483552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9"/>
          <p:cNvSpPr/>
          <p:nvPr/>
        </p:nvSpPr>
        <p:spPr>
          <a:xfrm>
            <a:off x="6545262" y="4203700"/>
            <a:ext cx="160337" cy="1571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9"/>
          <p:cNvSpPr/>
          <p:nvPr/>
        </p:nvSpPr>
        <p:spPr>
          <a:xfrm>
            <a:off x="6681787" y="3729037"/>
            <a:ext cx="157162" cy="1698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9"/>
          <p:cNvSpPr/>
          <p:nvPr/>
        </p:nvSpPr>
        <p:spPr>
          <a:xfrm>
            <a:off x="6865937" y="3071812"/>
            <a:ext cx="158750" cy="1603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9"/>
          <p:cNvSpPr/>
          <p:nvPr/>
        </p:nvSpPr>
        <p:spPr>
          <a:xfrm>
            <a:off x="7213600" y="2600325"/>
            <a:ext cx="160337" cy="1698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9"/>
          <p:cNvSpPr/>
          <p:nvPr/>
        </p:nvSpPr>
        <p:spPr>
          <a:xfrm>
            <a:off x="7485062" y="2189162"/>
            <a:ext cx="157162" cy="1524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9"/>
          <p:cNvSpPr txBox="1"/>
          <p:nvPr/>
        </p:nvSpPr>
        <p:spPr>
          <a:xfrm>
            <a:off x="6446837" y="4829175"/>
            <a:ext cx="81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Coffee</a:t>
            </a:r>
            <a:endParaRPr/>
          </a:p>
        </p:txBody>
      </p:sp>
      <p:sp>
        <p:nvSpPr>
          <p:cNvPr id="684" name="Google Shape;684;p29"/>
          <p:cNvSpPr txBox="1"/>
          <p:nvPr/>
        </p:nvSpPr>
        <p:spPr>
          <a:xfrm>
            <a:off x="6851650" y="4124325"/>
            <a:ext cx="879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685" name="Google Shape;685;p29"/>
          <p:cNvSpPr txBox="1"/>
          <p:nvPr/>
        </p:nvSpPr>
        <p:spPr>
          <a:xfrm>
            <a:off x="7069137" y="3665537"/>
            <a:ext cx="1174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Dictionary</a:t>
            </a:r>
            <a:endParaRPr/>
          </a:p>
        </p:txBody>
      </p:sp>
      <p:sp>
        <p:nvSpPr>
          <p:cNvPr id="686" name="Google Shape;686;p29"/>
          <p:cNvSpPr txBox="1"/>
          <p:nvPr/>
        </p:nvSpPr>
        <p:spPr>
          <a:xfrm>
            <a:off x="7213600" y="3100387"/>
            <a:ext cx="120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Thesaurus</a:t>
            </a:r>
            <a:endParaRPr/>
          </a:p>
        </p:txBody>
      </p:sp>
      <p:sp>
        <p:nvSpPr>
          <p:cNvPr id="687" name="Google Shape;687;p29"/>
          <p:cNvSpPr txBox="1"/>
          <p:nvPr/>
        </p:nvSpPr>
        <p:spPr>
          <a:xfrm>
            <a:off x="7527925" y="2578100"/>
            <a:ext cx="11160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688" name="Google Shape;688;p29"/>
          <p:cNvSpPr txBox="1"/>
          <p:nvPr/>
        </p:nvSpPr>
        <p:spPr>
          <a:xfrm>
            <a:off x="7775575" y="2154237"/>
            <a:ext cx="7794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</a:t>
            </a:r>
            <a:endParaRPr/>
          </a:p>
        </p:txBody>
      </p:sp>
      <p:sp>
        <p:nvSpPr>
          <p:cNvPr id="689" name="Google Shape;689;p29"/>
          <p:cNvSpPr txBox="1"/>
          <p:nvPr/>
        </p:nvSpPr>
        <p:spPr>
          <a:xfrm>
            <a:off x="3635375" y="1765300"/>
            <a:ext cx="1597025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29"/>
          <p:cNvSpPr txBox="1"/>
          <p:nvPr/>
        </p:nvSpPr>
        <p:spPr>
          <a:xfrm>
            <a:off x="3897312" y="174942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691" name="Google Shape;691;p29"/>
          <p:cNvSpPr/>
          <p:nvPr/>
        </p:nvSpPr>
        <p:spPr>
          <a:xfrm>
            <a:off x="4932362" y="1820862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9"/>
          <p:cNvSpPr txBox="1"/>
          <p:nvPr/>
        </p:nvSpPr>
        <p:spPr>
          <a:xfrm>
            <a:off x="4224337" y="1771650"/>
            <a:ext cx="7540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Pencils</a:t>
            </a:r>
            <a:endParaRPr/>
          </a:p>
        </p:txBody>
      </p:sp>
      <p:sp>
        <p:nvSpPr>
          <p:cNvPr id="693" name="Google Shape;693;p29"/>
          <p:cNvSpPr/>
          <p:nvPr/>
        </p:nvSpPr>
        <p:spPr>
          <a:xfrm>
            <a:off x="3736975" y="182562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9"/>
          <p:cNvSpPr/>
          <p:nvPr/>
        </p:nvSpPr>
        <p:spPr>
          <a:xfrm>
            <a:off x="2903537" y="1931987"/>
            <a:ext cx="908050" cy="311785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85"/>
                  <a:pt x="9647" y="20"/>
                  <a:pt x="21562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85"/>
                  <a:pt x="9647" y="20"/>
                  <a:pt x="21562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9"/>
          <p:cNvSpPr/>
          <p:nvPr/>
        </p:nvSpPr>
        <p:spPr>
          <a:xfrm>
            <a:off x="5029200" y="1931987"/>
            <a:ext cx="2546350" cy="355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29"/>
          <p:cNvSpPr txBox="1"/>
          <p:nvPr>
            <p:ph idx="1" type="body"/>
          </p:nvPr>
        </p:nvSpPr>
        <p:spPr>
          <a:xfrm>
            <a:off x="171450" y="1143000"/>
            <a:ext cx="8915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We replace each string with a card and two strings:</a:t>
            </a:r>
            <a:endParaRPr/>
          </a:p>
        </p:txBody>
      </p:sp>
      <p:sp>
        <p:nvSpPr>
          <p:cNvPr id="697" name="Google Shape;697;p29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wipe dir="d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0"/>
          <p:cNvSpPr txBox="1"/>
          <p:nvPr>
            <p:ph type="title"/>
          </p:nvPr>
        </p:nvSpPr>
        <p:spPr>
          <a:xfrm>
            <a:off x="76200" y="152400"/>
            <a:ext cx="8991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❹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Expand Many-to-Many Associations</a:t>
            </a:r>
            <a:endParaRPr/>
          </a:p>
        </p:txBody>
      </p:sp>
      <p:sp>
        <p:nvSpPr>
          <p:cNvPr id="703" name="Google Shape;703;p30"/>
          <p:cNvSpPr txBox="1"/>
          <p:nvPr/>
        </p:nvSpPr>
        <p:spPr>
          <a:xfrm>
            <a:off x="134937" y="2139950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0"/>
          <p:cNvSpPr txBox="1"/>
          <p:nvPr/>
        </p:nvSpPr>
        <p:spPr>
          <a:xfrm>
            <a:off x="373062" y="2547937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0"/>
          <p:cNvSpPr txBox="1"/>
          <p:nvPr/>
        </p:nvSpPr>
        <p:spPr>
          <a:xfrm>
            <a:off x="630237" y="3044825"/>
            <a:ext cx="1473200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0"/>
          <p:cNvSpPr txBox="1"/>
          <p:nvPr/>
        </p:nvSpPr>
        <p:spPr>
          <a:xfrm>
            <a:off x="925512" y="3678237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0"/>
          <p:cNvSpPr txBox="1"/>
          <p:nvPr/>
        </p:nvSpPr>
        <p:spPr>
          <a:xfrm>
            <a:off x="1220787" y="4119562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0"/>
          <p:cNvSpPr txBox="1"/>
          <p:nvPr/>
        </p:nvSpPr>
        <p:spPr>
          <a:xfrm>
            <a:off x="7443787" y="2139950"/>
            <a:ext cx="1560512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0"/>
          <p:cNvSpPr txBox="1"/>
          <p:nvPr/>
        </p:nvSpPr>
        <p:spPr>
          <a:xfrm>
            <a:off x="7167562" y="2540000"/>
            <a:ext cx="15875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0"/>
          <p:cNvSpPr txBox="1"/>
          <p:nvPr/>
        </p:nvSpPr>
        <p:spPr>
          <a:xfrm>
            <a:off x="6834187" y="3035300"/>
            <a:ext cx="1703387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0"/>
          <p:cNvSpPr txBox="1"/>
          <p:nvPr/>
        </p:nvSpPr>
        <p:spPr>
          <a:xfrm>
            <a:off x="6653212" y="3687762"/>
            <a:ext cx="164623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0"/>
          <p:cNvSpPr txBox="1"/>
          <p:nvPr/>
        </p:nvSpPr>
        <p:spPr>
          <a:xfrm>
            <a:off x="6491287" y="4140200"/>
            <a:ext cx="1473200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0"/>
          <p:cNvSpPr txBox="1"/>
          <p:nvPr/>
        </p:nvSpPr>
        <p:spPr>
          <a:xfrm>
            <a:off x="6118225" y="4776787"/>
            <a:ext cx="1474787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0"/>
          <p:cNvSpPr txBox="1"/>
          <p:nvPr/>
        </p:nvSpPr>
        <p:spPr>
          <a:xfrm>
            <a:off x="1611312" y="4870450"/>
            <a:ext cx="1474787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0"/>
          <p:cNvSpPr txBox="1"/>
          <p:nvPr/>
        </p:nvSpPr>
        <p:spPr>
          <a:xfrm>
            <a:off x="1611312" y="481647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716" name="Google Shape;716;p30"/>
          <p:cNvSpPr txBox="1"/>
          <p:nvPr/>
        </p:nvSpPr>
        <p:spPr>
          <a:xfrm>
            <a:off x="1171575" y="4100512"/>
            <a:ext cx="417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717" name="Google Shape;717;p30"/>
          <p:cNvSpPr txBox="1"/>
          <p:nvPr/>
        </p:nvSpPr>
        <p:spPr>
          <a:xfrm>
            <a:off x="914400" y="3656012"/>
            <a:ext cx="474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</a:t>
            </a:r>
            <a:endParaRPr/>
          </a:p>
        </p:txBody>
      </p:sp>
      <p:sp>
        <p:nvSpPr>
          <p:cNvPr id="718" name="Google Shape;718;p30"/>
          <p:cNvSpPr txBox="1"/>
          <p:nvPr/>
        </p:nvSpPr>
        <p:spPr>
          <a:xfrm>
            <a:off x="647700" y="3109912"/>
            <a:ext cx="4968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719" name="Google Shape;719;p30"/>
          <p:cNvSpPr txBox="1"/>
          <p:nvPr/>
        </p:nvSpPr>
        <p:spPr>
          <a:xfrm>
            <a:off x="419100" y="2586037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</a:t>
            </a:r>
            <a:endParaRPr/>
          </a:p>
        </p:txBody>
      </p:sp>
      <p:sp>
        <p:nvSpPr>
          <p:cNvPr id="720" name="Google Shape;720;p30"/>
          <p:cNvSpPr txBox="1"/>
          <p:nvPr/>
        </p:nvSpPr>
        <p:spPr>
          <a:xfrm>
            <a:off x="123825" y="2154237"/>
            <a:ext cx="4397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</a:t>
            </a:r>
            <a:endParaRPr/>
          </a:p>
        </p:txBody>
      </p:sp>
      <p:sp>
        <p:nvSpPr>
          <p:cNvPr id="721" name="Google Shape;721;p30"/>
          <p:cNvSpPr/>
          <p:nvPr/>
        </p:nvSpPr>
        <p:spPr>
          <a:xfrm>
            <a:off x="2841625" y="4964112"/>
            <a:ext cx="160337" cy="1635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0"/>
          <p:cNvSpPr/>
          <p:nvPr/>
        </p:nvSpPr>
        <p:spPr>
          <a:xfrm>
            <a:off x="2478087" y="4198937"/>
            <a:ext cx="160337" cy="1428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0"/>
          <p:cNvSpPr/>
          <p:nvPr/>
        </p:nvSpPr>
        <p:spPr>
          <a:xfrm>
            <a:off x="2159000" y="3740150"/>
            <a:ext cx="157162" cy="1635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30"/>
          <p:cNvSpPr/>
          <p:nvPr/>
        </p:nvSpPr>
        <p:spPr>
          <a:xfrm>
            <a:off x="1884362" y="3094037"/>
            <a:ext cx="158750" cy="1524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30"/>
          <p:cNvSpPr/>
          <p:nvPr/>
        </p:nvSpPr>
        <p:spPr>
          <a:xfrm>
            <a:off x="1625600" y="2614612"/>
            <a:ext cx="158750" cy="1603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0"/>
          <p:cNvSpPr/>
          <p:nvPr/>
        </p:nvSpPr>
        <p:spPr>
          <a:xfrm>
            <a:off x="1384300" y="2205037"/>
            <a:ext cx="158750" cy="1651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0"/>
          <p:cNvSpPr/>
          <p:nvPr/>
        </p:nvSpPr>
        <p:spPr>
          <a:xfrm>
            <a:off x="6143625" y="483552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0"/>
          <p:cNvSpPr/>
          <p:nvPr/>
        </p:nvSpPr>
        <p:spPr>
          <a:xfrm>
            <a:off x="6545262" y="4203700"/>
            <a:ext cx="160337" cy="1571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0"/>
          <p:cNvSpPr/>
          <p:nvPr/>
        </p:nvSpPr>
        <p:spPr>
          <a:xfrm>
            <a:off x="6681787" y="3729037"/>
            <a:ext cx="157162" cy="1698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30"/>
          <p:cNvSpPr/>
          <p:nvPr/>
        </p:nvSpPr>
        <p:spPr>
          <a:xfrm>
            <a:off x="6865937" y="3071812"/>
            <a:ext cx="158750" cy="1603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0"/>
          <p:cNvSpPr/>
          <p:nvPr/>
        </p:nvSpPr>
        <p:spPr>
          <a:xfrm>
            <a:off x="7213600" y="2600325"/>
            <a:ext cx="160337" cy="1698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0"/>
          <p:cNvSpPr/>
          <p:nvPr/>
        </p:nvSpPr>
        <p:spPr>
          <a:xfrm>
            <a:off x="7485062" y="2189162"/>
            <a:ext cx="157162" cy="1524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0"/>
          <p:cNvSpPr txBox="1"/>
          <p:nvPr/>
        </p:nvSpPr>
        <p:spPr>
          <a:xfrm>
            <a:off x="2713037" y="3048000"/>
            <a:ext cx="3992562" cy="179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This allows us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to write the details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on the card in the middle</a:t>
            </a:r>
            <a:endParaRPr/>
          </a:p>
        </p:txBody>
      </p:sp>
      <p:sp>
        <p:nvSpPr>
          <p:cNvPr id="734" name="Google Shape;734;p30"/>
          <p:cNvSpPr txBox="1"/>
          <p:nvPr/>
        </p:nvSpPr>
        <p:spPr>
          <a:xfrm>
            <a:off x="6446837" y="4829175"/>
            <a:ext cx="81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Coffee</a:t>
            </a:r>
            <a:endParaRPr/>
          </a:p>
        </p:txBody>
      </p:sp>
      <p:sp>
        <p:nvSpPr>
          <p:cNvPr id="735" name="Google Shape;735;p30"/>
          <p:cNvSpPr txBox="1"/>
          <p:nvPr/>
        </p:nvSpPr>
        <p:spPr>
          <a:xfrm>
            <a:off x="6851650" y="4124325"/>
            <a:ext cx="879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736" name="Google Shape;736;p30"/>
          <p:cNvSpPr txBox="1"/>
          <p:nvPr/>
        </p:nvSpPr>
        <p:spPr>
          <a:xfrm>
            <a:off x="7069137" y="3665537"/>
            <a:ext cx="1174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Dictionary</a:t>
            </a:r>
            <a:endParaRPr/>
          </a:p>
        </p:txBody>
      </p:sp>
      <p:sp>
        <p:nvSpPr>
          <p:cNvPr id="737" name="Google Shape;737;p30"/>
          <p:cNvSpPr txBox="1"/>
          <p:nvPr/>
        </p:nvSpPr>
        <p:spPr>
          <a:xfrm>
            <a:off x="7213600" y="3100387"/>
            <a:ext cx="120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Thesaurus</a:t>
            </a:r>
            <a:endParaRPr/>
          </a:p>
        </p:txBody>
      </p:sp>
      <p:sp>
        <p:nvSpPr>
          <p:cNvPr id="738" name="Google Shape;738;p30"/>
          <p:cNvSpPr txBox="1"/>
          <p:nvPr/>
        </p:nvSpPr>
        <p:spPr>
          <a:xfrm>
            <a:off x="7527925" y="2578100"/>
            <a:ext cx="11160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739" name="Google Shape;739;p30"/>
          <p:cNvSpPr txBox="1"/>
          <p:nvPr/>
        </p:nvSpPr>
        <p:spPr>
          <a:xfrm>
            <a:off x="7775575" y="2154237"/>
            <a:ext cx="7794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</a:t>
            </a:r>
            <a:endParaRPr/>
          </a:p>
        </p:txBody>
      </p:sp>
      <p:sp>
        <p:nvSpPr>
          <p:cNvPr id="740" name="Google Shape;740;p30"/>
          <p:cNvSpPr txBox="1"/>
          <p:nvPr/>
        </p:nvSpPr>
        <p:spPr>
          <a:xfrm>
            <a:off x="3635375" y="1765300"/>
            <a:ext cx="1597025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30"/>
          <p:cNvSpPr txBox="1"/>
          <p:nvPr/>
        </p:nvSpPr>
        <p:spPr>
          <a:xfrm>
            <a:off x="3897312" y="174942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742" name="Google Shape;742;p30"/>
          <p:cNvSpPr/>
          <p:nvPr/>
        </p:nvSpPr>
        <p:spPr>
          <a:xfrm>
            <a:off x="4932362" y="1820862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30"/>
          <p:cNvSpPr txBox="1"/>
          <p:nvPr/>
        </p:nvSpPr>
        <p:spPr>
          <a:xfrm>
            <a:off x="4224337" y="1771650"/>
            <a:ext cx="7540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Pencils</a:t>
            </a:r>
            <a:endParaRPr/>
          </a:p>
        </p:txBody>
      </p:sp>
      <p:sp>
        <p:nvSpPr>
          <p:cNvPr id="744" name="Google Shape;744;p30"/>
          <p:cNvSpPr/>
          <p:nvPr/>
        </p:nvSpPr>
        <p:spPr>
          <a:xfrm>
            <a:off x="3736975" y="182562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30"/>
          <p:cNvSpPr/>
          <p:nvPr/>
        </p:nvSpPr>
        <p:spPr>
          <a:xfrm>
            <a:off x="2903537" y="1931987"/>
            <a:ext cx="908050" cy="311785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85"/>
                  <a:pt x="9647" y="20"/>
                  <a:pt x="21562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85"/>
                  <a:pt x="9647" y="20"/>
                  <a:pt x="21562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30"/>
          <p:cNvSpPr/>
          <p:nvPr/>
        </p:nvSpPr>
        <p:spPr>
          <a:xfrm>
            <a:off x="5029200" y="1931987"/>
            <a:ext cx="2546350" cy="355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30"/>
          <p:cNvSpPr txBox="1"/>
          <p:nvPr>
            <p:ph idx="1" type="body"/>
          </p:nvPr>
        </p:nvSpPr>
        <p:spPr>
          <a:xfrm>
            <a:off x="171450" y="1143000"/>
            <a:ext cx="8915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We replace each string with a card and two strings:</a:t>
            </a:r>
            <a:endParaRPr/>
          </a:p>
        </p:txBody>
      </p:sp>
      <p:sp>
        <p:nvSpPr>
          <p:cNvPr id="748" name="Google Shape;748;p30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1"/>
          <p:cNvSpPr txBox="1"/>
          <p:nvPr>
            <p:ph type="title"/>
          </p:nvPr>
        </p:nvSpPr>
        <p:spPr>
          <a:xfrm>
            <a:off x="76200" y="152400"/>
            <a:ext cx="8991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❹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Expand Many-to-Many Associations</a:t>
            </a:r>
            <a:endParaRPr/>
          </a:p>
        </p:txBody>
      </p:sp>
      <p:sp>
        <p:nvSpPr>
          <p:cNvPr id="754" name="Google Shape;754;p31"/>
          <p:cNvSpPr txBox="1"/>
          <p:nvPr/>
        </p:nvSpPr>
        <p:spPr>
          <a:xfrm>
            <a:off x="134937" y="2139950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31"/>
          <p:cNvSpPr txBox="1"/>
          <p:nvPr/>
        </p:nvSpPr>
        <p:spPr>
          <a:xfrm>
            <a:off x="373062" y="2547937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31"/>
          <p:cNvSpPr txBox="1"/>
          <p:nvPr/>
        </p:nvSpPr>
        <p:spPr>
          <a:xfrm>
            <a:off x="630237" y="3044825"/>
            <a:ext cx="1473200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1"/>
          <p:cNvSpPr txBox="1"/>
          <p:nvPr/>
        </p:nvSpPr>
        <p:spPr>
          <a:xfrm>
            <a:off x="925512" y="3678237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1"/>
          <p:cNvSpPr txBox="1"/>
          <p:nvPr/>
        </p:nvSpPr>
        <p:spPr>
          <a:xfrm>
            <a:off x="1220787" y="4119562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31"/>
          <p:cNvSpPr txBox="1"/>
          <p:nvPr/>
        </p:nvSpPr>
        <p:spPr>
          <a:xfrm>
            <a:off x="7443787" y="2139950"/>
            <a:ext cx="1560512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1"/>
          <p:cNvSpPr txBox="1"/>
          <p:nvPr/>
        </p:nvSpPr>
        <p:spPr>
          <a:xfrm>
            <a:off x="7167562" y="2540000"/>
            <a:ext cx="15875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31"/>
          <p:cNvSpPr txBox="1"/>
          <p:nvPr/>
        </p:nvSpPr>
        <p:spPr>
          <a:xfrm>
            <a:off x="6834187" y="3035300"/>
            <a:ext cx="1703387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31"/>
          <p:cNvSpPr txBox="1"/>
          <p:nvPr/>
        </p:nvSpPr>
        <p:spPr>
          <a:xfrm>
            <a:off x="6653212" y="3687762"/>
            <a:ext cx="164623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31"/>
          <p:cNvSpPr txBox="1"/>
          <p:nvPr/>
        </p:nvSpPr>
        <p:spPr>
          <a:xfrm>
            <a:off x="6491287" y="4140200"/>
            <a:ext cx="1473200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31"/>
          <p:cNvSpPr txBox="1"/>
          <p:nvPr/>
        </p:nvSpPr>
        <p:spPr>
          <a:xfrm>
            <a:off x="6118225" y="4776787"/>
            <a:ext cx="1474787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31"/>
          <p:cNvSpPr txBox="1"/>
          <p:nvPr/>
        </p:nvSpPr>
        <p:spPr>
          <a:xfrm>
            <a:off x="1611312" y="4870450"/>
            <a:ext cx="1474787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31"/>
          <p:cNvSpPr txBox="1"/>
          <p:nvPr/>
        </p:nvSpPr>
        <p:spPr>
          <a:xfrm>
            <a:off x="1611312" y="481647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767" name="Google Shape;767;p31"/>
          <p:cNvSpPr txBox="1"/>
          <p:nvPr/>
        </p:nvSpPr>
        <p:spPr>
          <a:xfrm>
            <a:off x="1171575" y="4100512"/>
            <a:ext cx="417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768" name="Google Shape;768;p31"/>
          <p:cNvSpPr txBox="1"/>
          <p:nvPr/>
        </p:nvSpPr>
        <p:spPr>
          <a:xfrm>
            <a:off x="914400" y="3656012"/>
            <a:ext cx="474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</a:t>
            </a:r>
            <a:endParaRPr/>
          </a:p>
        </p:txBody>
      </p:sp>
      <p:sp>
        <p:nvSpPr>
          <p:cNvPr id="769" name="Google Shape;769;p31"/>
          <p:cNvSpPr txBox="1"/>
          <p:nvPr/>
        </p:nvSpPr>
        <p:spPr>
          <a:xfrm>
            <a:off x="647700" y="3109912"/>
            <a:ext cx="4968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770" name="Google Shape;770;p31"/>
          <p:cNvSpPr txBox="1"/>
          <p:nvPr/>
        </p:nvSpPr>
        <p:spPr>
          <a:xfrm>
            <a:off x="419100" y="2586037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</a:t>
            </a:r>
            <a:endParaRPr/>
          </a:p>
        </p:txBody>
      </p:sp>
      <p:sp>
        <p:nvSpPr>
          <p:cNvPr id="771" name="Google Shape;771;p31"/>
          <p:cNvSpPr txBox="1"/>
          <p:nvPr/>
        </p:nvSpPr>
        <p:spPr>
          <a:xfrm>
            <a:off x="123825" y="2154237"/>
            <a:ext cx="4397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</a:t>
            </a:r>
            <a:endParaRPr/>
          </a:p>
        </p:txBody>
      </p:sp>
      <p:sp>
        <p:nvSpPr>
          <p:cNvPr id="772" name="Google Shape;772;p31"/>
          <p:cNvSpPr/>
          <p:nvPr/>
        </p:nvSpPr>
        <p:spPr>
          <a:xfrm>
            <a:off x="2841625" y="4964112"/>
            <a:ext cx="160337" cy="1635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1"/>
          <p:cNvSpPr/>
          <p:nvPr/>
        </p:nvSpPr>
        <p:spPr>
          <a:xfrm>
            <a:off x="2478087" y="4198937"/>
            <a:ext cx="160337" cy="1428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31"/>
          <p:cNvSpPr/>
          <p:nvPr/>
        </p:nvSpPr>
        <p:spPr>
          <a:xfrm>
            <a:off x="2159000" y="3740150"/>
            <a:ext cx="157162" cy="1635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31"/>
          <p:cNvSpPr/>
          <p:nvPr/>
        </p:nvSpPr>
        <p:spPr>
          <a:xfrm>
            <a:off x="1884362" y="3094037"/>
            <a:ext cx="158750" cy="1524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31"/>
          <p:cNvSpPr/>
          <p:nvPr/>
        </p:nvSpPr>
        <p:spPr>
          <a:xfrm>
            <a:off x="1625600" y="2614612"/>
            <a:ext cx="158750" cy="1603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31"/>
          <p:cNvSpPr/>
          <p:nvPr/>
        </p:nvSpPr>
        <p:spPr>
          <a:xfrm>
            <a:off x="1384300" y="2205037"/>
            <a:ext cx="158750" cy="1651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31"/>
          <p:cNvSpPr/>
          <p:nvPr/>
        </p:nvSpPr>
        <p:spPr>
          <a:xfrm>
            <a:off x="6143625" y="483552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31"/>
          <p:cNvSpPr/>
          <p:nvPr/>
        </p:nvSpPr>
        <p:spPr>
          <a:xfrm>
            <a:off x="6545262" y="4203700"/>
            <a:ext cx="160337" cy="1571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31"/>
          <p:cNvSpPr/>
          <p:nvPr/>
        </p:nvSpPr>
        <p:spPr>
          <a:xfrm>
            <a:off x="6681787" y="3729037"/>
            <a:ext cx="157162" cy="1698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31"/>
          <p:cNvSpPr/>
          <p:nvPr/>
        </p:nvSpPr>
        <p:spPr>
          <a:xfrm>
            <a:off x="6865937" y="3071812"/>
            <a:ext cx="158750" cy="1603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31"/>
          <p:cNvSpPr/>
          <p:nvPr/>
        </p:nvSpPr>
        <p:spPr>
          <a:xfrm>
            <a:off x="7213600" y="2600325"/>
            <a:ext cx="160337" cy="1698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31"/>
          <p:cNvSpPr/>
          <p:nvPr/>
        </p:nvSpPr>
        <p:spPr>
          <a:xfrm>
            <a:off x="7485062" y="2189162"/>
            <a:ext cx="157162" cy="1524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31"/>
          <p:cNvSpPr txBox="1"/>
          <p:nvPr/>
        </p:nvSpPr>
        <p:spPr>
          <a:xfrm>
            <a:off x="6446837" y="4829175"/>
            <a:ext cx="81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Coffee</a:t>
            </a:r>
            <a:endParaRPr/>
          </a:p>
        </p:txBody>
      </p:sp>
      <p:sp>
        <p:nvSpPr>
          <p:cNvPr id="785" name="Google Shape;785;p31"/>
          <p:cNvSpPr txBox="1"/>
          <p:nvPr/>
        </p:nvSpPr>
        <p:spPr>
          <a:xfrm>
            <a:off x="6851650" y="4124325"/>
            <a:ext cx="879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786" name="Google Shape;786;p31"/>
          <p:cNvSpPr txBox="1"/>
          <p:nvPr/>
        </p:nvSpPr>
        <p:spPr>
          <a:xfrm>
            <a:off x="7069137" y="3665537"/>
            <a:ext cx="1174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Dictionary</a:t>
            </a:r>
            <a:endParaRPr/>
          </a:p>
        </p:txBody>
      </p:sp>
      <p:sp>
        <p:nvSpPr>
          <p:cNvPr id="787" name="Google Shape;787;p31"/>
          <p:cNvSpPr txBox="1"/>
          <p:nvPr/>
        </p:nvSpPr>
        <p:spPr>
          <a:xfrm>
            <a:off x="7213600" y="3100387"/>
            <a:ext cx="120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Thesaurus</a:t>
            </a:r>
            <a:endParaRPr/>
          </a:p>
        </p:txBody>
      </p:sp>
      <p:sp>
        <p:nvSpPr>
          <p:cNvPr id="788" name="Google Shape;788;p31"/>
          <p:cNvSpPr txBox="1"/>
          <p:nvPr/>
        </p:nvSpPr>
        <p:spPr>
          <a:xfrm>
            <a:off x="7527925" y="2578100"/>
            <a:ext cx="11160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789" name="Google Shape;789;p31"/>
          <p:cNvSpPr txBox="1"/>
          <p:nvPr/>
        </p:nvSpPr>
        <p:spPr>
          <a:xfrm>
            <a:off x="7775575" y="2154237"/>
            <a:ext cx="7794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</a:t>
            </a:r>
            <a:endParaRPr/>
          </a:p>
        </p:txBody>
      </p:sp>
      <p:sp>
        <p:nvSpPr>
          <p:cNvPr id="790" name="Google Shape;790;p31"/>
          <p:cNvSpPr txBox="1"/>
          <p:nvPr/>
        </p:nvSpPr>
        <p:spPr>
          <a:xfrm>
            <a:off x="3635375" y="1765300"/>
            <a:ext cx="1597025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1"/>
          <p:cNvSpPr txBox="1"/>
          <p:nvPr/>
        </p:nvSpPr>
        <p:spPr>
          <a:xfrm>
            <a:off x="3897312" y="174942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792" name="Google Shape;792;p31"/>
          <p:cNvSpPr/>
          <p:nvPr/>
        </p:nvSpPr>
        <p:spPr>
          <a:xfrm>
            <a:off x="4932362" y="1820862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31"/>
          <p:cNvSpPr txBox="1"/>
          <p:nvPr/>
        </p:nvSpPr>
        <p:spPr>
          <a:xfrm>
            <a:off x="4224337" y="1771650"/>
            <a:ext cx="7540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Pencils</a:t>
            </a:r>
            <a:endParaRPr/>
          </a:p>
        </p:txBody>
      </p:sp>
      <p:sp>
        <p:nvSpPr>
          <p:cNvPr id="794" name="Google Shape;794;p31"/>
          <p:cNvSpPr/>
          <p:nvPr/>
        </p:nvSpPr>
        <p:spPr>
          <a:xfrm>
            <a:off x="3736975" y="182562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31"/>
          <p:cNvSpPr/>
          <p:nvPr/>
        </p:nvSpPr>
        <p:spPr>
          <a:xfrm>
            <a:off x="2903537" y="1931987"/>
            <a:ext cx="908050" cy="311785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85"/>
                  <a:pt x="9647" y="20"/>
                  <a:pt x="21562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85"/>
                  <a:pt x="9647" y="20"/>
                  <a:pt x="21562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31"/>
          <p:cNvSpPr/>
          <p:nvPr/>
        </p:nvSpPr>
        <p:spPr>
          <a:xfrm>
            <a:off x="5029200" y="1931987"/>
            <a:ext cx="2546350" cy="355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1"/>
          <p:cNvSpPr txBox="1"/>
          <p:nvPr/>
        </p:nvSpPr>
        <p:spPr>
          <a:xfrm>
            <a:off x="3657600" y="2000250"/>
            <a:ext cx="1500187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 Monday $.49</a:t>
            </a:r>
            <a:endParaRPr/>
          </a:p>
        </p:txBody>
      </p:sp>
      <p:sp>
        <p:nvSpPr>
          <p:cNvPr id="798" name="Google Shape;798;p31"/>
          <p:cNvSpPr txBox="1"/>
          <p:nvPr>
            <p:ph idx="1" type="body"/>
          </p:nvPr>
        </p:nvSpPr>
        <p:spPr>
          <a:xfrm>
            <a:off x="171450" y="1143000"/>
            <a:ext cx="8915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We replace each string with a card and two strings:</a:t>
            </a:r>
            <a:endParaRPr/>
          </a:p>
        </p:txBody>
      </p:sp>
      <p:cxnSp>
        <p:nvCxnSpPr>
          <p:cNvPr id="799" name="Google Shape;799;p31"/>
          <p:cNvCxnSpPr/>
          <p:nvPr/>
        </p:nvCxnSpPr>
        <p:spPr>
          <a:xfrm>
            <a:off x="4908550" y="2298700"/>
            <a:ext cx="1327150" cy="584200"/>
          </a:xfrm>
          <a:prstGeom prst="straightConnector1">
            <a:avLst/>
          </a:prstGeom>
          <a:noFill/>
          <a:ln cap="flat" cmpd="sng" w="101600">
            <a:solidFill>
              <a:srgbClr val="FDC0E5"/>
            </a:solidFill>
            <a:prstDash val="solid"/>
            <a:miter lim="800000"/>
            <a:headEnd len="med" w="med" type="triangle"/>
            <a:tailEnd len="med" w="med" type="none"/>
          </a:ln>
          <a:effectLst>
            <a:outerShdw blurRad="63500" dir="2700000" dist="107763">
              <a:schemeClr val="lt2"/>
            </a:outerShdw>
          </a:effectLst>
        </p:spPr>
      </p:cxnSp>
      <p:cxnSp>
        <p:nvCxnSpPr>
          <p:cNvPr id="800" name="Google Shape;800;p31"/>
          <p:cNvCxnSpPr/>
          <p:nvPr/>
        </p:nvCxnSpPr>
        <p:spPr>
          <a:xfrm flipH="1">
            <a:off x="2463800" y="2336800"/>
            <a:ext cx="1473200" cy="869950"/>
          </a:xfrm>
          <a:prstGeom prst="straightConnector1">
            <a:avLst/>
          </a:prstGeom>
          <a:noFill/>
          <a:ln cap="flat" cmpd="sng" w="101600">
            <a:solidFill>
              <a:srgbClr val="FDC0E5"/>
            </a:solidFill>
            <a:prstDash val="solid"/>
            <a:miter lim="800000"/>
            <a:headEnd len="med" w="med" type="triangle"/>
            <a:tailEnd len="med" w="med" type="none"/>
          </a:ln>
          <a:effectLst>
            <a:outerShdw blurRad="63500" dir="2700000" dist="107763">
              <a:schemeClr val="lt2"/>
            </a:outerShdw>
          </a:effectLst>
        </p:spPr>
      </p:cxnSp>
      <p:sp>
        <p:nvSpPr>
          <p:cNvPr id="801" name="Google Shape;801;p31"/>
          <p:cNvSpPr txBox="1"/>
          <p:nvPr/>
        </p:nvSpPr>
        <p:spPr>
          <a:xfrm>
            <a:off x="2713037" y="3048000"/>
            <a:ext cx="3992562" cy="179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This allows us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to write the details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on the card in the middle</a:t>
            </a:r>
            <a:endParaRPr/>
          </a:p>
        </p:txBody>
      </p:sp>
      <p:sp>
        <p:nvSpPr>
          <p:cNvPr id="802" name="Google Shape;802;p31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wipe dir="d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2"/>
          <p:cNvSpPr txBox="1"/>
          <p:nvPr>
            <p:ph type="title"/>
          </p:nvPr>
        </p:nvSpPr>
        <p:spPr>
          <a:xfrm>
            <a:off x="76200" y="152400"/>
            <a:ext cx="8991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❹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Expand Many-to-Many Associations</a:t>
            </a:r>
            <a:endParaRPr/>
          </a:p>
        </p:txBody>
      </p:sp>
      <p:sp>
        <p:nvSpPr>
          <p:cNvPr id="808" name="Google Shape;808;p32"/>
          <p:cNvSpPr txBox="1"/>
          <p:nvPr/>
        </p:nvSpPr>
        <p:spPr>
          <a:xfrm>
            <a:off x="134937" y="2139950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32"/>
          <p:cNvSpPr txBox="1"/>
          <p:nvPr/>
        </p:nvSpPr>
        <p:spPr>
          <a:xfrm>
            <a:off x="373062" y="2547937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32"/>
          <p:cNvSpPr txBox="1"/>
          <p:nvPr/>
        </p:nvSpPr>
        <p:spPr>
          <a:xfrm>
            <a:off x="630237" y="3044825"/>
            <a:ext cx="1473200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2"/>
          <p:cNvSpPr txBox="1"/>
          <p:nvPr/>
        </p:nvSpPr>
        <p:spPr>
          <a:xfrm>
            <a:off x="925512" y="3678237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32"/>
          <p:cNvSpPr txBox="1"/>
          <p:nvPr/>
        </p:nvSpPr>
        <p:spPr>
          <a:xfrm>
            <a:off x="1220787" y="4119562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32"/>
          <p:cNvSpPr txBox="1"/>
          <p:nvPr/>
        </p:nvSpPr>
        <p:spPr>
          <a:xfrm>
            <a:off x="7443787" y="2139950"/>
            <a:ext cx="1560512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32"/>
          <p:cNvSpPr txBox="1"/>
          <p:nvPr/>
        </p:nvSpPr>
        <p:spPr>
          <a:xfrm>
            <a:off x="7167562" y="2540000"/>
            <a:ext cx="15875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32"/>
          <p:cNvSpPr txBox="1"/>
          <p:nvPr/>
        </p:nvSpPr>
        <p:spPr>
          <a:xfrm>
            <a:off x="6834187" y="3035300"/>
            <a:ext cx="1703387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32"/>
          <p:cNvSpPr txBox="1"/>
          <p:nvPr/>
        </p:nvSpPr>
        <p:spPr>
          <a:xfrm>
            <a:off x="6653212" y="3687762"/>
            <a:ext cx="164623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32"/>
          <p:cNvSpPr txBox="1"/>
          <p:nvPr/>
        </p:nvSpPr>
        <p:spPr>
          <a:xfrm>
            <a:off x="6491287" y="4140200"/>
            <a:ext cx="1473200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32"/>
          <p:cNvSpPr txBox="1"/>
          <p:nvPr/>
        </p:nvSpPr>
        <p:spPr>
          <a:xfrm>
            <a:off x="6118225" y="4776787"/>
            <a:ext cx="1474787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32"/>
          <p:cNvSpPr txBox="1"/>
          <p:nvPr/>
        </p:nvSpPr>
        <p:spPr>
          <a:xfrm>
            <a:off x="1611312" y="4870450"/>
            <a:ext cx="1474787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32"/>
          <p:cNvSpPr txBox="1"/>
          <p:nvPr/>
        </p:nvSpPr>
        <p:spPr>
          <a:xfrm>
            <a:off x="1611312" y="481647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821" name="Google Shape;821;p32"/>
          <p:cNvSpPr txBox="1"/>
          <p:nvPr/>
        </p:nvSpPr>
        <p:spPr>
          <a:xfrm>
            <a:off x="1171575" y="4100512"/>
            <a:ext cx="417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822" name="Google Shape;822;p32"/>
          <p:cNvSpPr txBox="1"/>
          <p:nvPr/>
        </p:nvSpPr>
        <p:spPr>
          <a:xfrm>
            <a:off x="914400" y="3656012"/>
            <a:ext cx="474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</a:t>
            </a:r>
            <a:endParaRPr/>
          </a:p>
        </p:txBody>
      </p:sp>
      <p:sp>
        <p:nvSpPr>
          <p:cNvPr id="823" name="Google Shape;823;p32"/>
          <p:cNvSpPr txBox="1"/>
          <p:nvPr/>
        </p:nvSpPr>
        <p:spPr>
          <a:xfrm>
            <a:off x="647700" y="3109912"/>
            <a:ext cx="4968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824" name="Google Shape;824;p32"/>
          <p:cNvSpPr txBox="1"/>
          <p:nvPr/>
        </p:nvSpPr>
        <p:spPr>
          <a:xfrm>
            <a:off x="419100" y="2586037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</a:t>
            </a:r>
            <a:endParaRPr/>
          </a:p>
        </p:txBody>
      </p:sp>
      <p:sp>
        <p:nvSpPr>
          <p:cNvPr id="825" name="Google Shape;825;p32"/>
          <p:cNvSpPr txBox="1"/>
          <p:nvPr/>
        </p:nvSpPr>
        <p:spPr>
          <a:xfrm>
            <a:off x="123825" y="2154237"/>
            <a:ext cx="4397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</a:t>
            </a:r>
            <a:endParaRPr/>
          </a:p>
        </p:txBody>
      </p:sp>
      <p:sp>
        <p:nvSpPr>
          <p:cNvPr id="826" name="Google Shape;826;p32"/>
          <p:cNvSpPr txBox="1"/>
          <p:nvPr/>
        </p:nvSpPr>
        <p:spPr>
          <a:xfrm>
            <a:off x="6446837" y="4829175"/>
            <a:ext cx="81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Coffee</a:t>
            </a:r>
            <a:endParaRPr/>
          </a:p>
        </p:txBody>
      </p:sp>
      <p:sp>
        <p:nvSpPr>
          <p:cNvPr id="827" name="Google Shape;827;p32"/>
          <p:cNvSpPr txBox="1"/>
          <p:nvPr/>
        </p:nvSpPr>
        <p:spPr>
          <a:xfrm>
            <a:off x="6851650" y="4124325"/>
            <a:ext cx="879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828" name="Google Shape;828;p32"/>
          <p:cNvSpPr txBox="1"/>
          <p:nvPr/>
        </p:nvSpPr>
        <p:spPr>
          <a:xfrm>
            <a:off x="7069137" y="3665537"/>
            <a:ext cx="1174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Dictionary</a:t>
            </a:r>
            <a:endParaRPr/>
          </a:p>
        </p:txBody>
      </p:sp>
      <p:sp>
        <p:nvSpPr>
          <p:cNvPr id="829" name="Google Shape;829;p32"/>
          <p:cNvSpPr txBox="1"/>
          <p:nvPr/>
        </p:nvSpPr>
        <p:spPr>
          <a:xfrm>
            <a:off x="7213600" y="3100387"/>
            <a:ext cx="120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Thesaurus</a:t>
            </a:r>
            <a:endParaRPr/>
          </a:p>
        </p:txBody>
      </p:sp>
      <p:sp>
        <p:nvSpPr>
          <p:cNvPr id="830" name="Google Shape;830;p32"/>
          <p:cNvSpPr txBox="1"/>
          <p:nvPr/>
        </p:nvSpPr>
        <p:spPr>
          <a:xfrm>
            <a:off x="7527925" y="2578100"/>
            <a:ext cx="11160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831" name="Google Shape;831;p32"/>
          <p:cNvSpPr txBox="1"/>
          <p:nvPr/>
        </p:nvSpPr>
        <p:spPr>
          <a:xfrm>
            <a:off x="7775575" y="2154237"/>
            <a:ext cx="7794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</a:t>
            </a:r>
            <a:endParaRPr/>
          </a:p>
        </p:txBody>
      </p:sp>
      <p:sp>
        <p:nvSpPr>
          <p:cNvPr id="832" name="Google Shape;832;p32"/>
          <p:cNvSpPr/>
          <p:nvPr/>
        </p:nvSpPr>
        <p:spPr>
          <a:xfrm>
            <a:off x="2841625" y="4964112"/>
            <a:ext cx="160337" cy="1635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32"/>
          <p:cNvSpPr/>
          <p:nvPr/>
        </p:nvSpPr>
        <p:spPr>
          <a:xfrm>
            <a:off x="2478087" y="4198937"/>
            <a:ext cx="160337" cy="1428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2"/>
          <p:cNvSpPr/>
          <p:nvPr/>
        </p:nvSpPr>
        <p:spPr>
          <a:xfrm>
            <a:off x="2159000" y="3740150"/>
            <a:ext cx="157162" cy="15398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32"/>
          <p:cNvSpPr/>
          <p:nvPr/>
        </p:nvSpPr>
        <p:spPr>
          <a:xfrm>
            <a:off x="1884362" y="3094037"/>
            <a:ext cx="158750" cy="1524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32"/>
          <p:cNvSpPr/>
          <p:nvPr/>
        </p:nvSpPr>
        <p:spPr>
          <a:xfrm>
            <a:off x="1625600" y="2614612"/>
            <a:ext cx="158750" cy="1603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2"/>
          <p:cNvSpPr/>
          <p:nvPr/>
        </p:nvSpPr>
        <p:spPr>
          <a:xfrm>
            <a:off x="1384300" y="2205037"/>
            <a:ext cx="158750" cy="1651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2"/>
          <p:cNvSpPr/>
          <p:nvPr/>
        </p:nvSpPr>
        <p:spPr>
          <a:xfrm>
            <a:off x="6143625" y="483552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32"/>
          <p:cNvSpPr/>
          <p:nvPr/>
        </p:nvSpPr>
        <p:spPr>
          <a:xfrm>
            <a:off x="6545262" y="4203700"/>
            <a:ext cx="160337" cy="1571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32"/>
          <p:cNvSpPr/>
          <p:nvPr/>
        </p:nvSpPr>
        <p:spPr>
          <a:xfrm>
            <a:off x="6681787" y="3729037"/>
            <a:ext cx="157162" cy="1603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32"/>
          <p:cNvSpPr/>
          <p:nvPr/>
        </p:nvSpPr>
        <p:spPr>
          <a:xfrm>
            <a:off x="6865937" y="3071812"/>
            <a:ext cx="158750" cy="1603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32"/>
          <p:cNvSpPr/>
          <p:nvPr/>
        </p:nvSpPr>
        <p:spPr>
          <a:xfrm>
            <a:off x="7213600" y="2600325"/>
            <a:ext cx="160337" cy="1698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32"/>
          <p:cNvSpPr/>
          <p:nvPr/>
        </p:nvSpPr>
        <p:spPr>
          <a:xfrm>
            <a:off x="7485062" y="2189162"/>
            <a:ext cx="157162" cy="1524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32"/>
          <p:cNvSpPr txBox="1"/>
          <p:nvPr/>
        </p:nvSpPr>
        <p:spPr>
          <a:xfrm>
            <a:off x="3635375" y="1765300"/>
            <a:ext cx="1597025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32"/>
          <p:cNvSpPr txBox="1"/>
          <p:nvPr/>
        </p:nvSpPr>
        <p:spPr>
          <a:xfrm>
            <a:off x="3897312" y="174942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846" name="Google Shape;846;p32"/>
          <p:cNvSpPr/>
          <p:nvPr/>
        </p:nvSpPr>
        <p:spPr>
          <a:xfrm>
            <a:off x="4932362" y="1820862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32"/>
          <p:cNvSpPr txBox="1"/>
          <p:nvPr/>
        </p:nvSpPr>
        <p:spPr>
          <a:xfrm>
            <a:off x="4224337" y="1771650"/>
            <a:ext cx="7540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Pencils</a:t>
            </a:r>
            <a:endParaRPr/>
          </a:p>
        </p:txBody>
      </p:sp>
      <p:sp>
        <p:nvSpPr>
          <p:cNvPr id="848" name="Google Shape;848;p32"/>
          <p:cNvSpPr/>
          <p:nvPr/>
        </p:nvSpPr>
        <p:spPr>
          <a:xfrm>
            <a:off x="3736975" y="182562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32"/>
          <p:cNvSpPr/>
          <p:nvPr/>
        </p:nvSpPr>
        <p:spPr>
          <a:xfrm>
            <a:off x="2903537" y="1931987"/>
            <a:ext cx="908050" cy="311785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85"/>
                  <a:pt x="9647" y="20"/>
                  <a:pt x="21562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85"/>
                  <a:pt x="9647" y="20"/>
                  <a:pt x="21562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32"/>
          <p:cNvSpPr/>
          <p:nvPr/>
        </p:nvSpPr>
        <p:spPr>
          <a:xfrm>
            <a:off x="5029200" y="1931987"/>
            <a:ext cx="2546350" cy="355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32"/>
          <p:cNvSpPr txBox="1"/>
          <p:nvPr/>
        </p:nvSpPr>
        <p:spPr>
          <a:xfrm>
            <a:off x="3657600" y="2000250"/>
            <a:ext cx="1500187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 Monday $.49</a:t>
            </a:r>
            <a:endParaRPr/>
          </a:p>
        </p:txBody>
      </p:sp>
      <p:sp>
        <p:nvSpPr>
          <p:cNvPr id="852" name="Google Shape;852;p32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53" name="Google Shape;853;p3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sz="32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3"/>
          <p:cNvSpPr txBox="1"/>
          <p:nvPr>
            <p:ph type="title"/>
          </p:nvPr>
        </p:nvSpPr>
        <p:spPr>
          <a:xfrm>
            <a:off x="76200" y="152400"/>
            <a:ext cx="8991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❹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Expand Many-to-Many Associations</a:t>
            </a:r>
            <a:endParaRPr/>
          </a:p>
        </p:txBody>
      </p:sp>
      <p:sp>
        <p:nvSpPr>
          <p:cNvPr id="859" name="Google Shape;859;p33"/>
          <p:cNvSpPr txBox="1"/>
          <p:nvPr/>
        </p:nvSpPr>
        <p:spPr>
          <a:xfrm>
            <a:off x="134937" y="2139950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3"/>
          <p:cNvSpPr txBox="1"/>
          <p:nvPr/>
        </p:nvSpPr>
        <p:spPr>
          <a:xfrm>
            <a:off x="373062" y="2547937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33"/>
          <p:cNvSpPr txBox="1"/>
          <p:nvPr/>
        </p:nvSpPr>
        <p:spPr>
          <a:xfrm>
            <a:off x="630237" y="3044825"/>
            <a:ext cx="1473200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3"/>
          <p:cNvSpPr txBox="1"/>
          <p:nvPr/>
        </p:nvSpPr>
        <p:spPr>
          <a:xfrm>
            <a:off x="925512" y="3678237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33"/>
          <p:cNvSpPr txBox="1"/>
          <p:nvPr/>
        </p:nvSpPr>
        <p:spPr>
          <a:xfrm>
            <a:off x="1220787" y="4119562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33"/>
          <p:cNvSpPr txBox="1"/>
          <p:nvPr/>
        </p:nvSpPr>
        <p:spPr>
          <a:xfrm>
            <a:off x="7443787" y="2139950"/>
            <a:ext cx="1560512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33"/>
          <p:cNvSpPr txBox="1"/>
          <p:nvPr/>
        </p:nvSpPr>
        <p:spPr>
          <a:xfrm>
            <a:off x="7167562" y="2540000"/>
            <a:ext cx="15875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33"/>
          <p:cNvSpPr txBox="1"/>
          <p:nvPr/>
        </p:nvSpPr>
        <p:spPr>
          <a:xfrm>
            <a:off x="6834187" y="3035300"/>
            <a:ext cx="1703387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33"/>
          <p:cNvSpPr txBox="1"/>
          <p:nvPr/>
        </p:nvSpPr>
        <p:spPr>
          <a:xfrm>
            <a:off x="6653212" y="3687762"/>
            <a:ext cx="164623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33"/>
          <p:cNvSpPr txBox="1"/>
          <p:nvPr/>
        </p:nvSpPr>
        <p:spPr>
          <a:xfrm>
            <a:off x="6491287" y="4140200"/>
            <a:ext cx="1473200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33"/>
          <p:cNvSpPr txBox="1"/>
          <p:nvPr/>
        </p:nvSpPr>
        <p:spPr>
          <a:xfrm>
            <a:off x="6118225" y="4776787"/>
            <a:ext cx="1474787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33"/>
          <p:cNvSpPr txBox="1"/>
          <p:nvPr/>
        </p:nvSpPr>
        <p:spPr>
          <a:xfrm>
            <a:off x="1611312" y="4870450"/>
            <a:ext cx="1474787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33"/>
          <p:cNvSpPr txBox="1"/>
          <p:nvPr/>
        </p:nvSpPr>
        <p:spPr>
          <a:xfrm>
            <a:off x="1611312" y="481647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872" name="Google Shape;872;p33"/>
          <p:cNvSpPr txBox="1"/>
          <p:nvPr/>
        </p:nvSpPr>
        <p:spPr>
          <a:xfrm>
            <a:off x="1171575" y="4100512"/>
            <a:ext cx="417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873" name="Google Shape;873;p33"/>
          <p:cNvSpPr txBox="1"/>
          <p:nvPr/>
        </p:nvSpPr>
        <p:spPr>
          <a:xfrm>
            <a:off x="914400" y="3656012"/>
            <a:ext cx="474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</a:t>
            </a:r>
            <a:endParaRPr/>
          </a:p>
        </p:txBody>
      </p:sp>
      <p:sp>
        <p:nvSpPr>
          <p:cNvPr id="874" name="Google Shape;874;p33"/>
          <p:cNvSpPr txBox="1"/>
          <p:nvPr/>
        </p:nvSpPr>
        <p:spPr>
          <a:xfrm>
            <a:off x="647700" y="3109912"/>
            <a:ext cx="4968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875" name="Google Shape;875;p33"/>
          <p:cNvSpPr txBox="1"/>
          <p:nvPr/>
        </p:nvSpPr>
        <p:spPr>
          <a:xfrm>
            <a:off x="419100" y="2586037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</a:t>
            </a:r>
            <a:endParaRPr/>
          </a:p>
        </p:txBody>
      </p:sp>
      <p:sp>
        <p:nvSpPr>
          <p:cNvPr id="876" name="Google Shape;876;p33"/>
          <p:cNvSpPr txBox="1"/>
          <p:nvPr/>
        </p:nvSpPr>
        <p:spPr>
          <a:xfrm>
            <a:off x="123825" y="2154237"/>
            <a:ext cx="4397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</a:t>
            </a:r>
            <a:endParaRPr/>
          </a:p>
        </p:txBody>
      </p:sp>
      <p:sp>
        <p:nvSpPr>
          <p:cNvPr id="877" name="Google Shape;877;p33"/>
          <p:cNvSpPr txBox="1"/>
          <p:nvPr/>
        </p:nvSpPr>
        <p:spPr>
          <a:xfrm>
            <a:off x="6446837" y="4829175"/>
            <a:ext cx="81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Coffee</a:t>
            </a:r>
            <a:endParaRPr/>
          </a:p>
        </p:txBody>
      </p:sp>
      <p:sp>
        <p:nvSpPr>
          <p:cNvPr id="878" name="Google Shape;878;p33"/>
          <p:cNvSpPr txBox="1"/>
          <p:nvPr/>
        </p:nvSpPr>
        <p:spPr>
          <a:xfrm>
            <a:off x="6851650" y="4124325"/>
            <a:ext cx="879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879" name="Google Shape;879;p33"/>
          <p:cNvSpPr txBox="1"/>
          <p:nvPr/>
        </p:nvSpPr>
        <p:spPr>
          <a:xfrm>
            <a:off x="7069137" y="3665537"/>
            <a:ext cx="1174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Dictionary</a:t>
            </a:r>
            <a:endParaRPr/>
          </a:p>
        </p:txBody>
      </p:sp>
      <p:sp>
        <p:nvSpPr>
          <p:cNvPr id="880" name="Google Shape;880;p33"/>
          <p:cNvSpPr txBox="1"/>
          <p:nvPr/>
        </p:nvSpPr>
        <p:spPr>
          <a:xfrm>
            <a:off x="7213600" y="3100387"/>
            <a:ext cx="120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Thesaurus</a:t>
            </a:r>
            <a:endParaRPr/>
          </a:p>
        </p:txBody>
      </p:sp>
      <p:sp>
        <p:nvSpPr>
          <p:cNvPr id="881" name="Google Shape;881;p33"/>
          <p:cNvSpPr txBox="1"/>
          <p:nvPr/>
        </p:nvSpPr>
        <p:spPr>
          <a:xfrm>
            <a:off x="7527925" y="2578100"/>
            <a:ext cx="11160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882" name="Google Shape;882;p33"/>
          <p:cNvSpPr txBox="1"/>
          <p:nvPr/>
        </p:nvSpPr>
        <p:spPr>
          <a:xfrm>
            <a:off x="7775575" y="2154237"/>
            <a:ext cx="7794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</a:t>
            </a:r>
            <a:endParaRPr/>
          </a:p>
        </p:txBody>
      </p:sp>
      <p:sp>
        <p:nvSpPr>
          <p:cNvPr id="883" name="Google Shape;883;p33"/>
          <p:cNvSpPr/>
          <p:nvPr/>
        </p:nvSpPr>
        <p:spPr>
          <a:xfrm>
            <a:off x="2841625" y="4964112"/>
            <a:ext cx="160337" cy="1635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33"/>
          <p:cNvSpPr/>
          <p:nvPr/>
        </p:nvSpPr>
        <p:spPr>
          <a:xfrm>
            <a:off x="2478087" y="4198937"/>
            <a:ext cx="160337" cy="1428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33"/>
          <p:cNvSpPr/>
          <p:nvPr/>
        </p:nvSpPr>
        <p:spPr>
          <a:xfrm>
            <a:off x="2159000" y="3740150"/>
            <a:ext cx="157162" cy="15398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33"/>
          <p:cNvSpPr/>
          <p:nvPr/>
        </p:nvSpPr>
        <p:spPr>
          <a:xfrm>
            <a:off x="1884362" y="3094037"/>
            <a:ext cx="158750" cy="1524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33"/>
          <p:cNvSpPr/>
          <p:nvPr/>
        </p:nvSpPr>
        <p:spPr>
          <a:xfrm>
            <a:off x="1625600" y="2614612"/>
            <a:ext cx="158750" cy="1603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33"/>
          <p:cNvSpPr/>
          <p:nvPr/>
        </p:nvSpPr>
        <p:spPr>
          <a:xfrm>
            <a:off x="1384300" y="2205037"/>
            <a:ext cx="158750" cy="1651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33"/>
          <p:cNvSpPr/>
          <p:nvPr/>
        </p:nvSpPr>
        <p:spPr>
          <a:xfrm>
            <a:off x="6143625" y="483552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33"/>
          <p:cNvSpPr/>
          <p:nvPr/>
        </p:nvSpPr>
        <p:spPr>
          <a:xfrm>
            <a:off x="6545262" y="4203700"/>
            <a:ext cx="160337" cy="1571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33"/>
          <p:cNvSpPr/>
          <p:nvPr/>
        </p:nvSpPr>
        <p:spPr>
          <a:xfrm>
            <a:off x="6681787" y="3729037"/>
            <a:ext cx="157162" cy="1603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33"/>
          <p:cNvSpPr/>
          <p:nvPr/>
        </p:nvSpPr>
        <p:spPr>
          <a:xfrm>
            <a:off x="6865937" y="3071812"/>
            <a:ext cx="158750" cy="1603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33"/>
          <p:cNvSpPr/>
          <p:nvPr/>
        </p:nvSpPr>
        <p:spPr>
          <a:xfrm>
            <a:off x="7213600" y="2600325"/>
            <a:ext cx="160337" cy="1698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33"/>
          <p:cNvSpPr/>
          <p:nvPr/>
        </p:nvSpPr>
        <p:spPr>
          <a:xfrm>
            <a:off x="7485062" y="2189162"/>
            <a:ext cx="157162" cy="1524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33"/>
          <p:cNvSpPr txBox="1"/>
          <p:nvPr/>
        </p:nvSpPr>
        <p:spPr>
          <a:xfrm>
            <a:off x="3635375" y="1765300"/>
            <a:ext cx="1597025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33"/>
          <p:cNvSpPr txBox="1"/>
          <p:nvPr/>
        </p:nvSpPr>
        <p:spPr>
          <a:xfrm>
            <a:off x="3897312" y="174942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897" name="Google Shape;897;p33"/>
          <p:cNvSpPr/>
          <p:nvPr/>
        </p:nvSpPr>
        <p:spPr>
          <a:xfrm>
            <a:off x="4932362" y="1820862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33"/>
          <p:cNvSpPr txBox="1"/>
          <p:nvPr/>
        </p:nvSpPr>
        <p:spPr>
          <a:xfrm>
            <a:off x="4224337" y="1771650"/>
            <a:ext cx="7540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Pencils</a:t>
            </a:r>
            <a:endParaRPr/>
          </a:p>
        </p:txBody>
      </p:sp>
      <p:sp>
        <p:nvSpPr>
          <p:cNvPr id="899" name="Google Shape;899;p33"/>
          <p:cNvSpPr/>
          <p:nvPr/>
        </p:nvSpPr>
        <p:spPr>
          <a:xfrm>
            <a:off x="3736975" y="182562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33"/>
          <p:cNvSpPr/>
          <p:nvPr/>
        </p:nvSpPr>
        <p:spPr>
          <a:xfrm>
            <a:off x="2884487" y="1912937"/>
            <a:ext cx="927100" cy="313690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85"/>
                  <a:pt x="9648" y="20"/>
                  <a:pt x="21563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85"/>
                  <a:pt x="9648" y="20"/>
                  <a:pt x="21563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33"/>
          <p:cNvSpPr/>
          <p:nvPr/>
        </p:nvSpPr>
        <p:spPr>
          <a:xfrm>
            <a:off x="5029200" y="1912937"/>
            <a:ext cx="2565400" cy="37465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33"/>
          <p:cNvSpPr txBox="1"/>
          <p:nvPr/>
        </p:nvSpPr>
        <p:spPr>
          <a:xfrm>
            <a:off x="3657600" y="2000250"/>
            <a:ext cx="1500187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 Monday $.49</a:t>
            </a:r>
            <a:endParaRPr/>
          </a:p>
        </p:txBody>
      </p:sp>
      <p:sp>
        <p:nvSpPr>
          <p:cNvPr id="903" name="Google Shape;903;p33"/>
          <p:cNvSpPr txBox="1"/>
          <p:nvPr/>
        </p:nvSpPr>
        <p:spPr>
          <a:xfrm>
            <a:off x="3686175" y="2355850"/>
            <a:ext cx="1597025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33"/>
          <p:cNvSpPr txBox="1"/>
          <p:nvPr/>
        </p:nvSpPr>
        <p:spPr>
          <a:xfrm>
            <a:off x="3948112" y="233997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</a:t>
            </a:r>
            <a:endParaRPr/>
          </a:p>
        </p:txBody>
      </p:sp>
      <p:sp>
        <p:nvSpPr>
          <p:cNvPr id="905" name="Google Shape;905;p33"/>
          <p:cNvSpPr/>
          <p:nvPr/>
        </p:nvSpPr>
        <p:spPr>
          <a:xfrm>
            <a:off x="5035550" y="2420937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3"/>
          <p:cNvSpPr txBox="1"/>
          <p:nvPr/>
        </p:nvSpPr>
        <p:spPr>
          <a:xfrm>
            <a:off x="4322762" y="2371725"/>
            <a:ext cx="74295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907" name="Google Shape;907;p33"/>
          <p:cNvSpPr/>
          <p:nvPr/>
        </p:nvSpPr>
        <p:spPr>
          <a:xfrm>
            <a:off x="3778250" y="241617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33"/>
          <p:cNvSpPr txBox="1"/>
          <p:nvPr/>
        </p:nvSpPr>
        <p:spPr>
          <a:xfrm>
            <a:off x="3662362" y="2590800"/>
            <a:ext cx="164782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 Tuesday $1.49</a:t>
            </a:r>
            <a:endParaRPr/>
          </a:p>
        </p:txBody>
      </p:sp>
      <p:sp>
        <p:nvSpPr>
          <p:cNvPr id="909" name="Google Shape;909;p33"/>
          <p:cNvSpPr txBox="1"/>
          <p:nvPr/>
        </p:nvSpPr>
        <p:spPr>
          <a:xfrm>
            <a:off x="3762375" y="2889250"/>
            <a:ext cx="1597025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33"/>
          <p:cNvSpPr txBox="1"/>
          <p:nvPr/>
        </p:nvSpPr>
        <p:spPr>
          <a:xfrm>
            <a:off x="3900487" y="2873375"/>
            <a:ext cx="4968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911" name="Google Shape;911;p33"/>
          <p:cNvSpPr/>
          <p:nvPr/>
        </p:nvSpPr>
        <p:spPr>
          <a:xfrm>
            <a:off x="5140325" y="294957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33"/>
          <p:cNvSpPr txBox="1"/>
          <p:nvPr/>
        </p:nvSpPr>
        <p:spPr>
          <a:xfrm>
            <a:off x="4246562" y="2905125"/>
            <a:ext cx="93980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913" name="Google Shape;913;p33"/>
          <p:cNvSpPr/>
          <p:nvPr/>
        </p:nvSpPr>
        <p:spPr>
          <a:xfrm>
            <a:off x="3797300" y="293052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33"/>
          <p:cNvSpPr txBox="1"/>
          <p:nvPr/>
        </p:nvSpPr>
        <p:spPr>
          <a:xfrm>
            <a:off x="3879850" y="3124200"/>
            <a:ext cx="136207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Friday $2.00</a:t>
            </a:r>
            <a:endParaRPr/>
          </a:p>
        </p:txBody>
      </p:sp>
      <p:sp>
        <p:nvSpPr>
          <p:cNvPr id="915" name="Google Shape;915;p33"/>
          <p:cNvSpPr txBox="1"/>
          <p:nvPr/>
        </p:nvSpPr>
        <p:spPr>
          <a:xfrm>
            <a:off x="3838575" y="3422650"/>
            <a:ext cx="1597025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33"/>
          <p:cNvSpPr txBox="1"/>
          <p:nvPr/>
        </p:nvSpPr>
        <p:spPr>
          <a:xfrm>
            <a:off x="3976687" y="3406775"/>
            <a:ext cx="4968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917" name="Google Shape;917;p33"/>
          <p:cNvSpPr/>
          <p:nvPr/>
        </p:nvSpPr>
        <p:spPr>
          <a:xfrm>
            <a:off x="5197475" y="348297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33"/>
          <p:cNvSpPr txBox="1"/>
          <p:nvPr/>
        </p:nvSpPr>
        <p:spPr>
          <a:xfrm>
            <a:off x="4427537" y="3429000"/>
            <a:ext cx="74295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919" name="Google Shape;919;p33"/>
          <p:cNvSpPr/>
          <p:nvPr/>
        </p:nvSpPr>
        <p:spPr>
          <a:xfrm>
            <a:off x="3873500" y="346392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33"/>
          <p:cNvSpPr txBox="1"/>
          <p:nvPr/>
        </p:nvSpPr>
        <p:spPr>
          <a:xfrm>
            <a:off x="3911600" y="3657600"/>
            <a:ext cx="145097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 Tuesday $.49</a:t>
            </a:r>
            <a:endParaRPr/>
          </a:p>
        </p:txBody>
      </p:sp>
      <p:sp>
        <p:nvSpPr>
          <p:cNvPr id="921" name="Google Shape;921;p33"/>
          <p:cNvSpPr/>
          <p:nvPr/>
        </p:nvSpPr>
        <p:spPr>
          <a:xfrm>
            <a:off x="1722437" y="2541587"/>
            <a:ext cx="2089150" cy="16510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76"/>
                  <a:pt x="9660" y="8"/>
                  <a:pt x="21584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76"/>
                  <a:pt x="9660" y="8"/>
                  <a:pt x="21584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33"/>
          <p:cNvSpPr/>
          <p:nvPr/>
        </p:nvSpPr>
        <p:spPr>
          <a:xfrm>
            <a:off x="5086350" y="2541587"/>
            <a:ext cx="1522412" cy="175577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33"/>
          <p:cNvSpPr/>
          <p:nvPr/>
        </p:nvSpPr>
        <p:spPr>
          <a:xfrm>
            <a:off x="2008187" y="3036887"/>
            <a:ext cx="1860550" cy="14605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77"/>
                  <a:pt x="9659" y="9"/>
                  <a:pt x="21582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77"/>
                  <a:pt x="9659" y="9"/>
                  <a:pt x="21582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33"/>
          <p:cNvSpPr/>
          <p:nvPr/>
        </p:nvSpPr>
        <p:spPr>
          <a:xfrm>
            <a:off x="1989137" y="3181350"/>
            <a:ext cx="1974850" cy="355600"/>
          </a:xfrm>
          <a:custGeom>
            <a:rect b="b" l="l" r="r" t="t"/>
            <a:pathLst>
              <a:path extrusionOk="0" fill="none" h="21600" w="2160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extrusionOk="0" h="21600" w="2160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33"/>
          <p:cNvSpPr/>
          <p:nvPr/>
        </p:nvSpPr>
        <p:spPr>
          <a:xfrm>
            <a:off x="5246687" y="2732087"/>
            <a:ext cx="2051050" cy="33655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77"/>
                  <a:pt x="9660" y="9"/>
                  <a:pt x="21583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77"/>
                  <a:pt x="9660" y="9"/>
                  <a:pt x="21583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33"/>
          <p:cNvSpPr/>
          <p:nvPr/>
        </p:nvSpPr>
        <p:spPr>
          <a:xfrm>
            <a:off x="5295900" y="3608387"/>
            <a:ext cx="1289050" cy="736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33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wipe dir="d"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4"/>
          <p:cNvSpPr txBox="1"/>
          <p:nvPr>
            <p:ph type="title"/>
          </p:nvPr>
        </p:nvSpPr>
        <p:spPr>
          <a:xfrm>
            <a:off x="76200" y="152400"/>
            <a:ext cx="8991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❹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Expand Many-to-Many Associations</a:t>
            </a:r>
            <a:endParaRPr/>
          </a:p>
        </p:txBody>
      </p:sp>
      <p:sp>
        <p:nvSpPr>
          <p:cNvPr id="933" name="Google Shape;933;p34"/>
          <p:cNvSpPr txBox="1"/>
          <p:nvPr/>
        </p:nvSpPr>
        <p:spPr>
          <a:xfrm>
            <a:off x="134937" y="2139950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34"/>
          <p:cNvSpPr txBox="1"/>
          <p:nvPr/>
        </p:nvSpPr>
        <p:spPr>
          <a:xfrm>
            <a:off x="373062" y="2547937"/>
            <a:ext cx="14732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34"/>
          <p:cNvSpPr txBox="1"/>
          <p:nvPr/>
        </p:nvSpPr>
        <p:spPr>
          <a:xfrm>
            <a:off x="630237" y="3044825"/>
            <a:ext cx="1473200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34"/>
          <p:cNvSpPr txBox="1"/>
          <p:nvPr/>
        </p:nvSpPr>
        <p:spPr>
          <a:xfrm>
            <a:off x="925512" y="3678237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34"/>
          <p:cNvSpPr txBox="1"/>
          <p:nvPr/>
        </p:nvSpPr>
        <p:spPr>
          <a:xfrm>
            <a:off x="1220787" y="4119562"/>
            <a:ext cx="147478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34"/>
          <p:cNvSpPr txBox="1"/>
          <p:nvPr/>
        </p:nvSpPr>
        <p:spPr>
          <a:xfrm>
            <a:off x="7443787" y="2139950"/>
            <a:ext cx="1560512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34"/>
          <p:cNvSpPr txBox="1"/>
          <p:nvPr/>
        </p:nvSpPr>
        <p:spPr>
          <a:xfrm>
            <a:off x="7167562" y="2540000"/>
            <a:ext cx="1587500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34"/>
          <p:cNvSpPr txBox="1"/>
          <p:nvPr/>
        </p:nvSpPr>
        <p:spPr>
          <a:xfrm>
            <a:off x="6834187" y="3035300"/>
            <a:ext cx="1703387" cy="10302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34"/>
          <p:cNvSpPr txBox="1"/>
          <p:nvPr/>
        </p:nvSpPr>
        <p:spPr>
          <a:xfrm>
            <a:off x="6653212" y="3687762"/>
            <a:ext cx="1646237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34"/>
          <p:cNvSpPr txBox="1"/>
          <p:nvPr/>
        </p:nvSpPr>
        <p:spPr>
          <a:xfrm>
            <a:off x="6491287" y="4140200"/>
            <a:ext cx="1473200" cy="10318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34"/>
          <p:cNvSpPr txBox="1"/>
          <p:nvPr/>
        </p:nvSpPr>
        <p:spPr>
          <a:xfrm>
            <a:off x="6118225" y="4776787"/>
            <a:ext cx="1474787" cy="10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34"/>
          <p:cNvSpPr txBox="1"/>
          <p:nvPr/>
        </p:nvSpPr>
        <p:spPr>
          <a:xfrm>
            <a:off x="1611312" y="4870450"/>
            <a:ext cx="1474787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34"/>
          <p:cNvSpPr txBox="1"/>
          <p:nvPr/>
        </p:nvSpPr>
        <p:spPr>
          <a:xfrm>
            <a:off x="1611312" y="481647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946" name="Google Shape;946;p34"/>
          <p:cNvSpPr txBox="1"/>
          <p:nvPr/>
        </p:nvSpPr>
        <p:spPr>
          <a:xfrm>
            <a:off x="1171575" y="4100512"/>
            <a:ext cx="417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947" name="Google Shape;947;p34"/>
          <p:cNvSpPr txBox="1"/>
          <p:nvPr/>
        </p:nvSpPr>
        <p:spPr>
          <a:xfrm>
            <a:off x="914400" y="3656012"/>
            <a:ext cx="474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</a:t>
            </a:r>
            <a:endParaRPr/>
          </a:p>
        </p:txBody>
      </p:sp>
      <p:sp>
        <p:nvSpPr>
          <p:cNvPr id="948" name="Google Shape;948;p34"/>
          <p:cNvSpPr txBox="1"/>
          <p:nvPr/>
        </p:nvSpPr>
        <p:spPr>
          <a:xfrm>
            <a:off x="647700" y="3109912"/>
            <a:ext cx="4968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949" name="Google Shape;949;p34"/>
          <p:cNvSpPr txBox="1"/>
          <p:nvPr/>
        </p:nvSpPr>
        <p:spPr>
          <a:xfrm>
            <a:off x="419100" y="2586037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</a:t>
            </a:r>
            <a:endParaRPr/>
          </a:p>
        </p:txBody>
      </p:sp>
      <p:sp>
        <p:nvSpPr>
          <p:cNvPr id="950" name="Google Shape;950;p34"/>
          <p:cNvSpPr txBox="1"/>
          <p:nvPr/>
        </p:nvSpPr>
        <p:spPr>
          <a:xfrm>
            <a:off x="123825" y="2154237"/>
            <a:ext cx="4397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</a:t>
            </a:r>
            <a:endParaRPr/>
          </a:p>
        </p:txBody>
      </p:sp>
      <p:sp>
        <p:nvSpPr>
          <p:cNvPr id="951" name="Google Shape;951;p34"/>
          <p:cNvSpPr/>
          <p:nvPr/>
        </p:nvSpPr>
        <p:spPr>
          <a:xfrm>
            <a:off x="2841625" y="4964112"/>
            <a:ext cx="160337" cy="1635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4"/>
          <p:cNvSpPr/>
          <p:nvPr/>
        </p:nvSpPr>
        <p:spPr>
          <a:xfrm>
            <a:off x="2478087" y="4198937"/>
            <a:ext cx="160337" cy="1428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4"/>
          <p:cNvSpPr/>
          <p:nvPr/>
        </p:nvSpPr>
        <p:spPr>
          <a:xfrm>
            <a:off x="2159000" y="3740150"/>
            <a:ext cx="157162" cy="1635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34"/>
          <p:cNvSpPr/>
          <p:nvPr/>
        </p:nvSpPr>
        <p:spPr>
          <a:xfrm>
            <a:off x="1884362" y="3094037"/>
            <a:ext cx="158750" cy="1524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34"/>
          <p:cNvSpPr/>
          <p:nvPr/>
        </p:nvSpPr>
        <p:spPr>
          <a:xfrm>
            <a:off x="1625600" y="2614612"/>
            <a:ext cx="158750" cy="1603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34"/>
          <p:cNvSpPr/>
          <p:nvPr/>
        </p:nvSpPr>
        <p:spPr>
          <a:xfrm>
            <a:off x="1384300" y="2205037"/>
            <a:ext cx="158750" cy="1651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34"/>
          <p:cNvSpPr/>
          <p:nvPr/>
        </p:nvSpPr>
        <p:spPr>
          <a:xfrm>
            <a:off x="6143625" y="483552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34"/>
          <p:cNvSpPr/>
          <p:nvPr/>
        </p:nvSpPr>
        <p:spPr>
          <a:xfrm>
            <a:off x="6545262" y="4203700"/>
            <a:ext cx="160337" cy="1571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34"/>
          <p:cNvSpPr/>
          <p:nvPr/>
        </p:nvSpPr>
        <p:spPr>
          <a:xfrm>
            <a:off x="6681787" y="3729037"/>
            <a:ext cx="157162" cy="1698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34"/>
          <p:cNvSpPr/>
          <p:nvPr/>
        </p:nvSpPr>
        <p:spPr>
          <a:xfrm>
            <a:off x="6865937" y="3071812"/>
            <a:ext cx="158750" cy="160337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34"/>
          <p:cNvSpPr/>
          <p:nvPr/>
        </p:nvSpPr>
        <p:spPr>
          <a:xfrm>
            <a:off x="7213600" y="2600325"/>
            <a:ext cx="160337" cy="16986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34"/>
          <p:cNvSpPr/>
          <p:nvPr/>
        </p:nvSpPr>
        <p:spPr>
          <a:xfrm>
            <a:off x="7485062" y="2189162"/>
            <a:ext cx="157162" cy="1524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34"/>
          <p:cNvSpPr txBox="1"/>
          <p:nvPr/>
        </p:nvSpPr>
        <p:spPr>
          <a:xfrm>
            <a:off x="3635375" y="1765300"/>
            <a:ext cx="1597025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34"/>
          <p:cNvSpPr txBox="1"/>
          <p:nvPr/>
        </p:nvSpPr>
        <p:spPr>
          <a:xfrm>
            <a:off x="3897312" y="174942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</a:t>
            </a:r>
            <a:endParaRPr/>
          </a:p>
        </p:txBody>
      </p:sp>
      <p:sp>
        <p:nvSpPr>
          <p:cNvPr id="965" name="Google Shape;965;p34"/>
          <p:cNvSpPr/>
          <p:nvPr/>
        </p:nvSpPr>
        <p:spPr>
          <a:xfrm>
            <a:off x="4918075" y="182562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34"/>
          <p:cNvSpPr txBox="1"/>
          <p:nvPr/>
        </p:nvSpPr>
        <p:spPr>
          <a:xfrm>
            <a:off x="4224337" y="1771650"/>
            <a:ext cx="7540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Pencils</a:t>
            </a:r>
            <a:endParaRPr/>
          </a:p>
        </p:txBody>
      </p:sp>
      <p:sp>
        <p:nvSpPr>
          <p:cNvPr id="967" name="Google Shape;967;p34"/>
          <p:cNvSpPr/>
          <p:nvPr/>
        </p:nvSpPr>
        <p:spPr>
          <a:xfrm>
            <a:off x="3746500" y="182562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34"/>
          <p:cNvSpPr/>
          <p:nvPr/>
        </p:nvSpPr>
        <p:spPr>
          <a:xfrm>
            <a:off x="2884487" y="1912937"/>
            <a:ext cx="927100" cy="313690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85"/>
                  <a:pt x="9648" y="20"/>
                  <a:pt x="21563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85"/>
                  <a:pt x="9648" y="20"/>
                  <a:pt x="21563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34"/>
          <p:cNvSpPr/>
          <p:nvPr/>
        </p:nvSpPr>
        <p:spPr>
          <a:xfrm>
            <a:off x="5029200" y="1912937"/>
            <a:ext cx="2565400" cy="37465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34"/>
          <p:cNvSpPr txBox="1"/>
          <p:nvPr/>
        </p:nvSpPr>
        <p:spPr>
          <a:xfrm>
            <a:off x="3657600" y="2000250"/>
            <a:ext cx="1500187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 Monday $.49</a:t>
            </a:r>
            <a:endParaRPr/>
          </a:p>
        </p:txBody>
      </p:sp>
      <p:sp>
        <p:nvSpPr>
          <p:cNvPr id="971" name="Google Shape;971;p34"/>
          <p:cNvSpPr txBox="1"/>
          <p:nvPr/>
        </p:nvSpPr>
        <p:spPr>
          <a:xfrm>
            <a:off x="3686175" y="2355850"/>
            <a:ext cx="1597025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34"/>
          <p:cNvSpPr txBox="1"/>
          <p:nvPr/>
        </p:nvSpPr>
        <p:spPr>
          <a:xfrm>
            <a:off x="3948112" y="2339975"/>
            <a:ext cx="4508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</a:t>
            </a:r>
            <a:endParaRPr/>
          </a:p>
        </p:txBody>
      </p:sp>
      <p:sp>
        <p:nvSpPr>
          <p:cNvPr id="973" name="Google Shape;973;p34"/>
          <p:cNvSpPr/>
          <p:nvPr/>
        </p:nvSpPr>
        <p:spPr>
          <a:xfrm>
            <a:off x="4968875" y="241617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34"/>
          <p:cNvSpPr txBox="1"/>
          <p:nvPr/>
        </p:nvSpPr>
        <p:spPr>
          <a:xfrm>
            <a:off x="4322762" y="2371725"/>
            <a:ext cx="74295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975" name="Google Shape;975;p34"/>
          <p:cNvSpPr/>
          <p:nvPr/>
        </p:nvSpPr>
        <p:spPr>
          <a:xfrm>
            <a:off x="3797300" y="241617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34"/>
          <p:cNvSpPr txBox="1"/>
          <p:nvPr/>
        </p:nvSpPr>
        <p:spPr>
          <a:xfrm>
            <a:off x="3662362" y="2590800"/>
            <a:ext cx="164782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 Tuesday $1.49</a:t>
            </a:r>
            <a:endParaRPr/>
          </a:p>
        </p:txBody>
      </p:sp>
      <p:sp>
        <p:nvSpPr>
          <p:cNvPr id="977" name="Google Shape;977;p34"/>
          <p:cNvSpPr txBox="1"/>
          <p:nvPr/>
        </p:nvSpPr>
        <p:spPr>
          <a:xfrm>
            <a:off x="3762375" y="2889250"/>
            <a:ext cx="1597025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34"/>
          <p:cNvSpPr txBox="1"/>
          <p:nvPr/>
        </p:nvSpPr>
        <p:spPr>
          <a:xfrm>
            <a:off x="3900487" y="2873375"/>
            <a:ext cx="4968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979" name="Google Shape;979;p34"/>
          <p:cNvSpPr/>
          <p:nvPr/>
        </p:nvSpPr>
        <p:spPr>
          <a:xfrm>
            <a:off x="5121275" y="294957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34"/>
          <p:cNvSpPr txBox="1"/>
          <p:nvPr/>
        </p:nvSpPr>
        <p:spPr>
          <a:xfrm>
            <a:off x="4246562" y="2905125"/>
            <a:ext cx="93980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981" name="Google Shape;981;p34"/>
          <p:cNvSpPr/>
          <p:nvPr/>
        </p:nvSpPr>
        <p:spPr>
          <a:xfrm>
            <a:off x="3797300" y="294957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34"/>
          <p:cNvSpPr txBox="1"/>
          <p:nvPr/>
        </p:nvSpPr>
        <p:spPr>
          <a:xfrm>
            <a:off x="3879850" y="3124200"/>
            <a:ext cx="136207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Friday $2.00</a:t>
            </a:r>
            <a:endParaRPr/>
          </a:p>
        </p:txBody>
      </p:sp>
      <p:sp>
        <p:nvSpPr>
          <p:cNvPr id="983" name="Google Shape;983;p34"/>
          <p:cNvSpPr txBox="1"/>
          <p:nvPr/>
        </p:nvSpPr>
        <p:spPr>
          <a:xfrm>
            <a:off x="3838575" y="3422650"/>
            <a:ext cx="1597025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34"/>
          <p:cNvSpPr txBox="1"/>
          <p:nvPr/>
        </p:nvSpPr>
        <p:spPr>
          <a:xfrm>
            <a:off x="3976687" y="3406775"/>
            <a:ext cx="4968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</a:t>
            </a:r>
            <a:endParaRPr/>
          </a:p>
        </p:txBody>
      </p:sp>
      <p:sp>
        <p:nvSpPr>
          <p:cNvPr id="985" name="Google Shape;985;p34"/>
          <p:cNvSpPr/>
          <p:nvPr/>
        </p:nvSpPr>
        <p:spPr>
          <a:xfrm>
            <a:off x="5197475" y="348297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34"/>
          <p:cNvSpPr txBox="1"/>
          <p:nvPr/>
        </p:nvSpPr>
        <p:spPr>
          <a:xfrm>
            <a:off x="4427537" y="3429000"/>
            <a:ext cx="74295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987" name="Google Shape;987;p34"/>
          <p:cNvSpPr/>
          <p:nvPr/>
        </p:nvSpPr>
        <p:spPr>
          <a:xfrm>
            <a:off x="3873500" y="348297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34"/>
          <p:cNvSpPr txBox="1"/>
          <p:nvPr/>
        </p:nvSpPr>
        <p:spPr>
          <a:xfrm>
            <a:off x="3911600" y="3657600"/>
            <a:ext cx="145097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 Tuesday $.49</a:t>
            </a:r>
            <a:endParaRPr/>
          </a:p>
        </p:txBody>
      </p:sp>
      <p:sp>
        <p:nvSpPr>
          <p:cNvPr id="989" name="Google Shape;989;p34"/>
          <p:cNvSpPr txBox="1"/>
          <p:nvPr/>
        </p:nvSpPr>
        <p:spPr>
          <a:xfrm>
            <a:off x="3914775" y="3956050"/>
            <a:ext cx="1597025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34"/>
          <p:cNvSpPr txBox="1"/>
          <p:nvPr/>
        </p:nvSpPr>
        <p:spPr>
          <a:xfrm>
            <a:off x="4052887" y="3940175"/>
            <a:ext cx="417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991" name="Google Shape;991;p34"/>
          <p:cNvSpPr/>
          <p:nvPr/>
        </p:nvSpPr>
        <p:spPr>
          <a:xfrm>
            <a:off x="5302250" y="401637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34"/>
          <p:cNvSpPr txBox="1"/>
          <p:nvPr/>
        </p:nvSpPr>
        <p:spPr>
          <a:xfrm>
            <a:off x="4332287" y="3962400"/>
            <a:ext cx="1017587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Thesaurus</a:t>
            </a:r>
            <a:endParaRPr/>
          </a:p>
        </p:txBody>
      </p:sp>
      <p:sp>
        <p:nvSpPr>
          <p:cNvPr id="993" name="Google Shape;993;p34"/>
          <p:cNvSpPr/>
          <p:nvPr/>
        </p:nvSpPr>
        <p:spPr>
          <a:xfrm>
            <a:off x="3949700" y="401637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34"/>
          <p:cNvSpPr txBox="1"/>
          <p:nvPr/>
        </p:nvSpPr>
        <p:spPr>
          <a:xfrm>
            <a:off x="3910012" y="4191000"/>
            <a:ext cx="1608137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 Thursday $2.49</a:t>
            </a:r>
            <a:endParaRPr/>
          </a:p>
        </p:txBody>
      </p:sp>
      <p:sp>
        <p:nvSpPr>
          <p:cNvPr id="995" name="Google Shape;995;p34"/>
          <p:cNvSpPr txBox="1"/>
          <p:nvPr/>
        </p:nvSpPr>
        <p:spPr>
          <a:xfrm>
            <a:off x="3990975" y="4489450"/>
            <a:ext cx="1597025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34"/>
          <p:cNvSpPr txBox="1"/>
          <p:nvPr/>
        </p:nvSpPr>
        <p:spPr>
          <a:xfrm>
            <a:off x="4129087" y="4473575"/>
            <a:ext cx="417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997" name="Google Shape;997;p34"/>
          <p:cNvSpPr/>
          <p:nvPr/>
        </p:nvSpPr>
        <p:spPr>
          <a:xfrm>
            <a:off x="5349875" y="454977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34"/>
          <p:cNvSpPr txBox="1"/>
          <p:nvPr/>
        </p:nvSpPr>
        <p:spPr>
          <a:xfrm>
            <a:off x="4408487" y="4505325"/>
            <a:ext cx="9699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Dictionary</a:t>
            </a:r>
            <a:endParaRPr/>
          </a:p>
        </p:txBody>
      </p:sp>
      <p:sp>
        <p:nvSpPr>
          <p:cNvPr id="999" name="Google Shape;999;p34"/>
          <p:cNvSpPr/>
          <p:nvPr/>
        </p:nvSpPr>
        <p:spPr>
          <a:xfrm>
            <a:off x="4025900" y="454977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34"/>
          <p:cNvSpPr txBox="1"/>
          <p:nvPr/>
        </p:nvSpPr>
        <p:spPr>
          <a:xfrm>
            <a:off x="3913187" y="4724400"/>
            <a:ext cx="17573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Wednesday $1.19</a:t>
            </a:r>
            <a:endParaRPr/>
          </a:p>
        </p:txBody>
      </p:sp>
      <p:sp>
        <p:nvSpPr>
          <p:cNvPr id="1001" name="Google Shape;1001;p34"/>
          <p:cNvSpPr txBox="1"/>
          <p:nvPr/>
        </p:nvSpPr>
        <p:spPr>
          <a:xfrm>
            <a:off x="4067175" y="5022850"/>
            <a:ext cx="1597025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34"/>
          <p:cNvSpPr txBox="1"/>
          <p:nvPr/>
        </p:nvSpPr>
        <p:spPr>
          <a:xfrm>
            <a:off x="4205287" y="5006975"/>
            <a:ext cx="417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1003" name="Google Shape;1003;p34"/>
          <p:cNvSpPr/>
          <p:nvPr/>
        </p:nvSpPr>
        <p:spPr>
          <a:xfrm>
            <a:off x="5426075" y="508317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34"/>
          <p:cNvSpPr txBox="1"/>
          <p:nvPr/>
        </p:nvSpPr>
        <p:spPr>
          <a:xfrm>
            <a:off x="4551362" y="5038725"/>
            <a:ext cx="74295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1005" name="Google Shape;1005;p34"/>
          <p:cNvSpPr/>
          <p:nvPr/>
        </p:nvSpPr>
        <p:spPr>
          <a:xfrm>
            <a:off x="4102100" y="508317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34"/>
          <p:cNvSpPr txBox="1"/>
          <p:nvPr/>
        </p:nvSpPr>
        <p:spPr>
          <a:xfrm>
            <a:off x="4140200" y="5257800"/>
            <a:ext cx="145097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 Tuesday $.39</a:t>
            </a:r>
            <a:endParaRPr/>
          </a:p>
        </p:txBody>
      </p:sp>
      <p:sp>
        <p:nvSpPr>
          <p:cNvPr id="1007" name="Google Shape;1007;p34"/>
          <p:cNvSpPr txBox="1"/>
          <p:nvPr/>
        </p:nvSpPr>
        <p:spPr>
          <a:xfrm>
            <a:off x="4143375" y="5556250"/>
            <a:ext cx="1597025" cy="8572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34"/>
          <p:cNvSpPr txBox="1"/>
          <p:nvPr/>
        </p:nvSpPr>
        <p:spPr>
          <a:xfrm>
            <a:off x="4281487" y="5540375"/>
            <a:ext cx="4175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</a:t>
            </a:r>
            <a:endParaRPr/>
          </a:p>
        </p:txBody>
      </p:sp>
      <p:sp>
        <p:nvSpPr>
          <p:cNvPr id="1009" name="Google Shape;1009;p34"/>
          <p:cNvSpPr/>
          <p:nvPr/>
        </p:nvSpPr>
        <p:spPr>
          <a:xfrm>
            <a:off x="5502275" y="561657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34"/>
          <p:cNvSpPr txBox="1"/>
          <p:nvPr/>
        </p:nvSpPr>
        <p:spPr>
          <a:xfrm>
            <a:off x="4627562" y="5572125"/>
            <a:ext cx="70326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Coffee</a:t>
            </a:r>
            <a:endParaRPr/>
          </a:p>
        </p:txBody>
      </p:sp>
      <p:sp>
        <p:nvSpPr>
          <p:cNvPr id="1011" name="Google Shape;1011;p34"/>
          <p:cNvSpPr/>
          <p:nvPr/>
        </p:nvSpPr>
        <p:spPr>
          <a:xfrm>
            <a:off x="4178300" y="5616575"/>
            <a:ext cx="160337" cy="168275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34"/>
          <p:cNvSpPr txBox="1"/>
          <p:nvPr/>
        </p:nvSpPr>
        <p:spPr>
          <a:xfrm>
            <a:off x="4216400" y="5791200"/>
            <a:ext cx="145097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 Tuesday $.59</a:t>
            </a:r>
            <a:endParaRPr/>
          </a:p>
        </p:txBody>
      </p:sp>
      <p:sp>
        <p:nvSpPr>
          <p:cNvPr id="1013" name="Google Shape;1013;p34"/>
          <p:cNvSpPr/>
          <p:nvPr/>
        </p:nvSpPr>
        <p:spPr>
          <a:xfrm>
            <a:off x="1703387" y="2522537"/>
            <a:ext cx="2108200" cy="18415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76"/>
                  <a:pt x="9660" y="8"/>
                  <a:pt x="21584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76"/>
                  <a:pt x="9660" y="8"/>
                  <a:pt x="21584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34"/>
          <p:cNvSpPr/>
          <p:nvPr/>
        </p:nvSpPr>
        <p:spPr>
          <a:xfrm>
            <a:off x="5086350" y="2522537"/>
            <a:ext cx="1541462" cy="177482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34"/>
          <p:cNvSpPr/>
          <p:nvPr/>
        </p:nvSpPr>
        <p:spPr>
          <a:xfrm>
            <a:off x="1989137" y="3017837"/>
            <a:ext cx="1879600" cy="16510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77"/>
                  <a:pt x="9659" y="9"/>
                  <a:pt x="21582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77"/>
                  <a:pt x="9659" y="9"/>
                  <a:pt x="21582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4"/>
          <p:cNvSpPr/>
          <p:nvPr/>
        </p:nvSpPr>
        <p:spPr>
          <a:xfrm>
            <a:off x="1970087" y="3181350"/>
            <a:ext cx="1993900" cy="374650"/>
          </a:xfrm>
          <a:custGeom>
            <a:rect b="b" l="l" r="r" t="t"/>
            <a:pathLst>
              <a:path extrusionOk="0" fill="none" h="21600" w="2160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extrusionOk="0" h="21600" w="2160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4"/>
          <p:cNvSpPr/>
          <p:nvPr/>
        </p:nvSpPr>
        <p:spPr>
          <a:xfrm>
            <a:off x="5227637" y="2713037"/>
            <a:ext cx="2070100" cy="35560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77"/>
                  <a:pt x="9660" y="9"/>
                  <a:pt x="21583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77"/>
                  <a:pt x="9660" y="9"/>
                  <a:pt x="21583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4"/>
          <p:cNvSpPr/>
          <p:nvPr/>
        </p:nvSpPr>
        <p:spPr>
          <a:xfrm>
            <a:off x="5295900" y="3589337"/>
            <a:ext cx="1308100" cy="75565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4"/>
          <p:cNvSpPr/>
          <p:nvPr/>
        </p:nvSpPr>
        <p:spPr>
          <a:xfrm>
            <a:off x="2560637" y="4141787"/>
            <a:ext cx="1479550" cy="14605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79"/>
                  <a:pt x="9656" y="12"/>
                  <a:pt x="21577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79"/>
                  <a:pt x="9656" y="12"/>
                  <a:pt x="21577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34"/>
          <p:cNvSpPr/>
          <p:nvPr/>
        </p:nvSpPr>
        <p:spPr>
          <a:xfrm>
            <a:off x="2579687" y="4267200"/>
            <a:ext cx="1555750" cy="355600"/>
          </a:xfrm>
          <a:custGeom>
            <a:rect b="b" l="l" r="r" t="t"/>
            <a:pathLst>
              <a:path extrusionOk="0" fill="none" h="21600" w="2160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extrusionOk="0" h="21600" w="2160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34"/>
          <p:cNvSpPr/>
          <p:nvPr/>
        </p:nvSpPr>
        <p:spPr>
          <a:xfrm>
            <a:off x="2579687" y="4229100"/>
            <a:ext cx="1631950" cy="946150"/>
          </a:xfrm>
          <a:custGeom>
            <a:rect b="b" l="l" r="r" t="t"/>
            <a:pathLst>
              <a:path extrusionOk="0" fill="none" h="21600" w="2160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extrusionOk="0" h="21600" w="2160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34"/>
          <p:cNvSpPr/>
          <p:nvPr/>
        </p:nvSpPr>
        <p:spPr>
          <a:xfrm>
            <a:off x="5399087" y="3189287"/>
            <a:ext cx="1574800" cy="94615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79"/>
                  <a:pt x="9657" y="12"/>
                  <a:pt x="21578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79"/>
                  <a:pt x="9657" y="12"/>
                  <a:pt x="21578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34"/>
          <p:cNvSpPr/>
          <p:nvPr/>
        </p:nvSpPr>
        <p:spPr>
          <a:xfrm>
            <a:off x="5475287" y="3817937"/>
            <a:ext cx="1308100" cy="83185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80"/>
                  <a:pt x="9654" y="14"/>
                  <a:pt x="21574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80"/>
                  <a:pt x="9654" y="14"/>
                  <a:pt x="21574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34"/>
          <p:cNvSpPr/>
          <p:nvPr/>
        </p:nvSpPr>
        <p:spPr>
          <a:xfrm>
            <a:off x="5532437" y="4294187"/>
            <a:ext cx="1136650" cy="94615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82"/>
                  <a:pt x="9652" y="16"/>
                  <a:pt x="21570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82"/>
                  <a:pt x="9652" y="16"/>
                  <a:pt x="21570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34"/>
          <p:cNvSpPr/>
          <p:nvPr/>
        </p:nvSpPr>
        <p:spPr>
          <a:xfrm>
            <a:off x="5627687" y="4979987"/>
            <a:ext cx="584200" cy="774700"/>
          </a:xfrm>
          <a:custGeom>
            <a:rect b="b" l="l" r="r" t="t"/>
            <a:pathLst>
              <a:path extrusionOk="0" fill="none" h="21600" w="21600">
                <a:moveTo>
                  <a:pt x="0" y="21600"/>
                </a:moveTo>
                <a:cubicBezTo>
                  <a:pt x="0" y="9693"/>
                  <a:pt x="9634" y="32"/>
                  <a:pt x="21541" y="0"/>
                </a:cubicBezTo>
              </a:path>
              <a:path extrusionOk="0" h="21600" w="21600">
                <a:moveTo>
                  <a:pt x="0" y="21600"/>
                </a:moveTo>
                <a:cubicBezTo>
                  <a:pt x="0" y="9693"/>
                  <a:pt x="9634" y="32"/>
                  <a:pt x="21541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34"/>
          <p:cNvSpPr txBox="1"/>
          <p:nvPr/>
        </p:nvSpPr>
        <p:spPr>
          <a:xfrm>
            <a:off x="6446837" y="4829175"/>
            <a:ext cx="81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Coffee</a:t>
            </a:r>
            <a:endParaRPr/>
          </a:p>
        </p:txBody>
      </p:sp>
      <p:sp>
        <p:nvSpPr>
          <p:cNvPr id="1027" name="Google Shape;1027;p34"/>
          <p:cNvSpPr txBox="1"/>
          <p:nvPr/>
        </p:nvSpPr>
        <p:spPr>
          <a:xfrm>
            <a:off x="6851650" y="4124325"/>
            <a:ext cx="879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Donuts</a:t>
            </a:r>
            <a:endParaRPr/>
          </a:p>
        </p:txBody>
      </p:sp>
      <p:sp>
        <p:nvSpPr>
          <p:cNvPr id="1028" name="Google Shape;1028;p34"/>
          <p:cNvSpPr txBox="1"/>
          <p:nvPr/>
        </p:nvSpPr>
        <p:spPr>
          <a:xfrm>
            <a:off x="7069137" y="3665537"/>
            <a:ext cx="1174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Dictionary</a:t>
            </a:r>
            <a:endParaRPr/>
          </a:p>
        </p:txBody>
      </p:sp>
      <p:sp>
        <p:nvSpPr>
          <p:cNvPr id="1029" name="Google Shape;1029;p34"/>
          <p:cNvSpPr txBox="1"/>
          <p:nvPr/>
        </p:nvSpPr>
        <p:spPr>
          <a:xfrm>
            <a:off x="7213600" y="3100387"/>
            <a:ext cx="120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Thesaurus</a:t>
            </a:r>
            <a:endParaRPr/>
          </a:p>
        </p:txBody>
      </p:sp>
      <p:sp>
        <p:nvSpPr>
          <p:cNvPr id="1030" name="Google Shape;1030;p34"/>
          <p:cNvSpPr txBox="1"/>
          <p:nvPr/>
        </p:nvSpPr>
        <p:spPr>
          <a:xfrm>
            <a:off x="7527925" y="2578100"/>
            <a:ext cx="11160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1031" name="Google Shape;1031;p34"/>
          <p:cNvSpPr txBox="1"/>
          <p:nvPr/>
        </p:nvSpPr>
        <p:spPr>
          <a:xfrm>
            <a:off x="7775575" y="2154237"/>
            <a:ext cx="7794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Pencil</a:t>
            </a:r>
            <a:endParaRPr/>
          </a:p>
        </p:txBody>
      </p:sp>
      <p:sp>
        <p:nvSpPr>
          <p:cNvPr id="1032" name="Google Shape;1032;p34"/>
          <p:cNvSpPr/>
          <p:nvPr/>
        </p:nvSpPr>
        <p:spPr>
          <a:xfrm>
            <a:off x="2598737" y="4267200"/>
            <a:ext cx="717550" cy="1765300"/>
          </a:xfrm>
          <a:custGeom>
            <a:rect b="b" l="l" r="r" t="t"/>
            <a:pathLst>
              <a:path extrusionOk="0" fill="none" h="21600" w="2160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extrusionOk="0" h="21600" w="2160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34"/>
          <p:cNvSpPr/>
          <p:nvPr/>
        </p:nvSpPr>
        <p:spPr>
          <a:xfrm>
            <a:off x="3314700" y="5676900"/>
            <a:ext cx="927100" cy="374650"/>
          </a:xfrm>
          <a:custGeom>
            <a:rect b="b" l="l" r="r" t="t"/>
            <a:pathLst>
              <a:path extrusionOk="0" fill="none" h="21600" w="2160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extrusionOk="0" h="21600" w="2160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34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wipe dir="d"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35"/>
          <p:cNvSpPr txBox="1"/>
          <p:nvPr/>
        </p:nvSpPr>
        <p:spPr>
          <a:xfrm>
            <a:off x="304800" y="1111250"/>
            <a:ext cx="8583612" cy="2425700"/>
          </a:xfrm>
          <a:prstGeom prst="rect">
            <a:avLst/>
          </a:prstGeom>
          <a:solidFill>
            <a:srgbClr val="00B050"/>
          </a:solidFill>
          <a:ln cap="flat" cmpd="sng" w="25400">
            <a:solidFill>
              <a:srgbClr val="236F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35"/>
          <p:cNvSpPr txBox="1"/>
          <p:nvPr>
            <p:ph type="title"/>
          </p:nvPr>
        </p:nvSpPr>
        <p:spPr>
          <a:xfrm>
            <a:off x="76200" y="152400"/>
            <a:ext cx="8991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❹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Expand Many-to-Many Associations</a:t>
            </a:r>
            <a:endParaRPr/>
          </a:p>
        </p:txBody>
      </p:sp>
      <p:sp>
        <p:nvSpPr>
          <p:cNvPr id="1041" name="Google Shape;1041;p35"/>
          <p:cNvSpPr txBox="1"/>
          <p:nvPr/>
        </p:nvSpPr>
        <p:spPr>
          <a:xfrm>
            <a:off x="463550" y="1111250"/>
            <a:ext cx="1663700" cy="2273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2" name="Google Shape;1042;p35"/>
          <p:cNvCxnSpPr/>
          <p:nvPr/>
        </p:nvCxnSpPr>
        <p:spPr>
          <a:xfrm rot="10800000">
            <a:off x="450850" y="1581150"/>
            <a:ext cx="16891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43" name="Google Shape;1043;p35"/>
          <p:cNvSpPr txBox="1"/>
          <p:nvPr/>
        </p:nvSpPr>
        <p:spPr>
          <a:xfrm flipH="1">
            <a:off x="546100" y="1217612"/>
            <a:ext cx="136683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/>
          </a:p>
        </p:txBody>
      </p:sp>
      <p:sp>
        <p:nvSpPr>
          <p:cNvPr id="1044" name="Google Shape;1044;p35"/>
          <p:cNvSpPr txBox="1"/>
          <p:nvPr/>
        </p:nvSpPr>
        <p:spPr>
          <a:xfrm flipH="1">
            <a:off x="519112" y="1582737"/>
            <a:ext cx="178911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Phone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/>
          </a:p>
        </p:txBody>
      </p:sp>
      <p:sp>
        <p:nvSpPr>
          <p:cNvPr id="1045" name="Google Shape;1045;p35"/>
          <p:cNvSpPr txBox="1"/>
          <p:nvPr/>
        </p:nvSpPr>
        <p:spPr>
          <a:xfrm>
            <a:off x="6883400" y="1492250"/>
            <a:ext cx="1739900" cy="1892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6" name="Google Shape;1046;p35"/>
          <p:cNvCxnSpPr/>
          <p:nvPr/>
        </p:nvCxnSpPr>
        <p:spPr>
          <a:xfrm rot="10800000">
            <a:off x="6870700" y="1924050"/>
            <a:ext cx="1765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47" name="Google Shape;1047;p35"/>
          <p:cNvSpPr txBox="1"/>
          <p:nvPr/>
        </p:nvSpPr>
        <p:spPr>
          <a:xfrm flipH="1">
            <a:off x="7156450" y="1574800"/>
            <a:ext cx="1141412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/>
          </a:p>
        </p:txBody>
      </p:sp>
      <p:sp>
        <p:nvSpPr>
          <p:cNvPr id="1048" name="Google Shape;1048;p35"/>
          <p:cNvSpPr txBox="1"/>
          <p:nvPr/>
        </p:nvSpPr>
        <p:spPr>
          <a:xfrm flipH="1">
            <a:off x="6861175" y="1955800"/>
            <a:ext cx="1676400" cy="10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*Description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Qty in Stock</a:t>
            </a:r>
            <a:endParaRPr/>
          </a:p>
        </p:txBody>
      </p:sp>
      <p:sp>
        <p:nvSpPr>
          <p:cNvPr id="1049" name="Google Shape;1049;p35"/>
          <p:cNvSpPr txBox="1"/>
          <p:nvPr/>
        </p:nvSpPr>
        <p:spPr>
          <a:xfrm>
            <a:off x="3854450" y="1492250"/>
            <a:ext cx="1739900" cy="1892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0" name="Google Shape;1050;p35"/>
          <p:cNvCxnSpPr/>
          <p:nvPr/>
        </p:nvCxnSpPr>
        <p:spPr>
          <a:xfrm rot="10800000">
            <a:off x="3841750" y="1866900"/>
            <a:ext cx="1765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51" name="Google Shape;1051;p35"/>
          <p:cNvSpPr txBox="1"/>
          <p:nvPr/>
        </p:nvSpPr>
        <p:spPr>
          <a:xfrm flipH="1">
            <a:off x="4344987" y="1517650"/>
            <a:ext cx="703262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</a:t>
            </a:r>
            <a:endParaRPr/>
          </a:p>
        </p:txBody>
      </p:sp>
      <p:sp>
        <p:nvSpPr>
          <p:cNvPr id="1052" name="Google Shape;1052;p35"/>
          <p:cNvSpPr txBox="1"/>
          <p:nvPr/>
        </p:nvSpPr>
        <p:spPr>
          <a:xfrm flipH="1">
            <a:off x="3832225" y="1898650"/>
            <a:ext cx="167640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*Description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Qty Sold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 Price</a:t>
            </a:r>
            <a:endParaRPr/>
          </a:p>
        </p:txBody>
      </p:sp>
      <p:sp>
        <p:nvSpPr>
          <p:cNvPr id="1053" name="Google Shape;1053;p35"/>
          <p:cNvSpPr txBox="1"/>
          <p:nvPr/>
        </p:nvSpPr>
        <p:spPr>
          <a:xfrm>
            <a:off x="153987" y="3660775"/>
            <a:ext cx="8734425" cy="588962"/>
          </a:xfrm>
          <a:prstGeom prst="rect">
            <a:avLst/>
          </a:prstGeom>
          <a:solidFill>
            <a:srgbClr val="919191"/>
          </a:solidFill>
          <a:ln cap="flat" cmpd="sng" w="12700">
            <a:solidFill>
              <a:srgbClr val="00279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FF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Check the strings - the M:M is now 2 x 1:M !!</a:t>
            </a:r>
            <a:endParaRPr/>
          </a:p>
        </p:txBody>
      </p:sp>
      <p:grpSp>
        <p:nvGrpSpPr>
          <p:cNvPr id="1054" name="Google Shape;1054;p35"/>
          <p:cNvGrpSpPr/>
          <p:nvPr/>
        </p:nvGrpSpPr>
        <p:grpSpPr>
          <a:xfrm>
            <a:off x="811212" y="4521200"/>
            <a:ext cx="7240587" cy="2047875"/>
            <a:chOff x="511" y="2848"/>
            <a:chExt cx="4561" cy="1290"/>
          </a:xfrm>
        </p:grpSpPr>
        <p:sp>
          <p:nvSpPr>
            <p:cNvPr id="1055" name="Google Shape;1055;p35"/>
            <p:cNvSpPr txBox="1"/>
            <p:nvPr/>
          </p:nvSpPr>
          <p:spPr>
            <a:xfrm>
              <a:off x="528" y="2950"/>
              <a:ext cx="754" cy="2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35"/>
            <p:cNvSpPr txBox="1"/>
            <p:nvPr/>
          </p:nvSpPr>
          <p:spPr>
            <a:xfrm>
              <a:off x="650" y="3062"/>
              <a:ext cx="753" cy="27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35"/>
            <p:cNvSpPr txBox="1"/>
            <p:nvPr/>
          </p:nvSpPr>
          <p:spPr>
            <a:xfrm>
              <a:off x="782" y="3197"/>
              <a:ext cx="754" cy="2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35"/>
            <p:cNvSpPr txBox="1"/>
            <p:nvPr/>
          </p:nvSpPr>
          <p:spPr>
            <a:xfrm>
              <a:off x="933" y="3370"/>
              <a:ext cx="754" cy="277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35"/>
            <p:cNvSpPr txBox="1"/>
            <p:nvPr/>
          </p:nvSpPr>
          <p:spPr>
            <a:xfrm>
              <a:off x="1085" y="3491"/>
              <a:ext cx="753" cy="277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35"/>
            <p:cNvSpPr txBox="1"/>
            <p:nvPr/>
          </p:nvSpPr>
          <p:spPr>
            <a:xfrm>
              <a:off x="4274" y="2950"/>
              <a:ext cx="798" cy="2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35"/>
            <p:cNvSpPr txBox="1"/>
            <p:nvPr/>
          </p:nvSpPr>
          <p:spPr>
            <a:xfrm>
              <a:off x="4132" y="3059"/>
              <a:ext cx="812" cy="2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35"/>
            <p:cNvSpPr txBox="1"/>
            <p:nvPr/>
          </p:nvSpPr>
          <p:spPr>
            <a:xfrm>
              <a:off x="3961" y="3194"/>
              <a:ext cx="871" cy="277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35"/>
            <p:cNvSpPr txBox="1"/>
            <p:nvPr/>
          </p:nvSpPr>
          <p:spPr>
            <a:xfrm>
              <a:off x="3868" y="3372"/>
              <a:ext cx="843" cy="277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35"/>
            <p:cNvSpPr txBox="1"/>
            <p:nvPr/>
          </p:nvSpPr>
          <p:spPr>
            <a:xfrm>
              <a:off x="3785" y="3496"/>
              <a:ext cx="753" cy="277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35"/>
            <p:cNvSpPr txBox="1"/>
            <p:nvPr/>
          </p:nvSpPr>
          <p:spPr>
            <a:xfrm>
              <a:off x="3594" y="3669"/>
              <a:ext cx="755" cy="2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35"/>
            <p:cNvSpPr txBox="1"/>
            <p:nvPr/>
          </p:nvSpPr>
          <p:spPr>
            <a:xfrm>
              <a:off x="1284" y="3695"/>
              <a:ext cx="755" cy="23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35"/>
            <p:cNvSpPr txBox="1"/>
            <p:nvPr/>
          </p:nvSpPr>
          <p:spPr>
            <a:xfrm>
              <a:off x="1273" y="3707"/>
              <a:ext cx="221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</a:t>
              </a:r>
              <a:endParaRPr/>
            </a:p>
          </p:txBody>
        </p:sp>
        <p:sp>
          <p:nvSpPr>
            <p:cNvPr id="1068" name="Google Shape;1068;p35"/>
            <p:cNvSpPr txBox="1"/>
            <p:nvPr/>
          </p:nvSpPr>
          <p:spPr>
            <a:xfrm>
              <a:off x="1048" y="3512"/>
              <a:ext cx="207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</a:t>
              </a:r>
              <a:endParaRPr/>
            </a:p>
          </p:txBody>
        </p:sp>
        <p:sp>
          <p:nvSpPr>
            <p:cNvPr id="1069" name="Google Shape;1069;p35"/>
            <p:cNvSpPr txBox="1"/>
            <p:nvPr/>
          </p:nvSpPr>
          <p:spPr>
            <a:xfrm>
              <a:off x="916" y="3391"/>
              <a:ext cx="230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</a:t>
              </a:r>
              <a:endParaRPr/>
            </a:p>
          </p:txBody>
        </p:sp>
        <p:sp>
          <p:nvSpPr>
            <p:cNvPr id="1070" name="Google Shape;1070;p35"/>
            <p:cNvSpPr txBox="1"/>
            <p:nvPr/>
          </p:nvSpPr>
          <p:spPr>
            <a:xfrm>
              <a:off x="779" y="3242"/>
              <a:ext cx="238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Slo</a:t>
              </a:r>
              <a:endParaRPr/>
            </a:p>
          </p:txBody>
        </p:sp>
        <p:sp>
          <p:nvSpPr>
            <p:cNvPr id="1071" name="Google Shape;1071;p35"/>
            <p:cNvSpPr txBox="1"/>
            <p:nvPr/>
          </p:nvSpPr>
          <p:spPr>
            <a:xfrm>
              <a:off x="662" y="3099"/>
              <a:ext cx="221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Ko</a:t>
              </a:r>
              <a:endParaRPr/>
            </a:p>
          </p:txBody>
        </p:sp>
        <p:sp>
          <p:nvSpPr>
            <p:cNvPr id="1072" name="Google Shape;1072;p35"/>
            <p:cNvSpPr txBox="1"/>
            <p:nvPr/>
          </p:nvSpPr>
          <p:spPr>
            <a:xfrm>
              <a:off x="511" y="2980"/>
              <a:ext cx="216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Yo</a:t>
              </a:r>
              <a:endParaRPr/>
            </a:p>
          </p:txBody>
        </p:sp>
        <p:sp>
          <p:nvSpPr>
            <p:cNvPr id="1073" name="Google Shape;1073;p35"/>
            <p:cNvSpPr/>
            <p:nvPr/>
          </p:nvSpPr>
          <p:spPr>
            <a:xfrm>
              <a:off x="1915" y="3720"/>
              <a:ext cx="80" cy="40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35"/>
            <p:cNvSpPr/>
            <p:nvPr/>
          </p:nvSpPr>
          <p:spPr>
            <a:xfrm>
              <a:off x="1729" y="3512"/>
              <a:ext cx="80" cy="35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35"/>
            <p:cNvSpPr/>
            <p:nvPr/>
          </p:nvSpPr>
          <p:spPr>
            <a:xfrm>
              <a:off x="1565" y="3386"/>
              <a:ext cx="79" cy="40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35"/>
            <p:cNvSpPr/>
            <p:nvPr/>
          </p:nvSpPr>
          <p:spPr>
            <a:xfrm>
              <a:off x="1424" y="3211"/>
              <a:ext cx="80" cy="37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35"/>
            <p:cNvSpPr/>
            <p:nvPr/>
          </p:nvSpPr>
          <p:spPr>
            <a:xfrm>
              <a:off x="1291" y="3080"/>
              <a:ext cx="81" cy="39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35"/>
            <p:cNvSpPr/>
            <p:nvPr/>
          </p:nvSpPr>
          <p:spPr>
            <a:xfrm>
              <a:off x="1168" y="2968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35"/>
            <p:cNvSpPr/>
            <p:nvPr/>
          </p:nvSpPr>
          <p:spPr>
            <a:xfrm>
              <a:off x="3607" y="3686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35"/>
            <p:cNvSpPr/>
            <p:nvPr/>
          </p:nvSpPr>
          <p:spPr>
            <a:xfrm>
              <a:off x="3813" y="3513"/>
              <a:ext cx="80" cy="39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35"/>
            <p:cNvSpPr/>
            <p:nvPr/>
          </p:nvSpPr>
          <p:spPr>
            <a:xfrm>
              <a:off x="3882" y="3383"/>
              <a:ext cx="80" cy="42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35"/>
            <p:cNvSpPr/>
            <p:nvPr/>
          </p:nvSpPr>
          <p:spPr>
            <a:xfrm>
              <a:off x="3977" y="3205"/>
              <a:ext cx="80" cy="39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35"/>
            <p:cNvSpPr/>
            <p:nvPr/>
          </p:nvSpPr>
          <p:spPr>
            <a:xfrm>
              <a:off x="4155" y="3076"/>
              <a:ext cx="81" cy="42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35"/>
            <p:cNvSpPr/>
            <p:nvPr/>
          </p:nvSpPr>
          <p:spPr>
            <a:xfrm>
              <a:off x="4294" y="2963"/>
              <a:ext cx="80" cy="37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35"/>
            <p:cNvSpPr txBox="1"/>
            <p:nvPr/>
          </p:nvSpPr>
          <p:spPr>
            <a:xfrm>
              <a:off x="2321" y="2848"/>
              <a:ext cx="818" cy="22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35"/>
            <p:cNvSpPr txBox="1"/>
            <p:nvPr/>
          </p:nvSpPr>
          <p:spPr>
            <a:xfrm>
              <a:off x="2445" y="2870"/>
              <a:ext cx="221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</a:t>
              </a:r>
              <a:endParaRPr/>
            </a:p>
          </p:txBody>
        </p:sp>
        <p:sp>
          <p:nvSpPr>
            <p:cNvPr id="1087" name="Google Shape;1087;p35"/>
            <p:cNvSpPr/>
            <p:nvPr/>
          </p:nvSpPr>
          <p:spPr>
            <a:xfrm>
              <a:off x="2979" y="2864"/>
              <a:ext cx="81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35"/>
            <p:cNvSpPr txBox="1"/>
            <p:nvPr/>
          </p:nvSpPr>
          <p:spPr>
            <a:xfrm>
              <a:off x="2612" y="2861"/>
              <a:ext cx="371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Pencils</a:t>
              </a:r>
              <a:endParaRPr/>
            </a:p>
          </p:txBody>
        </p:sp>
        <p:sp>
          <p:nvSpPr>
            <p:cNvPr id="1089" name="Google Shape;1089;p35"/>
            <p:cNvSpPr/>
            <p:nvPr/>
          </p:nvSpPr>
          <p:spPr>
            <a:xfrm>
              <a:off x="2379" y="2864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35"/>
            <p:cNvSpPr txBox="1"/>
            <p:nvPr/>
          </p:nvSpPr>
          <p:spPr>
            <a:xfrm>
              <a:off x="2321" y="2923"/>
              <a:ext cx="705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  Monday $.49</a:t>
              </a:r>
              <a:endParaRPr/>
            </a:p>
          </p:txBody>
        </p:sp>
        <p:sp>
          <p:nvSpPr>
            <p:cNvPr id="1091" name="Google Shape;1091;p35"/>
            <p:cNvSpPr txBox="1"/>
            <p:nvPr/>
          </p:nvSpPr>
          <p:spPr>
            <a:xfrm>
              <a:off x="2348" y="3009"/>
              <a:ext cx="816" cy="22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35"/>
            <p:cNvSpPr txBox="1"/>
            <p:nvPr/>
          </p:nvSpPr>
          <p:spPr>
            <a:xfrm>
              <a:off x="2471" y="3032"/>
              <a:ext cx="221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Ko</a:t>
              </a:r>
              <a:endParaRPr/>
            </a:p>
          </p:txBody>
        </p:sp>
        <p:sp>
          <p:nvSpPr>
            <p:cNvPr id="1093" name="Google Shape;1093;p35"/>
            <p:cNvSpPr/>
            <p:nvPr/>
          </p:nvSpPr>
          <p:spPr>
            <a:xfrm>
              <a:off x="3005" y="3026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35"/>
            <p:cNvSpPr txBox="1"/>
            <p:nvPr/>
          </p:nvSpPr>
          <p:spPr>
            <a:xfrm>
              <a:off x="2663" y="3025"/>
              <a:ext cx="366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Donuts</a:t>
              </a:r>
              <a:endParaRPr/>
            </a:p>
          </p:txBody>
        </p:sp>
        <p:sp>
          <p:nvSpPr>
            <p:cNvPr id="1095" name="Google Shape;1095;p35"/>
            <p:cNvSpPr/>
            <p:nvPr/>
          </p:nvSpPr>
          <p:spPr>
            <a:xfrm>
              <a:off x="2405" y="3026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35"/>
            <p:cNvSpPr txBox="1"/>
            <p:nvPr/>
          </p:nvSpPr>
          <p:spPr>
            <a:xfrm>
              <a:off x="2372" y="3085"/>
              <a:ext cx="771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12  Tuesday $1.49</a:t>
              </a:r>
              <a:endParaRPr/>
            </a:p>
          </p:txBody>
        </p:sp>
        <p:sp>
          <p:nvSpPr>
            <p:cNvPr id="1097" name="Google Shape;1097;p35"/>
            <p:cNvSpPr txBox="1"/>
            <p:nvPr/>
          </p:nvSpPr>
          <p:spPr>
            <a:xfrm>
              <a:off x="2387" y="3154"/>
              <a:ext cx="817" cy="23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35"/>
            <p:cNvSpPr txBox="1"/>
            <p:nvPr/>
          </p:nvSpPr>
          <p:spPr>
            <a:xfrm>
              <a:off x="2447" y="3177"/>
              <a:ext cx="238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Slo</a:t>
              </a:r>
              <a:endParaRPr/>
            </a:p>
          </p:txBody>
        </p:sp>
        <p:sp>
          <p:nvSpPr>
            <p:cNvPr id="1099" name="Google Shape;1099;p35"/>
            <p:cNvSpPr/>
            <p:nvPr/>
          </p:nvSpPr>
          <p:spPr>
            <a:xfrm>
              <a:off x="3083" y="3171"/>
              <a:ext cx="80" cy="42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35"/>
            <p:cNvSpPr txBox="1"/>
            <p:nvPr/>
          </p:nvSpPr>
          <p:spPr>
            <a:xfrm>
              <a:off x="2623" y="3170"/>
              <a:ext cx="454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Notebook</a:t>
              </a:r>
              <a:endParaRPr/>
            </a:p>
          </p:txBody>
        </p:sp>
        <p:sp>
          <p:nvSpPr>
            <p:cNvPr id="1101" name="Google Shape;1101;p35"/>
            <p:cNvSpPr/>
            <p:nvPr/>
          </p:nvSpPr>
          <p:spPr>
            <a:xfrm>
              <a:off x="2405" y="3171"/>
              <a:ext cx="80" cy="42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35"/>
            <p:cNvSpPr txBox="1"/>
            <p:nvPr/>
          </p:nvSpPr>
          <p:spPr>
            <a:xfrm>
              <a:off x="2474" y="3230"/>
              <a:ext cx="644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  Friday $2.00</a:t>
              </a:r>
              <a:endParaRPr/>
            </a:p>
          </p:txBody>
        </p:sp>
        <p:sp>
          <p:nvSpPr>
            <p:cNvPr id="1103" name="Google Shape;1103;p35"/>
            <p:cNvSpPr txBox="1"/>
            <p:nvPr/>
          </p:nvSpPr>
          <p:spPr>
            <a:xfrm>
              <a:off x="2426" y="3301"/>
              <a:ext cx="816" cy="22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35"/>
            <p:cNvSpPr txBox="1"/>
            <p:nvPr/>
          </p:nvSpPr>
          <p:spPr>
            <a:xfrm>
              <a:off x="2485" y="3323"/>
              <a:ext cx="238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Slo</a:t>
              </a:r>
              <a:endParaRPr/>
            </a:p>
          </p:txBody>
        </p:sp>
        <p:sp>
          <p:nvSpPr>
            <p:cNvPr id="1105" name="Google Shape;1105;p35"/>
            <p:cNvSpPr/>
            <p:nvPr/>
          </p:nvSpPr>
          <p:spPr>
            <a:xfrm>
              <a:off x="3123" y="3317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35"/>
            <p:cNvSpPr txBox="1"/>
            <p:nvPr/>
          </p:nvSpPr>
          <p:spPr>
            <a:xfrm>
              <a:off x="2716" y="3313"/>
              <a:ext cx="366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Donuts</a:t>
              </a:r>
              <a:endParaRPr/>
            </a:p>
          </p:txBody>
        </p:sp>
        <p:sp>
          <p:nvSpPr>
            <p:cNvPr id="1107" name="Google Shape;1107;p35"/>
            <p:cNvSpPr/>
            <p:nvPr/>
          </p:nvSpPr>
          <p:spPr>
            <a:xfrm>
              <a:off x="2444" y="3317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35"/>
            <p:cNvSpPr txBox="1"/>
            <p:nvPr/>
          </p:nvSpPr>
          <p:spPr>
            <a:xfrm>
              <a:off x="2494" y="3376"/>
              <a:ext cx="683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  Tuesday $.49</a:t>
              </a:r>
              <a:endParaRPr/>
            </a:p>
          </p:txBody>
        </p:sp>
        <p:sp>
          <p:nvSpPr>
            <p:cNvPr id="1109" name="Google Shape;1109;p35"/>
            <p:cNvSpPr txBox="1"/>
            <p:nvPr/>
          </p:nvSpPr>
          <p:spPr>
            <a:xfrm>
              <a:off x="2465" y="3446"/>
              <a:ext cx="817" cy="22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35"/>
            <p:cNvSpPr txBox="1"/>
            <p:nvPr/>
          </p:nvSpPr>
          <p:spPr>
            <a:xfrm>
              <a:off x="2525" y="3468"/>
              <a:ext cx="207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</a:t>
              </a:r>
              <a:endParaRPr/>
            </a:p>
          </p:txBody>
        </p:sp>
        <p:sp>
          <p:nvSpPr>
            <p:cNvPr id="1111" name="Google Shape;1111;p35"/>
            <p:cNvSpPr/>
            <p:nvPr/>
          </p:nvSpPr>
          <p:spPr>
            <a:xfrm>
              <a:off x="3176" y="3462"/>
              <a:ext cx="81" cy="42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35"/>
            <p:cNvSpPr txBox="1"/>
            <p:nvPr/>
          </p:nvSpPr>
          <p:spPr>
            <a:xfrm>
              <a:off x="2668" y="3459"/>
              <a:ext cx="490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Thesaurus</a:t>
              </a:r>
              <a:endParaRPr/>
            </a:p>
          </p:txBody>
        </p:sp>
        <p:sp>
          <p:nvSpPr>
            <p:cNvPr id="1113" name="Google Shape;1113;p35"/>
            <p:cNvSpPr/>
            <p:nvPr/>
          </p:nvSpPr>
          <p:spPr>
            <a:xfrm>
              <a:off x="2483" y="3462"/>
              <a:ext cx="80" cy="42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35"/>
            <p:cNvSpPr txBox="1"/>
            <p:nvPr/>
          </p:nvSpPr>
          <p:spPr>
            <a:xfrm>
              <a:off x="2496" y="3521"/>
              <a:ext cx="754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  Thursday $2.49</a:t>
              </a:r>
              <a:endParaRPr/>
            </a:p>
          </p:txBody>
        </p:sp>
        <p:sp>
          <p:nvSpPr>
            <p:cNvPr id="1115" name="Google Shape;1115;p35"/>
            <p:cNvSpPr txBox="1"/>
            <p:nvPr/>
          </p:nvSpPr>
          <p:spPr>
            <a:xfrm>
              <a:off x="2504" y="3592"/>
              <a:ext cx="817" cy="22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35"/>
            <p:cNvSpPr txBox="1"/>
            <p:nvPr/>
          </p:nvSpPr>
          <p:spPr>
            <a:xfrm>
              <a:off x="2563" y="3614"/>
              <a:ext cx="207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</a:t>
              </a:r>
              <a:endParaRPr/>
            </a:p>
          </p:txBody>
        </p:sp>
        <p:sp>
          <p:nvSpPr>
            <p:cNvPr id="1117" name="Google Shape;1117;p35"/>
            <p:cNvSpPr/>
            <p:nvPr/>
          </p:nvSpPr>
          <p:spPr>
            <a:xfrm>
              <a:off x="3201" y="3608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35"/>
            <p:cNvSpPr txBox="1"/>
            <p:nvPr/>
          </p:nvSpPr>
          <p:spPr>
            <a:xfrm>
              <a:off x="2706" y="3607"/>
              <a:ext cx="469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Dictionary</a:t>
              </a:r>
              <a:endParaRPr/>
            </a:p>
          </p:txBody>
        </p:sp>
        <p:sp>
          <p:nvSpPr>
            <p:cNvPr id="1119" name="Google Shape;1119;p35"/>
            <p:cNvSpPr/>
            <p:nvPr/>
          </p:nvSpPr>
          <p:spPr>
            <a:xfrm>
              <a:off x="2522" y="3608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35"/>
            <p:cNvSpPr txBox="1"/>
            <p:nvPr/>
          </p:nvSpPr>
          <p:spPr>
            <a:xfrm>
              <a:off x="2504" y="3667"/>
              <a:ext cx="820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 Wednesday $1.19</a:t>
              </a:r>
              <a:endParaRPr/>
            </a:p>
          </p:txBody>
        </p:sp>
        <p:sp>
          <p:nvSpPr>
            <p:cNvPr id="1121" name="Google Shape;1121;p35"/>
            <p:cNvSpPr txBox="1"/>
            <p:nvPr/>
          </p:nvSpPr>
          <p:spPr>
            <a:xfrm>
              <a:off x="2543" y="3737"/>
              <a:ext cx="817" cy="22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35"/>
            <p:cNvSpPr txBox="1"/>
            <p:nvPr/>
          </p:nvSpPr>
          <p:spPr>
            <a:xfrm>
              <a:off x="2603" y="3759"/>
              <a:ext cx="207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</a:t>
              </a:r>
              <a:endParaRPr/>
            </a:p>
          </p:txBody>
        </p:sp>
        <p:sp>
          <p:nvSpPr>
            <p:cNvPr id="1123" name="Google Shape;1123;p35"/>
            <p:cNvSpPr/>
            <p:nvPr/>
          </p:nvSpPr>
          <p:spPr>
            <a:xfrm>
              <a:off x="3239" y="3753"/>
              <a:ext cx="81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35"/>
            <p:cNvSpPr txBox="1"/>
            <p:nvPr/>
          </p:nvSpPr>
          <p:spPr>
            <a:xfrm>
              <a:off x="2779" y="3753"/>
              <a:ext cx="366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Donuts</a:t>
              </a:r>
              <a:endParaRPr/>
            </a:p>
          </p:txBody>
        </p:sp>
        <p:sp>
          <p:nvSpPr>
            <p:cNvPr id="1125" name="Google Shape;1125;p35"/>
            <p:cNvSpPr/>
            <p:nvPr/>
          </p:nvSpPr>
          <p:spPr>
            <a:xfrm>
              <a:off x="2561" y="3753"/>
              <a:ext cx="81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35"/>
            <p:cNvSpPr txBox="1"/>
            <p:nvPr/>
          </p:nvSpPr>
          <p:spPr>
            <a:xfrm>
              <a:off x="2611" y="3812"/>
              <a:ext cx="683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  Tuesday $.39</a:t>
              </a:r>
              <a:endParaRPr/>
            </a:p>
          </p:txBody>
        </p:sp>
        <p:sp>
          <p:nvSpPr>
            <p:cNvPr id="1127" name="Google Shape;1127;p35"/>
            <p:cNvSpPr txBox="1"/>
            <p:nvPr/>
          </p:nvSpPr>
          <p:spPr>
            <a:xfrm>
              <a:off x="3751" y="3711"/>
              <a:ext cx="363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Coffee</a:t>
              </a:r>
              <a:endParaRPr/>
            </a:p>
          </p:txBody>
        </p:sp>
        <p:sp>
          <p:nvSpPr>
            <p:cNvPr id="1128" name="Google Shape;1128;p35"/>
            <p:cNvSpPr txBox="1"/>
            <p:nvPr/>
          </p:nvSpPr>
          <p:spPr>
            <a:xfrm>
              <a:off x="3959" y="3519"/>
              <a:ext cx="390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Donuts</a:t>
              </a:r>
              <a:endParaRPr/>
            </a:p>
          </p:txBody>
        </p:sp>
        <p:sp>
          <p:nvSpPr>
            <p:cNvPr id="1129" name="Google Shape;1129;p35"/>
            <p:cNvSpPr txBox="1"/>
            <p:nvPr/>
          </p:nvSpPr>
          <p:spPr>
            <a:xfrm>
              <a:off x="4070" y="3393"/>
              <a:ext cx="504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Dictionary</a:t>
              </a:r>
              <a:endParaRPr/>
            </a:p>
          </p:txBody>
        </p:sp>
        <p:sp>
          <p:nvSpPr>
            <p:cNvPr id="1130" name="Google Shape;1130;p35"/>
            <p:cNvSpPr txBox="1"/>
            <p:nvPr/>
          </p:nvSpPr>
          <p:spPr>
            <a:xfrm>
              <a:off x="4144" y="3239"/>
              <a:ext cx="517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Thesaurus</a:t>
              </a:r>
              <a:endParaRPr/>
            </a:p>
          </p:txBody>
        </p:sp>
        <p:sp>
          <p:nvSpPr>
            <p:cNvPr id="1131" name="Google Shape;1131;p35"/>
            <p:cNvSpPr txBox="1"/>
            <p:nvPr/>
          </p:nvSpPr>
          <p:spPr>
            <a:xfrm>
              <a:off x="4305" y="3097"/>
              <a:ext cx="483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Notebook</a:t>
              </a:r>
              <a:endParaRPr/>
            </a:p>
          </p:txBody>
        </p:sp>
        <p:sp>
          <p:nvSpPr>
            <p:cNvPr id="1132" name="Google Shape;1132;p35"/>
            <p:cNvSpPr txBox="1"/>
            <p:nvPr/>
          </p:nvSpPr>
          <p:spPr>
            <a:xfrm>
              <a:off x="4432" y="2980"/>
              <a:ext cx="348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Pencil</a:t>
              </a:r>
              <a:endParaRPr/>
            </a:p>
          </p:txBody>
        </p:sp>
        <p:grpSp>
          <p:nvGrpSpPr>
            <p:cNvPr id="1133" name="Google Shape;1133;p35"/>
            <p:cNvGrpSpPr/>
            <p:nvPr/>
          </p:nvGrpSpPr>
          <p:grpSpPr>
            <a:xfrm>
              <a:off x="1352" y="2903"/>
              <a:ext cx="3016" cy="1129"/>
              <a:chOff x="6000" y="768"/>
              <a:chExt cx="3016" cy="1129"/>
            </a:xfrm>
          </p:grpSpPr>
          <p:sp>
            <p:nvSpPr>
              <p:cNvPr id="1134" name="Google Shape;1134;p35"/>
              <p:cNvSpPr/>
              <p:nvPr/>
            </p:nvSpPr>
            <p:spPr>
              <a:xfrm>
                <a:off x="6604" y="768"/>
                <a:ext cx="475" cy="854"/>
              </a:xfrm>
              <a:custGeom>
                <a:rect b="b" l="l" r="r" t="t"/>
                <a:pathLst>
                  <a:path extrusionOk="0" fill="none" h="21600" w="21600">
                    <a:moveTo>
                      <a:pt x="0" y="21575"/>
                    </a:moveTo>
                    <a:cubicBezTo>
                      <a:pt x="13" y="9672"/>
                      <a:pt x="9653" y="24"/>
                      <a:pt x="21555" y="0"/>
                    </a:cubicBezTo>
                  </a:path>
                  <a:path extrusionOk="0" h="21600" w="21600">
                    <a:moveTo>
                      <a:pt x="0" y="21575"/>
                    </a:moveTo>
                    <a:cubicBezTo>
                      <a:pt x="13" y="9672"/>
                      <a:pt x="9653" y="24"/>
                      <a:pt x="21555" y="0"/>
                    </a:cubicBezTo>
                    <a:lnTo>
                      <a:pt x="21600" y="21600"/>
                    </a:lnTo>
                    <a:lnTo>
                      <a:pt x="0" y="21575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5" name="Google Shape;1135;p35"/>
              <p:cNvSpPr/>
              <p:nvPr/>
            </p:nvSpPr>
            <p:spPr>
              <a:xfrm>
                <a:off x="7702" y="768"/>
                <a:ext cx="1314" cy="100"/>
              </a:xfrm>
              <a:custGeom>
                <a:rect b="b" l="l" r="r" t="t"/>
                <a:pathLst>
                  <a:path extrusionOk="0" fill="none" h="21600" w="21599">
                    <a:moveTo>
                      <a:pt x="-1" y="0"/>
                    </a:moveTo>
                    <a:cubicBezTo>
                      <a:pt x="11844" y="0"/>
                      <a:pt x="21479" y="9538"/>
                      <a:pt x="21598" y="21383"/>
                    </a:cubicBezTo>
                  </a:path>
                  <a:path extrusionOk="0" h="21600" w="21599">
                    <a:moveTo>
                      <a:pt x="-1" y="0"/>
                    </a:moveTo>
                    <a:cubicBezTo>
                      <a:pt x="11844" y="0"/>
                      <a:pt x="21479" y="9538"/>
                      <a:pt x="21598" y="21383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6" name="Google Shape;1136;p35"/>
              <p:cNvSpPr/>
              <p:nvPr/>
            </p:nvSpPr>
            <p:spPr>
              <a:xfrm>
                <a:off x="6000" y="934"/>
                <a:ext cx="1079" cy="49"/>
              </a:xfrm>
              <a:custGeom>
                <a:rect b="b" l="l" r="r" t="t"/>
                <a:pathLst>
                  <a:path extrusionOk="0" fill="none" h="21600" w="21595">
                    <a:moveTo>
                      <a:pt x="-1" y="21154"/>
                    </a:moveTo>
                    <a:cubicBezTo>
                      <a:pt x="241" y="9409"/>
                      <a:pt x="9826" y="10"/>
                      <a:pt x="21575" y="0"/>
                    </a:cubicBezTo>
                  </a:path>
                  <a:path extrusionOk="0" h="21600" w="21595">
                    <a:moveTo>
                      <a:pt x="-1" y="21154"/>
                    </a:moveTo>
                    <a:cubicBezTo>
                      <a:pt x="241" y="9409"/>
                      <a:pt x="9826" y="10"/>
                      <a:pt x="21575" y="0"/>
                    </a:cubicBezTo>
                    <a:lnTo>
                      <a:pt x="21595" y="21600"/>
                    </a:lnTo>
                    <a:lnTo>
                      <a:pt x="-1" y="21154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7" name="Google Shape;1137;p35"/>
              <p:cNvSpPr/>
              <p:nvPr/>
            </p:nvSpPr>
            <p:spPr>
              <a:xfrm>
                <a:off x="7732" y="934"/>
                <a:ext cx="790" cy="482"/>
              </a:xfrm>
              <a:custGeom>
                <a:rect b="b" l="l" r="r" t="t"/>
                <a:pathLst>
                  <a:path extrusionOk="0" fill="none" h="21600" w="21627">
                    <a:moveTo>
                      <a:pt x="0" y="0"/>
                    </a:moveTo>
                    <a:cubicBezTo>
                      <a:pt x="9" y="0"/>
                      <a:pt x="18" y="-1"/>
                      <a:pt x="27" y="0"/>
                    </a:cubicBezTo>
                    <a:cubicBezTo>
                      <a:pt x="11956" y="0"/>
                      <a:pt x="21627" y="9670"/>
                      <a:pt x="21627" y="21600"/>
                    </a:cubicBezTo>
                  </a:path>
                  <a:path extrusionOk="0" h="21600" w="21627">
                    <a:moveTo>
                      <a:pt x="0" y="0"/>
                    </a:moveTo>
                    <a:cubicBezTo>
                      <a:pt x="9" y="0"/>
                      <a:pt x="18" y="-1"/>
                      <a:pt x="27" y="0"/>
                    </a:cubicBezTo>
                    <a:cubicBezTo>
                      <a:pt x="11956" y="0"/>
                      <a:pt x="21627" y="9670"/>
                      <a:pt x="21627" y="21600"/>
                    </a:cubicBezTo>
                    <a:lnTo>
                      <a:pt x="27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35"/>
              <p:cNvSpPr/>
              <p:nvPr/>
            </p:nvSpPr>
            <p:spPr>
              <a:xfrm>
                <a:off x="6145" y="1069"/>
                <a:ext cx="963" cy="43"/>
              </a:xfrm>
              <a:custGeom>
                <a:rect b="b" l="l" r="r" t="t"/>
                <a:pathLst>
                  <a:path extrusionOk="0" fill="none" h="21600" w="21600">
                    <a:moveTo>
                      <a:pt x="0" y="21600"/>
                    </a:moveTo>
                    <a:cubicBezTo>
                      <a:pt x="0" y="9679"/>
                      <a:pt x="9657" y="12"/>
                      <a:pt x="21578" y="0"/>
                    </a:cubicBezTo>
                  </a:path>
                  <a:path extrusionOk="0" h="21600" w="21600">
                    <a:moveTo>
                      <a:pt x="0" y="21600"/>
                    </a:moveTo>
                    <a:cubicBezTo>
                      <a:pt x="0" y="9679"/>
                      <a:pt x="9657" y="12"/>
                      <a:pt x="21578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9" name="Google Shape;1139;p35"/>
              <p:cNvSpPr/>
              <p:nvPr/>
            </p:nvSpPr>
            <p:spPr>
              <a:xfrm>
                <a:off x="6135" y="1111"/>
                <a:ext cx="1022" cy="100"/>
              </a:xfrm>
              <a:custGeom>
                <a:rect b="b" l="l" r="r" t="t"/>
                <a:pathLst>
                  <a:path extrusionOk="0" fill="none" h="21600" w="21600">
                    <a:moveTo>
                      <a:pt x="21579" y="21599"/>
                    </a:moveTo>
                    <a:cubicBezTo>
                      <a:pt x="9657" y="21588"/>
                      <a:pt x="0" y="11921"/>
                      <a:pt x="0" y="0"/>
                    </a:cubicBezTo>
                  </a:path>
                  <a:path extrusionOk="0" h="21600" w="21600">
                    <a:moveTo>
                      <a:pt x="21579" y="21599"/>
                    </a:moveTo>
                    <a:cubicBezTo>
                      <a:pt x="9657" y="21588"/>
                      <a:pt x="0" y="11921"/>
                      <a:pt x="0" y="0"/>
                    </a:cubicBezTo>
                    <a:lnTo>
                      <a:pt x="21600" y="0"/>
                    </a:lnTo>
                    <a:lnTo>
                      <a:pt x="21579" y="21599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0" name="Google Shape;1140;p35"/>
              <p:cNvSpPr/>
              <p:nvPr/>
            </p:nvSpPr>
            <p:spPr>
              <a:xfrm>
                <a:off x="7805" y="986"/>
                <a:ext cx="1060" cy="95"/>
              </a:xfrm>
              <a:custGeom>
                <a:rect b="b" l="l" r="r" t="t"/>
                <a:pathLst>
                  <a:path extrusionOk="0" fill="none" h="21600" w="21600">
                    <a:moveTo>
                      <a:pt x="0" y="21600"/>
                    </a:moveTo>
                    <a:cubicBezTo>
                      <a:pt x="0" y="9678"/>
                      <a:pt x="9658" y="11"/>
                      <a:pt x="21580" y="0"/>
                    </a:cubicBezTo>
                  </a:path>
                  <a:path extrusionOk="0" h="21600" w="21600">
                    <a:moveTo>
                      <a:pt x="0" y="21600"/>
                    </a:moveTo>
                    <a:cubicBezTo>
                      <a:pt x="0" y="9678"/>
                      <a:pt x="9658" y="11"/>
                      <a:pt x="21580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1" name="Google Shape;1141;p35"/>
              <p:cNvSpPr/>
              <p:nvPr/>
            </p:nvSpPr>
            <p:spPr>
              <a:xfrm>
                <a:off x="7839" y="1225"/>
                <a:ext cx="670" cy="204"/>
              </a:xfrm>
              <a:custGeom>
                <a:rect b="b" l="l" r="r" t="t"/>
                <a:pathLst>
                  <a:path extrusionOk="0" fill="none" h="21600" w="2160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extrusionOk="0" h="21600" w="2160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35"/>
              <p:cNvSpPr/>
              <p:nvPr/>
            </p:nvSpPr>
            <p:spPr>
              <a:xfrm>
                <a:off x="6428" y="1371"/>
                <a:ext cx="768" cy="43"/>
              </a:xfrm>
              <a:custGeom>
                <a:rect b="b" l="l" r="r" t="t"/>
                <a:pathLst>
                  <a:path extrusionOk="0" fill="none" h="21600" w="21600">
                    <a:moveTo>
                      <a:pt x="0" y="21600"/>
                    </a:moveTo>
                    <a:cubicBezTo>
                      <a:pt x="0" y="9681"/>
                      <a:pt x="9653" y="15"/>
                      <a:pt x="21572" y="0"/>
                    </a:cubicBezTo>
                  </a:path>
                  <a:path extrusionOk="0" h="21600" w="21600">
                    <a:moveTo>
                      <a:pt x="0" y="21600"/>
                    </a:moveTo>
                    <a:cubicBezTo>
                      <a:pt x="0" y="9681"/>
                      <a:pt x="9653" y="15"/>
                      <a:pt x="21572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35"/>
              <p:cNvSpPr/>
              <p:nvPr/>
            </p:nvSpPr>
            <p:spPr>
              <a:xfrm>
                <a:off x="6438" y="1407"/>
                <a:ext cx="807" cy="102"/>
              </a:xfrm>
              <a:custGeom>
                <a:rect b="b" l="l" r="r" t="t"/>
                <a:pathLst>
                  <a:path extrusionOk="0" fill="none" h="21815" w="21600">
                    <a:moveTo>
                      <a:pt x="21573" y="21814"/>
                    </a:moveTo>
                    <a:cubicBezTo>
                      <a:pt x="9654" y="21800"/>
                      <a:pt x="0" y="12133"/>
                      <a:pt x="0" y="215"/>
                    </a:cubicBezTo>
                    <a:cubicBezTo>
                      <a:pt x="-1" y="143"/>
                      <a:pt x="0" y="71"/>
                      <a:pt x="1" y="0"/>
                    </a:cubicBezTo>
                  </a:path>
                  <a:path extrusionOk="0" h="21815" w="21600">
                    <a:moveTo>
                      <a:pt x="21573" y="21814"/>
                    </a:moveTo>
                    <a:cubicBezTo>
                      <a:pt x="9654" y="21800"/>
                      <a:pt x="0" y="12133"/>
                      <a:pt x="0" y="215"/>
                    </a:cubicBezTo>
                    <a:cubicBezTo>
                      <a:pt x="-1" y="143"/>
                      <a:pt x="0" y="71"/>
                      <a:pt x="1" y="0"/>
                    </a:cubicBezTo>
                    <a:lnTo>
                      <a:pt x="21600" y="215"/>
                    </a:lnTo>
                    <a:lnTo>
                      <a:pt x="21573" y="21814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35"/>
              <p:cNvSpPr/>
              <p:nvPr/>
            </p:nvSpPr>
            <p:spPr>
              <a:xfrm>
                <a:off x="6438" y="1397"/>
                <a:ext cx="846" cy="261"/>
              </a:xfrm>
              <a:custGeom>
                <a:rect b="b" l="l" r="r" t="t"/>
                <a:pathLst>
                  <a:path extrusionOk="0" fill="none" h="21600" w="21600">
                    <a:moveTo>
                      <a:pt x="21574" y="21599"/>
                    </a:moveTo>
                    <a:cubicBezTo>
                      <a:pt x="9654" y="21585"/>
                      <a:pt x="0" y="11919"/>
                      <a:pt x="0" y="0"/>
                    </a:cubicBezTo>
                  </a:path>
                  <a:path extrusionOk="0" h="21600" w="21600">
                    <a:moveTo>
                      <a:pt x="21574" y="21599"/>
                    </a:moveTo>
                    <a:cubicBezTo>
                      <a:pt x="9654" y="21585"/>
                      <a:pt x="0" y="11919"/>
                      <a:pt x="0" y="0"/>
                    </a:cubicBezTo>
                    <a:lnTo>
                      <a:pt x="21600" y="0"/>
                    </a:lnTo>
                    <a:lnTo>
                      <a:pt x="21574" y="21599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35"/>
              <p:cNvSpPr/>
              <p:nvPr/>
            </p:nvSpPr>
            <p:spPr>
              <a:xfrm>
                <a:off x="6448" y="1407"/>
                <a:ext cx="377" cy="486"/>
              </a:xfrm>
              <a:custGeom>
                <a:rect b="b" l="l" r="r" t="t"/>
                <a:pathLst>
                  <a:path extrusionOk="0" fill="none" h="21645" w="21600">
                    <a:moveTo>
                      <a:pt x="21543" y="21644"/>
                    </a:moveTo>
                    <a:cubicBezTo>
                      <a:pt x="9635" y="21613"/>
                      <a:pt x="0" y="11952"/>
                      <a:pt x="0" y="45"/>
                    </a:cubicBezTo>
                    <a:cubicBezTo>
                      <a:pt x="-1" y="30"/>
                      <a:pt x="0" y="15"/>
                      <a:pt x="0" y="0"/>
                    </a:cubicBezTo>
                  </a:path>
                  <a:path extrusionOk="0" h="21645" w="21600">
                    <a:moveTo>
                      <a:pt x="21543" y="21644"/>
                    </a:moveTo>
                    <a:cubicBezTo>
                      <a:pt x="9635" y="21613"/>
                      <a:pt x="0" y="11952"/>
                      <a:pt x="0" y="45"/>
                    </a:cubicBezTo>
                    <a:cubicBezTo>
                      <a:pt x="-1" y="30"/>
                      <a:pt x="0" y="15"/>
                      <a:pt x="0" y="0"/>
                    </a:cubicBezTo>
                    <a:lnTo>
                      <a:pt x="21600" y="45"/>
                    </a:lnTo>
                    <a:lnTo>
                      <a:pt x="21543" y="21644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35"/>
              <p:cNvSpPr/>
              <p:nvPr/>
            </p:nvSpPr>
            <p:spPr>
              <a:xfrm>
                <a:off x="7883" y="1111"/>
                <a:ext cx="816" cy="261"/>
              </a:xfrm>
              <a:custGeom>
                <a:rect b="b" l="l" r="r" t="t"/>
                <a:pathLst>
                  <a:path extrusionOk="0" fill="none" h="21600" w="21600">
                    <a:moveTo>
                      <a:pt x="0" y="21600"/>
                    </a:moveTo>
                    <a:cubicBezTo>
                      <a:pt x="0" y="9680"/>
                      <a:pt x="9654" y="14"/>
                      <a:pt x="21574" y="0"/>
                    </a:cubicBezTo>
                  </a:path>
                  <a:path extrusionOk="0" h="21600" w="21600">
                    <a:moveTo>
                      <a:pt x="0" y="21600"/>
                    </a:moveTo>
                    <a:cubicBezTo>
                      <a:pt x="0" y="9680"/>
                      <a:pt x="9654" y="14"/>
                      <a:pt x="21574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35"/>
              <p:cNvSpPr/>
              <p:nvPr/>
            </p:nvSpPr>
            <p:spPr>
              <a:xfrm>
                <a:off x="7922" y="1283"/>
                <a:ext cx="680" cy="230"/>
              </a:xfrm>
              <a:custGeom>
                <a:rect b="b" l="l" r="r" t="t"/>
                <a:pathLst>
                  <a:path extrusionOk="0" fill="none" h="21600" w="21600">
                    <a:moveTo>
                      <a:pt x="0" y="21600"/>
                    </a:moveTo>
                    <a:cubicBezTo>
                      <a:pt x="0" y="9683"/>
                      <a:pt x="9651" y="17"/>
                      <a:pt x="21568" y="0"/>
                    </a:cubicBezTo>
                  </a:path>
                  <a:path extrusionOk="0" h="21600" w="21600">
                    <a:moveTo>
                      <a:pt x="0" y="21600"/>
                    </a:moveTo>
                    <a:cubicBezTo>
                      <a:pt x="0" y="9683"/>
                      <a:pt x="9651" y="17"/>
                      <a:pt x="21568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8" name="Google Shape;1148;p35"/>
              <p:cNvSpPr/>
              <p:nvPr/>
            </p:nvSpPr>
            <p:spPr>
              <a:xfrm>
                <a:off x="7951" y="1412"/>
                <a:ext cx="592" cy="262"/>
              </a:xfrm>
              <a:custGeom>
                <a:rect b="b" l="l" r="r" t="t"/>
                <a:pathLst>
                  <a:path extrusionOk="0" fill="none" h="21600" w="21600">
                    <a:moveTo>
                      <a:pt x="0" y="21517"/>
                    </a:moveTo>
                    <a:cubicBezTo>
                      <a:pt x="45" y="9634"/>
                      <a:pt x="9681" y="19"/>
                      <a:pt x="21564" y="0"/>
                    </a:cubicBezTo>
                  </a:path>
                  <a:path extrusionOk="0" h="21600" w="21600">
                    <a:moveTo>
                      <a:pt x="0" y="21517"/>
                    </a:moveTo>
                    <a:cubicBezTo>
                      <a:pt x="45" y="9634"/>
                      <a:pt x="9681" y="19"/>
                      <a:pt x="21564" y="0"/>
                    </a:cubicBezTo>
                    <a:lnTo>
                      <a:pt x="21600" y="21600"/>
                    </a:lnTo>
                    <a:lnTo>
                      <a:pt x="0" y="21517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Google Shape;1149;p35"/>
              <p:cNvSpPr/>
              <p:nvPr/>
            </p:nvSpPr>
            <p:spPr>
              <a:xfrm>
                <a:off x="8000" y="1599"/>
                <a:ext cx="309" cy="215"/>
              </a:xfrm>
              <a:custGeom>
                <a:rect b="b" l="l" r="r" t="t"/>
                <a:pathLst>
                  <a:path extrusionOk="0" fill="none" h="21600" w="21600">
                    <a:moveTo>
                      <a:pt x="0" y="21499"/>
                    </a:moveTo>
                    <a:cubicBezTo>
                      <a:pt x="55" y="9636"/>
                      <a:pt x="9667" y="38"/>
                      <a:pt x="21530" y="0"/>
                    </a:cubicBezTo>
                  </a:path>
                  <a:path extrusionOk="0" h="21600" w="21600">
                    <a:moveTo>
                      <a:pt x="0" y="21499"/>
                    </a:moveTo>
                    <a:cubicBezTo>
                      <a:pt x="55" y="9636"/>
                      <a:pt x="9667" y="38"/>
                      <a:pt x="21530" y="0"/>
                    </a:cubicBezTo>
                    <a:lnTo>
                      <a:pt x="21600" y="21600"/>
                    </a:lnTo>
                    <a:lnTo>
                      <a:pt x="0" y="21499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0" name="Google Shape;1150;p35"/>
              <p:cNvSpPr/>
              <p:nvPr/>
            </p:nvSpPr>
            <p:spPr>
              <a:xfrm>
                <a:off x="6823" y="1792"/>
                <a:ext cx="486" cy="105"/>
              </a:xfrm>
              <a:custGeom>
                <a:rect b="b" l="l" r="r" t="t"/>
                <a:pathLst>
                  <a:path extrusionOk="0" fill="none" h="21600" w="21645">
                    <a:moveTo>
                      <a:pt x="21645" y="0"/>
                    </a:moveTo>
                    <a:cubicBezTo>
                      <a:pt x="21645" y="11929"/>
                      <a:pt x="11974" y="21600"/>
                      <a:pt x="45" y="21600"/>
                    </a:cubicBezTo>
                    <a:cubicBezTo>
                      <a:pt x="30" y="21600"/>
                      <a:pt x="15" y="21599"/>
                      <a:pt x="0" y="21599"/>
                    </a:cubicBezTo>
                  </a:path>
                  <a:path extrusionOk="0" h="21600" w="21645">
                    <a:moveTo>
                      <a:pt x="21645" y="0"/>
                    </a:moveTo>
                    <a:cubicBezTo>
                      <a:pt x="21645" y="11929"/>
                      <a:pt x="11974" y="21600"/>
                      <a:pt x="45" y="21600"/>
                    </a:cubicBezTo>
                    <a:cubicBezTo>
                      <a:pt x="30" y="21600"/>
                      <a:pt x="15" y="21599"/>
                      <a:pt x="0" y="21599"/>
                    </a:cubicBezTo>
                    <a:lnTo>
                      <a:pt x="45" y="0"/>
                    </a:lnTo>
                    <a:lnTo>
                      <a:pt x="21645" y="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1" name="Google Shape;1151;p35"/>
            <p:cNvGrpSpPr/>
            <p:nvPr/>
          </p:nvGrpSpPr>
          <p:grpSpPr>
            <a:xfrm>
              <a:off x="2592" y="3888"/>
              <a:ext cx="817" cy="250"/>
              <a:chOff x="6096" y="3648"/>
              <a:chExt cx="817" cy="250"/>
            </a:xfrm>
          </p:grpSpPr>
          <p:grpSp>
            <p:nvGrpSpPr>
              <p:cNvPr id="1152" name="Google Shape;1152;p35"/>
              <p:cNvGrpSpPr/>
              <p:nvPr/>
            </p:nvGrpSpPr>
            <p:grpSpPr>
              <a:xfrm>
                <a:off x="6096" y="3648"/>
                <a:ext cx="817" cy="230"/>
                <a:chOff x="6096" y="3648"/>
                <a:chExt cx="817" cy="230"/>
              </a:xfrm>
            </p:grpSpPr>
            <p:grpSp>
              <p:nvGrpSpPr>
                <p:cNvPr id="1153" name="Google Shape;1153;p35"/>
                <p:cNvGrpSpPr/>
                <p:nvPr/>
              </p:nvGrpSpPr>
              <p:grpSpPr>
                <a:xfrm>
                  <a:off x="6096" y="3648"/>
                  <a:ext cx="817" cy="230"/>
                  <a:chOff x="3840" y="3984"/>
                  <a:chExt cx="817" cy="230"/>
                </a:xfrm>
              </p:grpSpPr>
              <p:sp>
                <p:nvSpPr>
                  <p:cNvPr id="1154" name="Google Shape;1154;p35"/>
                  <p:cNvSpPr txBox="1"/>
                  <p:nvPr/>
                </p:nvSpPr>
                <p:spPr>
                  <a:xfrm>
                    <a:off x="3840" y="3984"/>
                    <a:ext cx="817" cy="230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5" name="Google Shape;1155;p35"/>
                  <p:cNvSpPr txBox="1"/>
                  <p:nvPr/>
                </p:nvSpPr>
                <p:spPr>
                  <a:xfrm>
                    <a:off x="4172" y="4032"/>
                    <a:ext cx="114" cy="15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4450" lIns="90475" spcFirstLastPara="1" rIns="90475" wrap="square" tIns="4445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156" name="Google Shape;1156;p35"/>
                <p:cNvSpPr/>
                <p:nvPr/>
              </p:nvSpPr>
              <p:spPr>
                <a:xfrm>
                  <a:off x="6816" y="3696"/>
                  <a:ext cx="80" cy="41"/>
                </a:xfrm>
                <a:prstGeom prst="ellipse">
                  <a:avLst/>
                </a:prstGeom>
                <a:solidFill>
                  <a:schemeClr val="dk2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7" name="Google Shape;1157;p35"/>
                <p:cNvSpPr/>
                <p:nvPr/>
              </p:nvSpPr>
              <p:spPr>
                <a:xfrm>
                  <a:off x="6111" y="3696"/>
                  <a:ext cx="81" cy="41"/>
                </a:xfrm>
                <a:prstGeom prst="ellipse">
                  <a:avLst/>
                </a:prstGeom>
                <a:solidFill>
                  <a:schemeClr val="dk2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58" name="Google Shape;1158;p35"/>
              <p:cNvSpPr txBox="1"/>
              <p:nvPr/>
            </p:nvSpPr>
            <p:spPr>
              <a:xfrm>
                <a:off x="6179" y="3648"/>
                <a:ext cx="68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Jo</a:t>
                </a:r>
                <a:r>
                  <a:rPr b="0" i="0" lang="en-US" sz="10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Coffee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  Tuesday $.59</a:t>
                </a:r>
                <a:endParaRPr/>
              </a:p>
            </p:txBody>
          </p:sp>
        </p:grpSp>
      </p:grpSp>
      <p:cxnSp>
        <p:nvCxnSpPr>
          <p:cNvPr id="1159" name="Google Shape;1159;p35"/>
          <p:cNvCxnSpPr/>
          <p:nvPr/>
        </p:nvCxnSpPr>
        <p:spPr>
          <a:xfrm rot="10800000">
            <a:off x="2098675" y="2879725"/>
            <a:ext cx="1776412" cy="0"/>
          </a:xfrm>
          <a:prstGeom prst="straightConnector1">
            <a:avLst/>
          </a:prstGeom>
          <a:noFill/>
          <a:ln cap="flat" cmpd="sng" w="50800">
            <a:solidFill>
              <a:srgbClr val="FFFFFF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60" name="Google Shape;1160;p35"/>
          <p:cNvCxnSpPr/>
          <p:nvPr/>
        </p:nvCxnSpPr>
        <p:spPr>
          <a:xfrm rot="10800000">
            <a:off x="5565775" y="2876550"/>
            <a:ext cx="1341437" cy="0"/>
          </a:xfrm>
          <a:prstGeom prst="straightConnector1">
            <a:avLst/>
          </a:prstGeom>
          <a:noFill/>
          <a:ln cap="flat" cmpd="sng" w="50800">
            <a:solidFill>
              <a:srgbClr val="FFFF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61" name="Google Shape;1161;p35"/>
          <p:cNvSpPr txBox="1"/>
          <p:nvPr/>
        </p:nvSpPr>
        <p:spPr>
          <a:xfrm>
            <a:off x="2133600" y="2027237"/>
            <a:ext cx="1023937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involved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/>
          </a:p>
        </p:txBody>
      </p:sp>
      <p:sp>
        <p:nvSpPr>
          <p:cNvPr id="1162" name="Google Shape;1162;p35"/>
          <p:cNvSpPr txBox="1"/>
          <p:nvPr/>
        </p:nvSpPr>
        <p:spPr>
          <a:xfrm>
            <a:off x="6172200" y="2408237"/>
            <a:ext cx="5302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has</a:t>
            </a:r>
            <a:endParaRPr/>
          </a:p>
        </p:txBody>
      </p:sp>
      <p:graphicFrame>
        <p:nvGraphicFramePr>
          <p:cNvPr id="1163" name="Google Shape;1163;p35"/>
          <p:cNvGraphicFramePr/>
          <p:nvPr/>
        </p:nvGraphicFramePr>
        <p:xfrm>
          <a:off x="2971800" y="2179637"/>
          <a:ext cx="1143000" cy="944562"/>
        </p:xfrm>
        <a:graphic>
          <a:graphicData uri="http://schemas.openxmlformats.org/presentationml/2006/ole">
            <mc:AlternateContent>
              <mc:Choice Requires="v">
                <p:oleObj r:id="rId4" imgH="944562" imgW="1143000" progId="Visio.Drawing.6" spid="_x0000_s1">
                  <p:embed/>
                </p:oleObj>
              </mc:Choice>
              <mc:Fallback>
                <p:oleObj r:id="rId5" imgH="944562" imgW="1143000" progId="Visio.Drawing.6">
                  <p:embed/>
                  <p:pic>
                    <p:nvPicPr>
                      <p:cNvPr id="1163" name="Google Shape;1163;p3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971800" y="2179637"/>
                        <a:ext cx="114300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4" name="Google Shape;1164;p35"/>
          <p:cNvGraphicFramePr/>
          <p:nvPr/>
        </p:nvGraphicFramePr>
        <p:xfrm>
          <a:off x="5410200" y="2179637"/>
          <a:ext cx="1143000" cy="944562"/>
        </p:xfrm>
        <a:graphic>
          <a:graphicData uri="http://schemas.openxmlformats.org/presentationml/2006/ole">
            <mc:AlternateContent>
              <mc:Choice Requires="v">
                <p:oleObj r:id="rId7" imgH="944562" imgW="1143000" progId="Visio.Drawing.6" spid="_x0000_s2">
                  <p:embed/>
                </p:oleObj>
              </mc:Choice>
              <mc:Fallback>
                <p:oleObj r:id="rId8" imgH="944562" imgW="1143000" progId="Visio.Drawing.6">
                  <p:embed/>
                  <p:pic>
                    <p:nvPicPr>
                      <p:cNvPr id="1164" name="Google Shape;1164;p35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410200" y="2179637"/>
                        <a:ext cx="114300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5" name="Google Shape;1165;p35"/>
          <p:cNvSpPr txBox="1"/>
          <p:nvPr/>
        </p:nvSpPr>
        <p:spPr>
          <a:xfrm>
            <a:off x="3352800" y="2895600"/>
            <a:ext cx="5334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entury Schoolbook"/>
              <a:buNone/>
            </a:pPr>
            <a:r>
              <a:rPr b="1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</a:t>
            </a:r>
            <a:endParaRPr/>
          </a:p>
        </p:txBody>
      </p:sp>
      <p:sp>
        <p:nvSpPr>
          <p:cNvPr id="1166" name="Google Shape;1166;p35"/>
          <p:cNvSpPr txBox="1"/>
          <p:nvPr/>
        </p:nvSpPr>
        <p:spPr>
          <a:xfrm>
            <a:off x="5638800" y="2895600"/>
            <a:ext cx="5334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entury Schoolbook"/>
              <a:buNone/>
            </a:pPr>
            <a:r>
              <a:rPr b="1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</a:t>
            </a:r>
            <a:endParaRPr/>
          </a:p>
        </p:txBody>
      </p:sp>
      <p:sp>
        <p:nvSpPr>
          <p:cNvPr id="1167" name="Google Shape;1167;p35"/>
          <p:cNvSpPr txBox="1"/>
          <p:nvPr/>
        </p:nvSpPr>
        <p:spPr>
          <a:xfrm>
            <a:off x="2209800" y="2971800"/>
            <a:ext cx="2968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68" name="Google Shape;1168;p35"/>
          <p:cNvSpPr txBox="1"/>
          <p:nvPr/>
        </p:nvSpPr>
        <p:spPr>
          <a:xfrm>
            <a:off x="6553200" y="2971800"/>
            <a:ext cx="2968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69" name="Google Shape;1169;p35"/>
          <p:cNvSpPr txBox="1"/>
          <p:nvPr/>
        </p:nvSpPr>
        <p:spPr>
          <a:xfrm>
            <a:off x="-1828800" y="1600200"/>
            <a:ext cx="5334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entury Schoolbook"/>
              <a:buNone/>
            </a:pPr>
            <a:r>
              <a:rPr b="1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</a:t>
            </a:r>
            <a:endParaRPr/>
          </a:p>
        </p:txBody>
      </p:sp>
      <p:sp>
        <p:nvSpPr>
          <p:cNvPr id="1170" name="Google Shape;1170;p35"/>
          <p:cNvSpPr txBox="1"/>
          <p:nvPr/>
        </p:nvSpPr>
        <p:spPr>
          <a:xfrm>
            <a:off x="-2590800" y="1676400"/>
            <a:ext cx="2968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graphicFrame>
        <p:nvGraphicFramePr>
          <p:cNvPr id="1171" name="Google Shape;1171;p35"/>
          <p:cNvGraphicFramePr/>
          <p:nvPr/>
        </p:nvGraphicFramePr>
        <p:xfrm>
          <a:off x="-3962400" y="3352800"/>
          <a:ext cx="3000375" cy="2057400"/>
        </p:xfrm>
        <a:graphic>
          <a:graphicData uri="http://schemas.openxmlformats.org/presentationml/2006/ole">
            <mc:AlternateContent>
              <mc:Choice Requires="v">
                <p:oleObj r:id="rId10" imgH="2057400" imgW="3000375" progId="Visio.Drawing.6" spid="_x0000_s3">
                  <p:embed/>
                </p:oleObj>
              </mc:Choice>
              <mc:Fallback>
                <p:oleObj r:id="rId11" imgH="2057400" imgW="3000375" progId="Visio.Drawing.6">
                  <p:embed/>
                  <p:pic>
                    <p:nvPicPr>
                      <p:cNvPr id="1171" name="Google Shape;1171;p35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-3962400" y="3352800"/>
                        <a:ext cx="3000375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2" name="Google Shape;1172;p35"/>
          <p:cNvGraphicFramePr/>
          <p:nvPr/>
        </p:nvGraphicFramePr>
        <p:xfrm>
          <a:off x="-2438400" y="0"/>
          <a:ext cx="1143000" cy="944562"/>
        </p:xfrm>
        <a:graphic>
          <a:graphicData uri="http://schemas.openxmlformats.org/presentationml/2006/ole">
            <mc:AlternateContent>
              <mc:Choice Requires="v">
                <p:oleObj r:id="rId13" imgH="944562" imgW="1143000" progId="Visio.Drawing.6" spid="_x0000_s4">
                  <p:embed/>
                </p:oleObj>
              </mc:Choice>
              <mc:Fallback>
                <p:oleObj r:id="rId14" imgH="944562" imgW="1143000" progId="Visio.Drawing.6">
                  <p:embed/>
                  <p:pic>
                    <p:nvPicPr>
                      <p:cNvPr id="1172" name="Google Shape;1172;p3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-2438400" y="0"/>
                        <a:ext cx="114300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3" name="Google Shape;1173;p35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wipe dir="u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36"/>
          <p:cNvSpPr txBox="1"/>
          <p:nvPr>
            <p:ph type="title"/>
          </p:nvPr>
        </p:nvSpPr>
        <p:spPr>
          <a:xfrm>
            <a:off x="609600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6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72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❺</a:t>
            </a:r>
            <a:r>
              <a:rPr b="0" i="0" lang="en-US" sz="6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br>
              <a:rPr b="0" i="0" lang="en-US" sz="6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9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br>
              <a:rPr b="0" i="0" lang="en-US" sz="9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8000" u="sng">
                <a:solidFill>
                  <a:srgbClr val="7FFF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Attributes</a:t>
            </a:r>
            <a:endParaRPr/>
          </a:p>
        </p:txBody>
      </p:sp>
      <p:sp>
        <p:nvSpPr>
          <p:cNvPr id="1179" name="Google Shape;1179;p36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37"/>
          <p:cNvSpPr txBox="1"/>
          <p:nvPr>
            <p:ph type="title"/>
          </p:nvPr>
        </p:nvSpPr>
        <p:spPr>
          <a:xfrm>
            <a:off x="457200" y="990600"/>
            <a:ext cx="77724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6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72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6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8000" u="sng">
                <a:solidFill>
                  <a:srgbClr val="7FFF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Normalization</a:t>
            </a:r>
            <a:endParaRPr/>
          </a:p>
        </p:txBody>
      </p:sp>
      <p:sp>
        <p:nvSpPr>
          <p:cNvPr id="1185" name="Google Shape;1185;p37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38"/>
          <p:cNvSpPr txBox="1"/>
          <p:nvPr>
            <p:ph type="title"/>
          </p:nvPr>
        </p:nvSpPr>
        <p:spPr>
          <a:xfrm>
            <a:off x="685800" y="1524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Normalization </a:t>
            </a:r>
            <a:endParaRPr/>
          </a:p>
        </p:txBody>
      </p:sp>
      <p:sp>
        <p:nvSpPr>
          <p:cNvPr id="1191" name="Google Shape;1191;p38"/>
          <p:cNvSpPr txBox="1"/>
          <p:nvPr>
            <p:ph idx="1" type="body"/>
          </p:nvPr>
        </p:nvSpPr>
        <p:spPr>
          <a:xfrm>
            <a:off x="708025" y="1281112"/>
            <a:ext cx="7877175" cy="54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Let</a:t>
            </a:r>
            <a:r>
              <a:rPr b="0" i="0" lang="en-US" sz="28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’</a:t>
            </a: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s start with an example.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Say you need a sales report something like this:</a:t>
            </a:r>
            <a:endParaRPr/>
          </a:p>
        </p:txBody>
      </p:sp>
      <p:sp>
        <p:nvSpPr>
          <p:cNvPr id="1192" name="Google Shape;1192;p38"/>
          <p:cNvSpPr txBox="1"/>
          <p:nvPr/>
        </p:nvSpPr>
        <p:spPr>
          <a:xfrm>
            <a:off x="444500" y="2787650"/>
            <a:ext cx="8378825" cy="34925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38"/>
          <p:cNvSpPr txBox="1"/>
          <p:nvPr/>
        </p:nvSpPr>
        <p:spPr>
          <a:xfrm>
            <a:off x="461962" y="2867025"/>
            <a:ext cx="8370887" cy="277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   Customer              Catalog                      </a:t>
            </a: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Unit                    Qty     Actual    Extended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No.  Name      Address      No.  Description  Price    Date      Sold      Price       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b="1" i="0" sz="16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131 Jo Blo   13 May St       3A21    T-Shirt      12.49    03/01/98      45      10.00      450.00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179 Yo Yo  271 OK Ave     1B77    Sweats     15.00    01/03/98      12      15.00      180.00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212 Mu Mu 32 Saddle Rd   4X21    Pants       23.47    12/11/98        5      21.00      105.00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        .                .                 .           .                    .              .               .           .              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.         .                .                 .           .                    .              .               .           .              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.         .                .                 .           .                    .              .               .           .              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b="1" i="0" sz="16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38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39"/>
          <p:cNvSpPr txBox="1"/>
          <p:nvPr>
            <p:ph type="title"/>
          </p:nvPr>
        </p:nvSpPr>
        <p:spPr>
          <a:xfrm>
            <a:off x="685800" y="1524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Normalization </a:t>
            </a:r>
            <a:endParaRPr/>
          </a:p>
        </p:txBody>
      </p:sp>
      <p:sp>
        <p:nvSpPr>
          <p:cNvPr id="1200" name="Google Shape;1200;p39"/>
          <p:cNvSpPr txBox="1"/>
          <p:nvPr>
            <p:ph idx="1" type="body"/>
          </p:nvPr>
        </p:nvSpPr>
        <p:spPr>
          <a:xfrm>
            <a:off x="660400" y="2119312"/>
            <a:ext cx="8229600" cy="39306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		is to build a </a:t>
            </a:r>
            <a:r>
              <a:rPr b="0" i="0" lang="en-US" sz="2000" u="none">
                <a:solidFill>
                  <a:srgbClr val="EF9100"/>
                </a:solidFill>
                <a:latin typeface="DFKai-SB"/>
                <a:ea typeface="DFKai-SB"/>
                <a:cs typeface="DFKai-SB"/>
                <a:sym typeface="DFKai-SB"/>
              </a:rPr>
              <a:t>relational table </a:t>
            </a:r>
            <a:endParaRPr b="0" i="0" sz="20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that </a:t>
            </a:r>
            <a:r>
              <a:rPr b="0" i="1" lang="en-US" sz="2400" u="none">
                <a:solidFill>
                  <a:srgbClr val="EF9100"/>
                </a:solidFill>
                <a:latin typeface="DFKai-SB"/>
                <a:ea typeface="DFKai-SB"/>
                <a:cs typeface="DFKai-SB"/>
                <a:sym typeface="DFKai-SB"/>
              </a:rPr>
              <a:t>mimics this report.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That is, it has the </a:t>
            </a:r>
            <a:r>
              <a:rPr b="0" i="0" lang="en-US" sz="2000" u="none">
                <a:solidFill>
                  <a:srgbClr val="EF9100"/>
                </a:solidFill>
                <a:latin typeface="DFKai-SB"/>
                <a:ea typeface="DFKai-SB"/>
                <a:cs typeface="DFKai-SB"/>
                <a:sym typeface="DFKai-SB"/>
              </a:rPr>
              <a:t>same columns 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as this report.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In the object paradigm, the </a:t>
            </a:r>
            <a:r>
              <a:rPr b="0" i="0" lang="en-US" sz="2000" u="none">
                <a:solidFill>
                  <a:srgbClr val="EF9100"/>
                </a:solidFill>
                <a:latin typeface="DFKai-SB"/>
                <a:ea typeface="DFKai-SB"/>
                <a:cs typeface="DFKai-SB"/>
                <a:sym typeface="DFKai-SB"/>
              </a:rPr>
              <a:t>equivalent error </a:t>
            </a:r>
            <a:endParaRPr b="0" i="0" sz="20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would be to create a class with </a:t>
            </a:r>
            <a:r>
              <a:rPr b="0" i="0" lang="en-US" sz="2000" u="none">
                <a:solidFill>
                  <a:srgbClr val="EF9100"/>
                </a:solidFill>
                <a:latin typeface="DFKai-SB"/>
                <a:ea typeface="DFKai-SB"/>
                <a:cs typeface="DFKai-SB"/>
                <a:sym typeface="DFKai-SB"/>
              </a:rPr>
              <a:t>attributes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that </a:t>
            </a:r>
            <a:r>
              <a:rPr b="0" i="1" lang="en-US" sz="2400" u="none">
                <a:solidFill>
                  <a:srgbClr val="EF9100"/>
                </a:solidFill>
                <a:latin typeface="DFKai-SB"/>
                <a:ea typeface="DFKai-SB"/>
                <a:cs typeface="DFKai-SB"/>
                <a:sym typeface="DFKai-SB"/>
              </a:rPr>
              <a:t>match the columns 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on the report.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But what would we call this class?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The best name would probably be something like </a:t>
            </a:r>
            <a:r>
              <a:rPr b="0" i="0" lang="en-US" sz="2000" u="none">
                <a:solidFill>
                  <a:srgbClr val="EF9100"/>
                </a:solidFill>
                <a:latin typeface="DFKai-SB"/>
                <a:ea typeface="DFKai-SB"/>
                <a:cs typeface="DFKai-SB"/>
                <a:sym typeface="DFKai-SB"/>
              </a:rPr>
              <a:t>“Sales” 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or </a:t>
            </a:r>
            <a:r>
              <a:rPr b="0" i="0" lang="en-US" sz="2000" u="none">
                <a:solidFill>
                  <a:srgbClr val="EF9100"/>
                </a:solidFill>
                <a:latin typeface="DFKai-SB"/>
                <a:ea typeface="DFKai-SB"/>
                <a:cs typeface="DFKai-SB"/>
                <a:sym typeface="DFKai-SB"/>
              </a:rPr>
              <a:t>“Sales Analysis.”</a:t>
            </a:r>
            <a:endParaRPr b="0" i="0" sz="20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300"/>
              <a:buNone/>
            </a:pPr>
            <a:r>
              <a:rPr b="0" i="0" lang="en-US" sz="4400" u="none">
                <a:solidFill>
                  <a:srgbClr val="EF9100"/>
                </a:solidFill>
                <a:latin typeface="DFKai-SB"/>
                <a:ea typeface="DFKai-SB"/>
                <a:cs typeface="DFKai-SB"/>
                <a:sym typeface="DFKai-SB"/>
              </a:rPr>
              <a:t>					</a:t>
            </a:r>
            <a:r>
              <a:rPr b="0" i="1" lang="en-US" sz="5400" u="none">
                <a:solidFill>
                  <a:srgbClr val="EF9100"/>
                </a:solidFill>
                <a:latin typeface="DFKai-SB"/>
                <a:ea typeface="DFKai-SB"/>
                <a:cs typeface="DFKai-SB"/>
                <a:sym typeface="DFKai-SB"/>
              </a:rPr>
              <a:t>But . . .</a:t>
            </a:r>
            <a:endParaRPr/>
          </a:p>
        </p:txBody>
      </p:sp>
      <p:sp>
        <p:nvSpPr>
          <p:cNvPr id="1201" name="Google Shape;1201;p39"/>
          <p:cNvSpPr txBox="1"/>
          <p:nvPr/>
        </p:nvSpPr>
        <p:spPr>
          <a:xfrm>
            <a:off x="176212" y="1066800"/>
            <a:ext cx="8172450" cy="8921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-14478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2280"/>
              <a:buFont typeface="Arial"/>
              <a:buChar char="●"/>
            </a:pPr>
            <a:r>
              <a:rPr b="1" i="0" lang="en-US" sz="2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What the </a:t>
            </a:r>
            <a:r>
              <a:rPr b="1" i="1" lang="en-US" sz="2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uninitiated</a:t>
            </a:r>
            <a:r>
              <a:rPr b="1" i="0" lang="en-US" sz="2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(read “</a:t>
            </a:r>
            <a:r>
              <a:rPr b="1" i="1" lang="en-US" sz="2400" u="none">
                <a:solidFill>
                  <a:srgbClr val="00FF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amateur</a:t>
            </a:r>
            <a:r>
              <a:rPr b="1" i="0" lang="en-US" sz="2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”) database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Schoolbook"/>
              <a:buNone/>
            </a:pPr>
            <a:r>
              <a:rPr b="1" i="0" lang="en-US" sz="2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designer tends to do </a:t>
            </a:r>
            <a:endParaRPr/>
          </a:p>
        </p:txBody>
      </p:sp>
      <p:sp>
        <p:nvSpPr>
          <p:cNvPr id="1202" name="Google Shape;1202;p39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40"/>
          <p:cNvSpPr txBox="1"/>
          <p:nvPr>
            <p:ph type="title"/>
          </p:nvPr>
        </p:nvSpPr>
        <p:spPr>
          <a:xfrm>
            <a:off x="685800" y="762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Normalization </a:t>
            </a:r>
            <a:endParaRPr/>
          </a:p>
        </p:txBody>
      </p:sp>
      <p:sp>
        <p:nvSpPr>
          <p:cNvPr id="1208" name="Google Shape;1208;p40"/>
          <p:cNvSpPr txBox="1"/>
          <p:nvPr>
            <p:ph idx="1" type="body"/>
          </p:nvPr>
        </p:nvSpPr>
        <p:spPr>
          <a:xfrm>
            <a:off x="201612" y="2201862"/>
            <a:ext cx="9110662" cy="40084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We have: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	Data that describes a </a:t>
            </a:r>
            <a:r>
              <a:rPr b="0" i="0" lang="en-US" sz="2400" u="none">
                <a:solidFill>
                  <a:srgbClr val="EF9100"/>
                </a:solidFill>
                <a:latin typeface="DFKai-SB"/>
                <a:ea typeface="DFKai-SB"/>
                <a:cs typeface="DFKai-SB"/>
                <a:sym typeface="DFKai-SB"/>
              </a:rPr>
              <a:t>Customer</a:t>
            </a: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(Cust No./Name/Address)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	Data that describes a </a:t>
            </a:r>
            <a:r>
              <a:rPr b="0" i="0" lang="en-US" sz="2400" u="none">
                <a:solidFill>
                  <a:srgbClr val="EF9100"/>
                </a:solidFill>
                <a:latin typeface="DFKai-SB"/>
                <a:ea typeface="DFKai-SB"/>
                <a:cs typeface="DFKai-SB"/>
                <a:sym typeface="DFKai-SB"/>
              </a:rPr>
              <a:t>Product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None/>
            </a:pP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	(Cat No/Description/Unit Price)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	And data that describes a </a:t>
            </a:r>
            <a:r>
              <a:rPr b="0" i="0" lang="en-US" sz="2400" u="none">
                <a:solidFill>
                  <a:srgbClr val="EF9100"/>
                </a:solidFill>
                <a:latin typeface="DFKai-SB"/>
                <a:ea typeface="DFKai-SB"/>
                <a:cs typeface="DFKai-SB"/>
                <a:sym typeface="DFKai-SB"/>
              </a:rPr>
              <a:t>Sale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(Date/Quantity/Actual 	and Extended Prices)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Compare this situation with all the earlier models we have looked at,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You</a:t>
            </a: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’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ll see that </a:t>
            </a:r>
            <a:r>
              <a:rPr b="0" i="0" lang="en-US" sz="2400" u="none">
                <a:solidFill>
                  <a:srgbClr val="EF9100"/>
                </a:solidFill>
                <a:latin typeface="DFKai-SB"/>
                <a:ea typeface="DFKai-SB"/>
                <a:cs typeface="DFKai-SB"/>
                <a:sym typeface="DFKai-SB"/>
              </a:rPr>
              <a:t>Customer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, </a:t>
            </a:r>
            <a:r>
              <a:rPr b="0" i="0" lang="en-US" sz="2400" u="none">
                <a:solidFill>
                  <a:srgbClr val="EF9100"/>
                </a:solidFill>
                <a:latin typeface="DFKai-SB"/>
                <a:ea typeface="DFKai-SB"/>
                <a:cs typeface="DFKai-SB"/>
                <a:sym typeface="DFKai-SB"/>
              </a:rPr>
              <a:t>Product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and </a:t>
            </a:r>
            <a:r>
              <a:rPr b="0" i="0" lang="en-US" sz="2400" u="none">
                <a:solidFill>
                  <a:srgbClr val="EF9100"/>
                </a:solidFill>
                <a:latin typeface="DFKai-SB"/>
                <a:ea typeface="DFKai-SB"/>
                <a:cs typeface="DFKai-SB"/>
                <a:sym typeface="DFKai-SB"/>
              </a:rPr>
              <a:t>Sale</a:t>
            </a:r>
            <a:r>
              <a:rPr b="0" i="0" lang="en-US" sz="24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should each be a </a:t>
            </a:r>
            <a:r>
              <a:rPr b="0" i="1" lang="en-US" sz="3200" u="none">
                <a:solidFill>
                  <a:srgbClr val="EF9100"/>
                </a:solidFill>
                <a:latin typeface="DFKai-SB"/>
                <a:ea typeface="DFKai-SB"/>
                <a:cs typeface="DFKai-SB"/>
                <a:sym typeface="DFKai-SB"/>
              </a:rPr>
              <a:t>separate class . . .</a:t>
            </a:r>
            <a:endParaRPr/>
          </a:p>
        </p:txBody>
      </p:sp>
      <p:sp>
        <p:nvSpPr>
          <p:cNvPr id="1209" name="Google Shape;1209;p40"/>
          <p:cNvSpPr txBox="1"/>
          <p:nvPr/>
        </p:nvSpPr>
        <p:spPr>
          <a:xfrm>
            <a:off x="227012" y="1055687"/>
            <a:ext cx="8348662" cy="11509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-16891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2660"/>
              <a:buFont typeface="Arial"/>
              <a:buChar char="●"/>
            </a:pPr>
            <a:r>
              <a:rPr b="1" i="0" lang="en-US" sz="28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problem is that we have </a:t>
            </a:r>
            <a:r>
              <a:rPr b="1" i="0" lang="en-US" sz="36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three kinds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of data in this report.</a:t>
            </a:r>
            <a:endParaRPr/>
          </a:p>
        </p:txBody>
      </p:sp>
      <p:sp>
        <p:nvSpPr>
          <p:cNvPr id="1210" name="Google Shape;1210;p40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41"/>
          <p:cNvSpPr/>
          <p:nvPr/>
        </p:nvSpPr>
        <p:spPr>
          <a:xfrm>
            <a:off x="228600" y="1143000"/>
            <a:ext cx="8763000" cy="3048000"/>
          </a:xfrm>
          <a:prstGeom prst="roundRect">
            <a:avLst>
              <a:gd fmla="val 1080" name="adj"/>
            </a:avLst>
          </a:prstGeom>
          <a:solidFill>
            <a:srgbClr val="00B050"/>
          </a:solidFill>
          <a:ln cap="flat" cmpd="sng" w="25400">
            <a:solidFill>
              <a:srgbClr val="236F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41"/>
          <p:cNvSpPr txBox="1"/>
          <p:nvPr>
            <p:ph type="title"/>
          </p:nvPr>
        </p:nvSpPr>
        <p:spPr>
          <a:xfrm>
            <a:off x="76200" y="152400"/>
            <a:ext cx="8991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Normalization </a:t>
            </a:r>
            <a:endParaRPr/>
          </a:p>
        </p:txBody>
      </p:sp>
      <p:sp>
        <p:nvSpPr>
          <p:cNvPr id="1217" name="Google Shape;1217;p41"/>
          <p:cNvSpPr txBox="1"/>
          <p:nvPr/>
        </p:nvSpPr>
        <p:spPr>
          <a:xfrm>
            <a:off x="463550" y="1377950"/>
            <a:ext cx="1663700" cy="2273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8" name="Google Shape;1218;p41"/>
          <p:cNvCxnSpPr/>
          <p:nvPr/>
        </p:nvCxnSpPr>
        <p:spPr>
          <a:xfrm rot="10800000">
            <a:off x="450850" y="1752600"/>
            <a:ext cx="16891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19" name="Google Shape;1219;p41"/>
          <p:cNvSpPr txBox="1"/>
          <p:nvPr/>
        </p:nvSpPr>
        <p:spPr>
          <a:xfrm flipH="1">
            <a:off x="546100" y="1389062"/>
            <a:ext cx="136683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/>
          </a:p>
        </p:txBody>
      </p:sp>
      <p:sp>
        <p:nvSpPr>
          <p:cNvPr id="1220" name="Google Shape;1220;p41"/>
          <p:cNvSpPr txBox="1"/>
          <p:nvPr/>
        </p:nvSpPr>
        <p:spPr>
          <a:xfrm flipH="1">
            <a:off x="519112" y="1754187"/>
            <a:ext cx="178911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Phone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/>
          </a:p>
        </p:txBody>
      </p:sp>
      <p:cxnSp>
        <p:nvCxnSpPr>
          <p:cNvPr id="1221" name="Google Shape;1221;p41"/>
          <p:cNvCxnSpPr/>
          <p:nvPr/>
        </p:nvCxnSpPr>
        <p:spPr>
          <a:xfrm rot="10800000">
            <a:off x="2098675" y="2879725"/>
            <a:ext cx="1776412" cy="0"/>
          </a:xfrm>
          <a:prstGeom prst="straightConnector1">
            <a:avLst/>
          </a:prstGeom>
          <a:noFill/>
          <a:ln cap="flat" cmpd="sng" w="50800">
            <a:solidFill>
              <a:srgbClr val="FFFF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22" name="Google Shape;1222;p41"/>
          <p:cNvSpPr txBox="1"/>
          <p:nvPr/>
        </p:nvSpPr>
        <p:spPr>
          <a:xfrm>
            <a:off x="6883400" y="1549400"/>
            <a:ext cx="1739900" cy="1892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3" name="Google Shape;1223;p41"/>
          <p:cNvCxnSpPr/>
          <p:nvPr/>
        </p:nvCxnSpPr>
        <p:spPr>
          <a:xfrm rot="10800000">
            <a:off x="6870700" y="1924050"/>
            <a:ext cx="1765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24" name="Google Shape;1224;p41"/>
          <p:cNvSpPr txBox="1"/>
          <p:nvPr/>
        </p:nvSpPr>
        <p:spPr>
          <a:xfrm flipH="1">
            <a:off x="7156450" y="1574800"/>
            <a:ext cx="1141412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/>
          </a:p>
        </p:txBody>
      </p:sp>
      <p:sp>
        <p:nvSpPr>
          <p:cNvPr id="1225" name="Google Shape;1225;p41"/>
          <p:cNvSpPr txBox="1"/>
          <p:nvPr/>
        </p:nvSpPr>
        <p:spPr>
          <a:xfrm flipH="1">
            <a:off x="6861175" y="1955800"/>
            <a:ext cx="1676400" cy="10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*Description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Qty in Stock</a:t>
            </a:r>
            <a:endParaRPr/>
          </a:p>
        </p:txBody>
      </p:sp>
      <p:sp>
        <p:nvSpPr>
          <p:cNvPr id="1226" name="Google Shape;1226;p41"/>
          <p:cNvSpPr txBox="1"/>
          <p:nvPr/>
        </p:nvSpPr>
        <p:spPr>
          <a:xfrm>
            <a:off x="3854450" y="1492250"/>
            <a:ext cx="1739900" cy="23177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7" name="Google Shape;1227;p41"/>
          <p:cNvCxnSpPr/>
          <p:nvPr/>
        </p:nvCxnSpPr>
        <p:spPr>
          <a:xfrm rot="10800000">
            <a:off x="3841750" y="1866900"/>
            <a:ext cx="1765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28" name="Google Shape;1228;p41"/>
          <p:cNvSpPr txBox="1"/>
          <p:nvPr/>
        </p:nvSpPr>
        <p:spPr>
          <a:xfrm flipH="1">
            <a:off x="4344987" y="1517650"/>
            <a:ext cx="703262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</a:t>
            </a:r>
            <a:endParaRPr/>
          </a:p>
        </p:txBody>
      </p:sp>
      <p:sp>
        <p:nvSpPr>
          <p:cNvPr id="1229" name="Google Shape;1229;p41"/>
          <p:cNvSpPr txBox="1"/>
          <p:nvPr/>
        </p:nvSpPr>
        <p:spPr>
          <a:xfrm flipH="1">
            <a:off x="3832225" y="1898650"/>
            <a:ext cx="1676400" cy="1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*Description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*Date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Qty Sold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Ext. Price</a:t>
            </a:r>
            <a:endParaRPr/>
          </a:p>
        </p:txBody>
      </p:sp>
      <p:cxnSp>
        <p:nvCxnSpPr>
          <p:cNvPr id="1230" name="Google Shape;1230;p41"/>
          <p:cNvCxnSpPr/>
          <p:nvPr/>
        </p:nvCxnSpPr>
        <p:spPr>
          <a:xfrm rot="10800000">
            <a:off x="5565775" y="2876550"/>
            <a:ext cx="1341437" cy="0"/>
          </a:xfrm>
          <a:prstGeom prst="straightConnector1">
            <a:avLst/>
          </a:prstGeom>
          <a:noFill/>
          <a:ln cap="flat" cmpd="sng" w="50800">
            <a:solidFill>
              <a:srgbClr val="FFFF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31" name="Google Shape;1231;p41"/>
          <p:cNvSpPr txBox="1"/>
          <p:nvPr/>
        </p:nvSpPr>
        <p:spPr>
          <a:xfrm>
            <a:off x="2133600" y="2027237"/>
            <a:ext cx="1023937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involved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/>
          </a:p>
        </p:txBody>
      </p:sp>
      <p:sp>
        <p:nvSpPr>
          <p:cNvPr id="1232" name="Google Shape;1232;p41"/>
          <p:cNvSpPr txBox="1"/>
          <p:nvPr/>
        </p:nvSpPr>
        <p:spPr>
          <a:xfrm>
            <a:off x="6172200" y="2408237"/>
            <a:ext cx="5302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has</a:t>
            </a:r>
            <a:endParaRPr/>
          </a:p>
        </p:txBody>
      </p:sp>
      <p:grpSp>
        <p:nvGrpSpPr>
          <p:cNvPr id="1233" name="Google Shape;1233;p41"/>
          <p:cNvGrpSpPr/>
          <p:nvPr/>
        </p:nvGrpSpPr>
        <p:grpSpPr>
          <a:xfrm>
            <a:off x="811212" y="4657725"/>
            <a:ext cx="7240587" cy="2047875"/>
            <a:chOff x="511" y="2848"/>
            <a:chExt cx="4561" cy="1290"/>
          </a:xfrm>
        </p:grpSpPr>
        <p:sp>
          <p:nvSpPr>
            <p:cNvPr id="1234" name="Google Shape;1234;p41"/>
            <p:cNvSpPr txBox="1"/>
            <p:nvPr/>
          </p:nvSpPr>
          <p:spPr>
            <a:xfrm>
              <a:off x="528" y="2950"/>
              <a:ext cx="754" cy="2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41"/>
            <p:cNvSpPr txBox="1"/>
            <p:nvPr/>
          </p:nvSpPr>
          <p:spPr>
            <a:xfrm>
              <a:off x="650" y="3062"/>
              <a:ext cx="753" cy="27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41"/>
            <p:cNvSpPr txBox="1"/>
            <p:nvPr/>
          </p:nvSpPr>
          <p:spPr>
            <a:xfrm>
              <a:off x="782" y="3197"/>
              <a:ext cx="754" cy="2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41"/>
            <p:cNvSpPr txBox="1"/>
            <p:nvPr/>
          </p:nvSpPr>
          <p:spPr>
            <a:xfrm>
              <a:off x="933" y="3370"/>
              <a:ext cx="754" cy="277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41"/>
            <p:cNvSpPr txBox="1"/>
            <p:nvPr/>
          </p:nvSpPr>
          <p:spPr>
            <a:xfrm>
              <a:off x="1085" y="3491"/>
              <a:ext cx="753" cy="277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41"/>
            <p:cNvSpPr txBox="1"/>
            <p:nvPr/>
          </p:nvSpPr>
          <p:spPr>
            <a:xfrm>
              <a:off x="4274" y="2950"/>
              <a:ext cx="798" cy="2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41"/>
            <p:cNvSpPr txBox="1"/>
            <p:nvPr/>
          </p:nvSpPr>
          <p:spPr>
            <a:xfrm>
              <a:off x="4132" y="3059"/>
              <a:ext cx="812" cy="2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41"/>
            <p:cNvSpPr txBox="1"/>
            <p:nvPr/>
          </p:nvSpPr>
          <p:spPr>
            <a:xfrm>
              <a:off x="3961" y="3194"/>
              <a:ext cx="871" cy="277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41"/>
            <p:cNvSpPr txBox="1"/>
            <p:nvPr/>
          </p:nvSpPr>
          <p:spPr>
            <a:xfrm>
              <a:off x="3868" y="3372"/>
              <a:ext cx="843" cy="277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41"/>
            <p:cNvSpPr txBox="1"/>
            <p:nvPr/>
          </p:nvSpPr>
          <p:spPr>
            <a:xfrm>
              <a:off x="3785" y="3496"/>
              <a:ext cx="753" cy="277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41"/>
            <p:cNvSpPr txBox="1"/>
            <p:nvPr/>
          </p:nvSpPr>
          <p:spPr>
            <a:xfrm>
              <a:off x="3594" y="3669"/>
              <a:ext cx="755" cy="2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41"/>
            <p:cNvSpPr txBox="1"/>
            <p:nvPr/>
          </p:nvSpPr>
          <p:spPr>
            <a:xfrm>
              <a:off x="1284" y="3695"/>
              <a:ext cx="755" cy="23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41"/>
            <p:cNvSpPr txBox="1"/>
            <p:nvPr/>
          </p:nvSpPr>
          <p:spPr>
            <a:xfrm>
              <a:off x="1273" y="3707"/>
              <a:ext cx="221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</a:t>
              </a:r>
              <a:endParaRPr/>
            </a:p>
          </p:txBody>
        </p:sp>
        <p:sp>
          <p:nvSpPr>
            <p:cNvPr id="1247" name="Google Shape;1247;p41"/>
            <p:cNvSpPr txBox="1"/>
            <p:nvPr/>
          </p:nvSpPr>
          <p:spPr>
            <a:xfrm>
              <a:off x="1048" y="3512"/>
              <a:ext cx="207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</a:t>
              </a:r>
              <a:endParaRPr/>
            </a:p>
          </p:txBody>
        </p:sp>
        <p:sp>
          <p:nvSpPr>
            <p:cNvPr id="1248" name="Google Shape;1248;p41"/>
            <p:cNvSpPr txBox="1"/>
            <p:nvPr/>
          </p:nvSpPr>
          <p:spPr>
            <a:xfrm>
              <a:off x="916" y="3391"/>
              <a:ext cx="230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</a:t>
              </a:r>
              <a:endParaRPr/>
            </a:p>
          </p:txBody>
        </p:sp>
        <p:sp>
          <p:nvSpPr>
            <p:cNvPr id="1249" name="Google Shape;1249;p41"/>
            <p:cNvSpPr txBox="1"/>
            <p:nvPr/>
          </p:nvSpPr>
          <p:spPr>
            <a:xfrm>
              <a:off x="779" y="3242"/>
              <a:ext cx="238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Slo</a:t>
              </a:r>
              <a:endParaRPr/>
            </a:p>
          </p:txBody>
        </p:sp>
        <p:sp>
          <p:nvSpPr>
            <p:cNvPr id="1250" name="Google Shape;1250;p41"/>
            <p:cNvSpPr txBox="1"/>
            <p:nvPr/>
          </p:nvSpPr>
          <p:spPr>
            <a:xfrm>
              <a:off x="662" y="3099"/>
              <a:ext cx="221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Ko</a:t>
              </a:r>
              <a:endParaRPr/>
            </a:p>
          </p:txBody>
        </p:sp>
        <p:sp>
          <p:nvSpPr>
            <p:cNvPr id="1251" name="Google Shape;1251;p41"/>
            <p:cNvSpPr txBox="1"/>
            <p:nvPr/>
          </p:nvSpPr>
          <p:spPr>
            <a:xfrm>
              <a:off x="511" y="2980"/>
              <a:ext cx="216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Yo</a:t>
              </a:r>
              <a:endParaRPr/>
            </a:p>
          </p:txBody>
        </p:sp>
        <p:sp>
          <p:nvSpPr>
            <p:cNvPr id="1252" name="Google Shape;1252;p41"/>
            <p:cNvSpPr/>
            <p:nvPr/>
          </p:nvSpPr>
          <p:spPr>
            <a:xfrm>
              <a:off x="1915" y="3720"/>
              <a:ext cx="80" cy="40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41"/>
            <p:cNvSpPr/>
            <p:nvPr/>
          </p:nvSpPr>
          <p:spPr>
            <a:xfrm>
              <a:off x="1729" y="3512"/>
              <a:ext cx="80" cy="35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41"/>
            <p:cNvSpPr/>
            <p:nvPr/>
          </p:nvSpPr>
          <p:spPr>
            <a:xfrm>
              <a:off x="1565" y="3386"/>
              <a:ext cx="79" cy="40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41"/>
            <p:cNvSpPr/>
            <p:nvPr/>
          </p:nvSpPr>
          <p:spPr>
            <a:xfrm>
              <a:off x="1424" y="3211"/>
              <a:ext cx="80" cy="37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41"/>
            <p:cNvSpPr/>
            <p:nvPr/>
          </p:nvSpPr>
          <p:spPr>
            <a:xfrm>
              <a:off x="1291" y="3080"/>
              <a:ext cx="81" cy="39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41"/>
            <p:cNvSpPr/>
            <p:nvPr/>
          </p:nvSpPr>
          <p:spPr>
            <a:xfrm>
              <a:off x="1168" y="2968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41"/>
            <p:cNvSpPr/>
            <p:nvPr/>
          </p:nvSpPr>
          <p:spPr>
            <a:xfrm>
              <a:off x="3607" y="3686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41"/>
            <p:cNvSpPr/>
            <p:nvPr/>
          </p:nvSpPr>
          <p:spPr>
            <a:xfrm>
              <a:off x="3813" y="3513"/>
              <a:ext cx="80" cy="39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41"/>
            <p:cNvSpPr/>
            <p:nvPr/>
          </p:nvSpPr>
          <p:spPr>
            <a:xfrm>
              <a:off x="3882" y="3383"/>
              <a:ext cx="80" cy="42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41"/>
            <p:cNvSpPr/>
            <p:nvPr/>
          </p:nvSpPr>
          <p:spPr>
            <a:xfrm>
              <a:off x="3977" y="3205"/>
              <a:ext cx="80" cy="39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41"/>
            <p:cNvSpPr/>
            <p:nvPr/>
          </p:nvSpPr>
          <p:spPr>
            <a:xfrm>
              <a:off x="4155" y="3076"/>
              <a:ext cx="81" cy="42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41"/>
            <p:cNvSpPr/>
            <p:nvPr/>
          </p:nvSpPr>
          <p:spPr>
            <a:xfrm>
              <a:off x="4294" y="2963"/>
              <a:ext cx="80" cy="37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41"/>
            <p:cNvSpPr txBox="1"/>
            <p:nvPr/>
          </p:nvSpPr>
          <p:spPr>
            <a:xfrm>
              <a:off x="2321" y="2848"/>
              <a:ext cx="818" cy="22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41"/>
            <p:cNvSpPr txBox="1"/>
            <p:nvPr/>
          </p:nvSpPr>
          <p:spPr>
            <a:xfrm>
              <a:off x="2445" y="2870"/>
              <a:ext cx="221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</a:t>
              </a:r>
              <a:endParaRPr/>
            </a:p>
          </p:txBody>
        </p:sp>
        <p:sp>
          <p:nvSpPr>
            <p:cNvPr id="1266" name="Google Shape;1266;p41"/>
            <p:cNvSpPr/>
            <p:nvPr/>
          </p:nvSpPr>
          <p:spPr>
            <a:xfrm>
              <a:off x="2979" y="2864"/>
              <a:ext cx="81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41"/>
            <p:cNvSpPr txBox="1"/>
            <p:nvPr/>
          </p:nvSpPr>
          <p:spPr>
            <a:xfrm>
              <a:off x="2612" y="2861"/>
              <a:ext cx="371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Pencils</a:t>
              </a:r>
              <a:endParaRPr/>
            </a:p>
          </p:txBody>
        </p:sp>
        <p:sp>
          <p:nvSpPr>
            <p:cNvPr id="1268" name="Google Shape;1268;p41"/>
            <p:cNvSpPr/>
            <p:nvPr/>
          </p:nvSpPr>
          <p:spPr>
            <a:xfrm>
              <a:off x="2379" y="2864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41"/>
            <p:cNvSpPr txBox="1"/>
            <p:nvPr/>
          </p:nvSpPr>
          <p:spPr>
            <a:xfrm>
              <a:off x="2321" y="2923"/>
              <a:ext cx="705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  Monday $.49</a:t>
              </a:r>
              <a:endParaRPr/>
            </a:p>
          </p:txBody>
        </p:sp>
        <p:sp>
          <p:nvSpPr>
            <p:cNvPr id="1270" name="Google Shape;1270;p41"/>
            <p:cNvSpPr txBox="1"/>
            <p:nvPr/>
          </p:nvSpPr>
          <p:spPr>
            <a:xfrm>
              <a:off x="2348" y="3009"/>
              <a:ext cx="816" cy="22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41"/>
            <p:cNvSpPr txBox="1"/>
            <p:nvPr/>
          </p:nvSpPr>
          <p:spPr>
            <a:xfrm>
              <a:off x="2471" y="3032"/>
              <a:ext cx="221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Ko</a:t>
              </a:r>
              <a:endParaRPr/>
            </a:p>
          </p:txBody>
        </p:sp>
        <p:sp>
          <p:nvSpPr>
            <p:cNvPr id="1272" name="Google Shape;1272;p41"/>
            <p:cNvSpPr/>
            <p:nvPr/>
          </p:nvSpPr>
          <p:spPr>
            <a:xfrm>
              <a:off x="3005" y="3026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41"/>
            <p:cNvSpPr txBox="1"/>
            <p:nvPr/>
          </p:nvSpPr>
          <p:spPr>
            <a:xfrm>
              <a:off x="2663" y="3025"/>
              <a:ext cx="366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Donuts</a:t>
              </a:r>
              <a:endParaRPr/>
            </a:p>
          </p:txBody>
        </p:sp>
        <p:sp>
          <p:nvSpPr>
            <p:cNvPr id="1274" name="Google Shape;1274;p41"/>
            <p:cNvSpPr/>
            <p:nvPr/>
          </p:nvSpPr>
          <p:spPr>
            <a:xfrm>
              <a:off x="2405" y="3026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41"/>
            <p:cNvSpPr txBox="1"/>
            <p:nvPr/>
          </p:nvSpPr>
          <p:spPr>
            <a:xfrm>
              <a:off x="2372" y="3085"/>
              <a:ext cx="771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12  Tuesday $1.49</a:t>
              </a:r>
              <a:endParaRPr/>
            </a:p>
          </p:txBody>
        </p:sp>
        <p:sp>
          <p:nvSpPr>
            <p:cNvPr id="1276" name="Google Shape;1276;p41"/>
            <p:cNvSpPr txBox="1"/>
            <p:nvPr/>
          </p:nvSpPr>
          <p:spPr>
            <a:xfrm>
              <a:off x="2387" y="3154"/>
              <a:ext cx="817" cy="23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41"/>
            <p:cNvSpPr txBox="1"/>
            <p:nvPr/>
          </p:nvSpPr>
          <p:spPr>
            <a:xfrm>
              <a:off x="2447" y="3177"/>
              <a:ext cx="238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Slo</a:t>
              </a:r>
              <a:endParaRPr/>
            </a:p>
          </p:txBody>
        </p:sp>
        <p:sp>
          <p:nvSpPr>
            <p:cNvPr id="1278" name="Google Shape;1278;p41"/>
            <p:cNvSpPr/>
            <p:nvPr/>
          </p:nvSpPr>
          <p:spPr>
            <a:xfrm>
              <a:off x="3083" y="3171"/>
              <a:ext cx="80" cy="42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41"/>
            <p:cNvSpPr txBox="1"/>
            <p:nvPr/>
          </p:nvSpPr>
          <p:spPr>
            <a:xfrm>
              <a:off x="2623" y="3170"/>
              <a:ext cx="454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Notebook</a:t>
              </a:r>
              <a:endParaRPr/>
            </a:p>
          </p:txBody>
        </p:sp>
        <p:sp>
          <p:nvSpPr>
            <p:cNvPr id="1280" name="Google Shape;1280;p41"/>
            <p:cNvSpPr/>
            <p:nvPr/>
          </p:nvSpPr>
          <p:spPr>
            <a:xfrm>
              <a:off x="2405" y="3171"/>
              <a:ext cx="80" cy="42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41"/>
            <p:cNvSpPr txBox="1"/>
            <p:nvPr/>
          </p:nvSpPr>
          <p:spPr>
            <a:xfrm>
              <a:off x="2474" y="3230"/>
              <a:ext cx="644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  Friday $2.00</a:t>
              </a:r>
              <a:endParaRPr/>
            </a:p>
          </p:txBody>
        </p:sp>
        <p:sp>
          <p:nvSpPr>
            <p:cNvPr id="1282" name="Google Shape;1282;p41"/>
            <p:cNvSpPr txBox="1"/>
            <p:nvPr/>
          </p:nvSpPr>
          <p:spPr>
            <a:xfrm>
              <a:off x="2426" y="3301"/>
              <a:ext cx="816" cy="22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41"/>
            <p:cNvSpPr txBox="1"/>
            <p:nvPr/>
          </p:nvSpPr>
          <p:spPr>
            <a:xfrm>
              <a:off x="2485" y="3323"/>
              <a:ext cx="238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Slo</a:t>
              </a:r>
              <a:endParaRPr/>
            </a:p>
          </p:txBody>
        </p:sp>
        <p:sp>
          <p:nvSpPr>
            <p:cNvPr id="1284" name="Google Shape;1284;p41"/>
            <p:cNvSpPr/>
            <p:nvPr/>
          </p:nvSpPr>
          <p:spPr>
            <a:xfrm>
              <a:off x="3123" y="3317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41"/>
            <p:cNvSpPr txBox="1"/>
            <p:nvPr/>
          </p:nvSpPr>
          <p:spPr>
            <a:xfrm>
              <a:off x="2716" y="3313"/>
              <a:ext cx="366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Donuts</a:t>
              </a:r>
              <a:endParaRPr/>
            </a:p>
          </p:txBody>
        </p:sp>
        <p:sp>
          <p:nvSpPr>
            <p:cNvPr id="1286" name="Google Shape;1286;p41"/>
            <p:cNvSpPr/>
            <p:nvPr/>
          </p:nvSpPr>
          <p:spPr>
            <a:xfrm>
              <a:off x="2444" y="3317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41"/>
            <p:cNvSpPr txBox="1"/>
            <p:nvPr/>
          </p:nvSpPr>
          <p:spPr>
            <a:xfrm>
              <a:off x="2494" y="3376"/>
              <a:ext cx="683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  Tuesday $.49</a:t>
              </a:r>
              <a:endParaRPr/>
            </a:p>
          </p:txBody>
        </p:sp>
        <p:sp>
          <p:nvSpPr>
            <p:cNvPr id="1288" name="Google Shape;1288;p41"/>
            <p:cNvSpPr txBox="1"/>
            <p:nvPr/>
          </p:nvSpPr>
          <p:spPr>
            <a:xfrm>
              <a:off x="2465" y="3446"/>
              <a:ext cx="817" cy="22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41"/>
            <p:cNvSpPr txBox="1"/>
            <p:nvPr/>
          </p:nvSpPr>
          <p:spPr>
            <a:xfrm>
              <a:off x="2525" y="3468"/>
              <a:ext cx="207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</a:t>
              </a:r>
              <a:endParaRPr/>
            </a:p>
          </p:txBody>
        </p:sp>
        <p:sp>
          <p:nvSpPr>
            <p:cNvPr id="1290" name="Google Shape;1290;p41"/>
            <p:cNvSpPr/>
            <p:nvPr/>
          </p:nvSpPr>
          <p:spPr>
            <a:xfrm>
              <a:off x="3176" y="3462"/>
              <a:ext cx="81" cy="42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41"/>
            <p:cNvSpPr txBox="1"/>
            <p:nvPr/>
          </p:nvSpPr>
          <p:spPr>
            <a:xfrm>
              <a:off x="2668" y="3459"/>
              <a:ext cx="490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Thesaurus</a:t>
              </a:r>
              <a:endParaRPr/>
            </a:p>
          </p:txBody>
        </p:sp>
        <p:sp>
          <p:nvSpPr>
            <p:cNvPr id="1292" name="Google Shape;1292;p41"/>
            <p:cNvSpPr/>
            <p:nvPr/>
          </p:nvSpPr>
          <p:spPr>
            <a:xfrm>
              <a:off x="2483" y="3462"/>
              <a:ext cx="80" cy="42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41"/>
            <p:cNvSpPr txBox="1"/>
            <p:nvPr/>
          </p:nvSpPr>
          <p:spPr>
            <a:xfrm>
              <a:off x="2496" y="3521"/>
              <a:ext cx="754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  Thursday $2.49</a:t>
              </a:r>
              <a:endParaRPr/>
            </a:p>
          </p:txBody>
        </p:sp>
        <p:sp>
          <p:nvSpPr>
            <p:cNvPr id="1294" name="Google Shape;1294;p41"/>
            <p:cNvSpPr txBox="1"/>
            <p:nvPr/>
          </p:nvSpPr>
          <p:spPr>
            <a:xfrm>
              <a:off x="2504" y="3592"/>
              <a:ext cx="817" cy="22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41"/>
            <p:cNvSpPr txBox="1"/>
            <p:nvPr/>
          </p:nvSpPr>
          <p:spPr>
            <a:xfrm>
              <a:off x="2563" y="3614"/>
              <a:ext cx="207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</a:t>
              </a:r>
              <a:endParaRPr/>
            </a:p>
          </p:txBody>
        </p:sp>
        <p:sp>
          <p:nvSpPr>
            <p:cNvPr id="1296" name="Google Shape;1296;p41"/>
            <p:cNvSpPr/>
            <p:nvPr/>
          </p:nvSpPr>
          <p:spPr>
            <a:xfrm>
              <a:off x="3201" y="3608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41"/>
            <p:cNvSpPr txBox="1"/>
            <p:nvPr/>
          </p:nvSpPr>
          <p:spPr>
            <a:xfrm>
              <a:off x="2706" y="3607"/>
              <a:ext cx="469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Dictionary</a:t>
              </a:r>
              <a:endParaRPr/>
            </a:p>
          </p:txBody>
        </p:sp>
        <p:sp>
          <p:nvSpPr>
            <p:cNvPr id="1298" name="Google Shape;1298;p41"/>
            <p:cNvSpPr/>
            <p:nvPr/>
          </p:nvSpPr>
          <p:spPr>
            <a:xfrm>
              <a:off x="2522" y="3608"/>
              <a:ext cx="80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41"/>
            <p:cNvSpPr txBox="1"/>
            <p:nvPr/>
          </p:nvSpPr>
          <p:spPr>
            <a:xfrm>
              <a:off x="2504" y="3667"/>
              <a:ext cx="820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 Wednesday $1.19</a:t>
              </a:r>
              <a:endParaRPr/>
            </a:p>
          </p:txBody>
        </p:sp>
        <p:sp>
          <p:nvSpPr>
            <p:cNvPr id="1300" name="Google Shape;1300;p41"/>
            <p:cNvSpPr txBox="1"/>
            <p:nvPr/>
          </p:nvSpPr>
          <p:spPr>
            <a:xfrm>
              <a:off x="2543" y="3737"/>
              <a:ext cx="817" cy="22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41"/>
            <p:cNvSpPr txBox="1"/>
            <p:nvPr/>
          </p:nvSpPr>
          <p:spPr>
            <a:xfrm>
              <a:off x="2603" y="3759"/>
              <a:ext cx="207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</a:t>
              </a:r>
              <a:endParaRPr/>
            </a:p>
          </p:txBody>
        </p:sp>
        <p:sp>
          <p:nvSpPr>
            <p:cNvPr id="1302" name="Google Shape;1302;p41"/>
            <p:cNvSpPr/>
            <p:nvPr/>
          </p:nvSpPr>
          <p:spPr>
            <a:xfrm>
              <a:off x="3239" y="3753"/>
              <a:ext cx="81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41"/>
            <p:cNvSpPr txBox="1"/>
            <p:nvPr/>
          </p:nvSpPr>
          <p:spPr>
            <a:xfrm>
              <a:off x="2779" y="3753"/>
              <a:ext cx="366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Donuts</a:t>
              </a:r>
              <a:endParaRPr/>
            </a:p>
          </p:txBody>
        </p:sp>
        <p:sp>
          <p:nvSpPr>
            <p:cNvPr id="1304" name="Google Shape;1304;p41"/>
            <p:cNvSpPr/>
            <p:nvPr/>
          </p:nvSpPr>
          <p:spPr>
            <a:xfrm>
              <a:off x="2561" y="3753"/>
              <a:ext cx="81" cy="4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41"/>
            <p:cNvSpPr txBox="1"/>
            <p:nvPr/>
          </p:nvSpPr>
          <p:spPr>
            <a:xfrm>
              <a:off x="2611" y="3812"/>
              <a:ext cx="683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  Tuesday $.39</a:t>
              </a:r>
              <a:endParaRPr/>
            </a:p>
          </p:txBody>
        </p:sp>
        <p:sp>
          <p:nvSpPr>
            <p:cNvPr id="1306" name="Google Shape;1306;p41"/>
            <p:cNvSpPr txBox="1"/>
            <p:nvPr/>
          </p:nvSpPr>
          <p:spPr>
            <a:xfrm>
              <a:off x="3751" y="3711"/>
              <a:ext cx="363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Coffee</a:t>
              </a:r>
              <a:endParaRPr/>
            </a:p>
          </p:txBody>
        </p:sp>
        <p:sp>
          <p:nvSpPr>
            <p:cNvPr id="1307" name="Google Shape;1307;p41"/>
            <p:cNvSpPr txBox="1"/>
            <p:nvPr/>
          </p:nvSpPr>
          <p:spPr>
            <a:xfrm>
              <a:off x="3959" y="3519"/>
              <a:ext cx="390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Donuts</a:t>
              </a:r>
              <a:endParaRPr/>
            </a:p>
          </p:txBody>
        </p:sp>
        <p:sp>
          <p:nvSpPr>
            <p:cNvPr id="1308" name="Google Shape;1308;p41"/>
            <p:cNvSpPr txBox="1"/>
            <p:nvPr/>
          </p:nvSpPr>
          <p:spPr>
            <a:xfrm>
              <a:off x="4070" y="3393"/>
              <a:ext cx="504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Dictionary</a:t>
              </a:r>
              <a:endParaRPr/>
            </a:p>
          </p:txBody>
        </p:sp>
        <p:sp>
          <p:nvSpPr>
            <p:cNvPr id="1309" name="Google Shape;1309;p41"/>
            <p:cNvSpPr txBox="1"/>
            <p:nvPr/>
          </p:nvSpPr>
          <p:spPr>
            <a:xfrm>
              <a:off x="4144" y="3239"/>
              <a:ext cx="517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Thesaurus</a:t>
              </a:r>
              <a:endParaRPr/>
            </a:p>
          </p:txBody>
        </p:sp>
        <p:sp>
          <p:nvSpPr>
            <p:cNvPr id="1310" name="Google Shape;1310;p41"/>
            <p:cNvSpPr txBox="1"/>
            <p:nvPr/>
          </p:nvSpPr>
          <p:spPr>
            <a:xfrm>
              <a:off x="4305" y="3097"/>
              <a:ext cx="483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Notebook</a:t>
              </a:r>
              <a:endParaRPr/>
            </a:p>
          </p:txBody>
        </p:sp>
        <p:sp>
          <p:nvSpPr>
            <p:cNvPr id="1311" name="Google Shape;1311;p41"/>
            <p:cNvSpPr txBox="1"/>
            <p:nvPr/>
          </p:nvSpPr>
          <p:spPr>
            <a:xfrm>
              <a:off x="4432" y="2980"/>
              <a:ext cx="348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Pencil</a:t>
              </a:r>
              <a:endParaRPr/>
            </a:p>
          </p:txBody>
        </p:sp>
        <p:grpSp>
          <p:nvGrpSpPr>
            <p:cNvPr id="1312" name="Google Shape;1312;p41"/>
            <p:cNvGrpSpPr/>
            <p:nvPr/>
          </p:nvGrpSpPr>
          <p:grpSpPr>
            <a:xfrm>
              <a:off x="1352" y="2903"/>
              <a:ext cx="3016" cy="1129"/>
              <a:chOff x="6000" y="768"/>
              <a:chExt cx="3016" cy="1129"/>
            </a:xfrm>
          </p:grpSpPr>
          <p:sp>
            <p:nvSpPr>
              <p:cNvPr id="1313" name="Google Shape;1313;p41"/>
              <p:cNvSpPr/>
              <p:nvPr/>
            </p:nvSpPr>
            <p:spPr>
              <a:xfrm>
                <a:off x="6604" y="768"/>
                <a:ext cx="475" cy="854"/>
              </a:xfrm>
              <a:custGeom>
                <a:rect b="b" l="l" r="r" t="t"/>
                <a:pathLst>
                  <a:path extrusionOk="0" fill="none" h="21600" w="21600">
                    <a:moveTo>
                      <a:pt x="0" y="21575"/>
                    </a:moveTo>
                    <a:cubicBezTo>
                      <a:pt x="13" y="9672"/>
                      <a:pt x="9653" y="24"/>
                      <a:pt x="21555" y="0"/>
                    </a:cubicBezTo>
                  </a:path>
                  <a:path extrusionOk="0" h="21600" w="21600">
                    <a:moveTo>
                      <a:pt x="0" y="21575"/>
                    </a:moveTo>
                    <a:cubicBezTo>
                      <a:pt x="13" y="9672"/>
                      <a:pt x="9653" y="24"/>
                      <a:pt x="21555" y="0"/>
                    </a:cubicBezTo>
                    <a:lnTo>
                      <a:pt x="21600" y="21600"/>
                    </a:lnTo>
                    <a:lnTo>
                      <a:pt x="0" y="21575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4" name="Google Shape;1314;p41"/>
              <p:cNvSpPr/>
              <p:nvPr/>
            </p:nvSpPr>
            <p:spPr>
              <a:xfrm>
                <a:off x="7702" y="768"/>
                <a:ext cx="1314" cy="100"/>
              </a:xfrm>
              <a:custGeom>
                <a:rect b="b" l="l" r="r" t="t"/>
                <a:pathLst>
                  <a:path extrusionOk="0" fill="none" h="21600" w="21599">
                    <a:moveTo>
                      <a:pt x="-1" y="0"/>
                    </a:moveTo>
                    <a:cubicBezTo>
                      <a:pt x="11844" y="0"/>
                      <a:pt x="21479" y="9538"/>
                      <a:pt x="21598" y="21383"/>
                    </a:cubicBezTo>
                  </a:path>
                  <a:path extrusionOk="0" h="21600" w="21599">
                    <a:moveTo>
                      <a:pt x="-1" y="0"/>
                    </a:moveTo>
                    <a:cubicBezTo>
                      <a:pt x="11844" y="0"/>
                      <a:pt x="21479" y="9538"/>
                      <a:pt x="21598" y="21383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5" name="Google Shape;1315;p41"/>
              <p:cNvSpPr/>
              <p:nvPr/>
            </p:nvSpPr>
            <p:spPr>
              <a:xfrm>
                <a:off x="6000" y="934"/>
                <a:ext cx="1079" cy="49"/>
              </a:xfrm>
              <a:custGeom>
                <a:rect b="b" l="l" r="r" t="t"/>
                <a:pathLst>
                  <a:path extrusionOk="0" fill="none" h="21600" w="21595">
                    <a:moveTo>
                      <a:pt x="-1" y="21154"/>
                    </a:moveTo>
                    <a:cubicBezTo>
                      <a:pt x="241" y="9409"/>
                      <a:pt x="9826" y="10"/>
                      <a:pt x="21575" y="0"/>
                    </a:cubicBezTo>
                  </a:path>
                  <a:path extrusionOk="0" h="21600" w="21595">
                    <a:moveTo>
                      <a:pt x="-1" y="21154"/>
                    </a:moveTo>
                    <a:cubicBezTo>
                      <a:pt x="241" y="9409"/>
                      <a:pt x="9826" y="10"/>
                      <a:pt x="21575" y="0"/>
                    </a:cubicBezTo>
                    <a:lnTo>
                      <a:pt x="21595" y="21600"/>
                    </a:lnTo>
                    <a:lnTo>
                      <a:pt x="-1" y="21154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Google Shape;1316;p41"/>
              <p:cNvSpPr/>
              <p:nvPr/>
            </p:nvSpPr>
            <p:spPr>
              <a:xfrm>
                <a:off x="7732" y="934"/>
                <a:ext cx="790" cy="482"/>
              </a:xfrm>
              <a:custGeom>
                <a:rect b="b" l="l" r="r" t="t"/>
                <a:pathLst>
                  <a:path extrusionOk="0" fill="none" h="21600" w="21627">
                    <a:moveTo>
                      <a:pt x="0" y="0"/>
                    </a:moveTo>
                    <a:cubicBezTo>
                      <a:pt x="9" y="0"/>
                      <a:pt x="18" y="-1"/>
                      <a:pt x="27" y="0"/>
                    </a:cubicBezTo>
                    <a:cubicBezTo>
                      <a:pt x="11956" y="0"/>
                      <a:pt x="21627" y="9670"/>
                      <a:pt x="21627" y="21600"/>
                    </a:cubicBezTo>
                  </a:path>
                  <a:path extrusionOk="0" h="21600" w="21627">
                    <a:moveTo>
                      <a:pt x="0" y="0"/>
                    </a:moveTo>
                    <a:cubicBezTo>
                      <a:pt x="9" y="0"/>
                      <a:pt x="18" y="-1"/>
                      <a:pt x="27" y="0"/>
                    </a:cubicBezTo>
                    <a:cubicBezTo>
                      <a:pt x="11956" y="0"/>
                      <a:pt x="21627" y="9670"/>
                      <a:pt x="21627" y="21600"/>
                    </a:cubicBezTo>
                    <a:lnTo>
                      <a:pt x="27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7" name="Google Shape;1317;p41"/>
              <p:cNvSpPr/>
              <p:nvPr/>
            </p:nvSpPr>
            <p:spPr>
              <a:xfrm>
                <a:off x="6145" y="1069"/>
                <a:ext cx="963" cy="43"/>
              </a:xfrm>
              <a:custGeom>
                <a:rect b="b" l="l" r="r" t="t"/>
                <a:pathLst>
                  <a:path extrusionOk="0" fill="none" h="21600" w="21600">
                    <a:moveTo>
                      <a:pt x="0" y="21600"/>
                    </a:moveTo>
                    <a:cubicBezTo>
                      <a:pt x="0" y="9679"/>
                      <a:pt x="9657" y="12"/>
                      <a:pt x="21578" y="0"/>
                    </a:cubicBezTo>
                  </a:path>
                  <a:path extrusionOk="0" h="21600" w="21600">
                    <a:moveTo>
                      <a:pt x="0" y="21600"/>
                    </a:moveTo>
                    <a:cubicBezTo>
                      <a:pt x="0" y="9679"/>
                      <a:pt x="9657" y="12"/>
                      <a:pt x="21578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8" name="Google Shape;1318;p41"/>
              <p:cNvSpPr/>
              <p:nvPr/>
            </p:nvSpPr>
            <p:spPr>
              <a:xfrm>
                <a:off x="6135" y="1111"/>
                <a:ext cx="1022" cy="100"/>
              </a:xfrm>
              <a:custGeom>
                <a:rect b="b" l="l" r="r" t="t"/>
                <a:pathLst>
                  <a:path extrusionOk="0" fill="none" h="21600" w="21600">
                    <a:moveTo>
                      <a:pt x="21579" y="21599"/>
                    </a:moveTo>
                    <a:cubicBezTo>
                      <a:pt x="9657" y="21588"/>
                      <a:pt x="0" y="11921"/>
                      <a:pt x="0" y="0"/>
                    </a:cubicBezTo>
                  </a:path>
                  <a:path extrusionOk="0" h="21600" w="21600">
                    <a:moveTo>
                      <a:pt x="21579" y="21599"/>
                    </a:moveTo>
                    <a:cubicBezTo>
                      <a:pt x="9657" y="21588"/>
                      <a:pt x="0" y="11921"/>
                      <a:pt x="0" y="0"/>
                    </a:cubicBezTo>
                    <a:lnTo>
                      <a:pt x="21600" y="0"/>
                    </a:lnTo>
                    <a:lnTo>
                      <a:pt x="21579" y="21599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9" name="Google Shape;1319;p41"/>
              <p:cNvSpPr/>
              <p:nvPr/>
            </p:nvSpPr>
            <p:spPr>
              <a:xfrm>
                <a:off x="7805" y="986"/>
                <a:ext cx="1060" cy="95"/>
              </a:xfrm>
              <a:custGeom>
                <a:rect b="b" l="l" r="r" t="t"/>
                <a:pathLst>
                  <a:path extrusionOk="0" fill="none" h="21600" w="21600">
                    <a:moveTo>
                      <a:pt x="0" y="21600"/>
                    </a:moveTo>
                    <a:cubicBezTo>
                      <a:pt x="0" y="9678"/>
                      <a:pt x="9658" y="11"/>
                      <a:pt x="21580" y="0"/>
                    </a:cubicBezTo>
                  </a:path>
                  <a:path extrusionOk="0" h="21600" w="21600">
                    <a:moveTo>
                      <a:pt x="0" y="21600"/>
                    </a:moveTo>
                    <a:cubicBezTo>
                      <a:pt x="0" y="9678"/>
                      <a:pt x="9658" y="11"/>
                      <a:pt x="21580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0" name="Google Shape;1320;p41"/>
              <p:cNvSpPr/>
              <p:nvPr/>
            </p:nvSpPr>
            <p:spPr>
              <a:xfrm>
                <a:off x="7839" y="1225"/>
                <a:ext cx="670" cy="204"/>
              </a:xfrm>
              <a:custGeom>
                <a:rect b="b" l="l" r="r" t="t"/>
                <a:pathLst>
                  <a:path extrusionOk="0" fill="none" h="21600" w="2160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extrusionOk="0" h="21600" w="2160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1" name="Google Shape;1321;p41"/>
              <p:cNvSpPr/>
              <p:nvPr/>
            </p:nvSpPr>
            <p:spPr>
              <a:xfrm>
                <a:off x="6428" y="1371"/>
                <a:ext cx="768" cy="43"/>
              </a:xfrm>
              <a:custGeom>
                <a:rect b="b" l="l" r="r" t="t"/>
                <a:pathLst>
                  <a:path extrusionOk="0" fill="none" h="21600" w="21600">
                    <a:moveTo>
                      <a:pt x="0" y="21600"/>
                    </a:moveTo>
                    <a:cubicBezTo>
                      <a:pt x="0" y="9681"/>
                      <a:pt x="9653" y="15"/>
                      <a:pt x="21572" y="0"/>
                    </a:cubicBezTo>
                  </a:path>
                  <a:path extrusionOk="0" h="21600" w="21600">
                    <a:moveTo>
                      <a:pt x="0" y="21600"/>
                    </a:moveTo>
                    <a:cubicBezTo>
                      <a:pt x="0" y="9681"/>
                      <a:pt x="9653" y="15"/>
                      <a:pt x="21572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2" name="Google Shape;1322;p41"/>
              <p:cNvSpPr/>
              <p:nvPr/>
            </p:nvSpPr>
            <p:spPr>
              <a:xfrm>
                <a:off x="6438" y="1407"/>
                <a:ext cx="807" cy="102"/>
              </a:xfrm>
              <a:custGeom>
                <a:rect b="b" l="l" r="r" t="t"/>
                <a:pathLst>
                  <a:path extrusionOk="0" fill="none" h="21815" w="21600">
                    <a:moveTo>
                      <a:pt x="21573" y="21814"/>
                    </a:moveTo>
                    <a:cubicBezTo>
                      <a:pt x="9654" y="21800"/>
                      <a:pt x="0" y="12133"/>
                      <a:pt x="0" y="215"/>
                    </a:cubicBezTo>
                    <a:cubicBezTo>
                      <a:pt x="-1" y="143"/>
                      <a:pt x="0" y="71"/>
                      <a:pt x="1" y="0"/>
                    </a:cubicBezTo>
                  </a:path>
                  <a:path extrusionOk="0" h="21815" w="21600">
                    <a:moveTo>
                      <a:pt x="21573" y="21814"/>
                    </a:moveTo>
                    <a:cubicBezTo>
                      <a:pt x="9654" y="21800"/>
                      <a:pt x="0" y="12133"/>
                      <a:pt x="0" y="215"/>
                    </a:cubicBezTo>
                    <a:cubicBezTo>
                      <a:pt x="-1" y="143"/>
                      <a:pt x="0" y="71"/>
                      <a:pt x="1" y="0"/>
                    </a:cubicBezTo>
                    <a:lnTo>
                      <a:pt x="21600" y="215"/>
                    </a:lnTo>
                    <a:lnTo>
                      <a:pt x="21573" y="21814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3" name="Google Shape;1323;p41"/>
              <p:cNvSpPr/>
              <p:nvPr/>
            </p:nvSpPr>
            <p:spPr>
              <a:xfrm>
                <a:off x="6438" y="1397"/>
                <a:ext cx="846" cy="261"/>
              </a:xfrm>
              <a:custGeom>
                <a:rect b="b" l="l" r="r" t="t"/>
                <a:pathLst>
                  <a:path extrusionOk="0" fill="none" h="21600" w="21600">
                    <a:moveTo>
                      <a:pt x="21574" y="21599"/>
                    </a:moveTo>
                    <a:cubicBezTo>
                      <a:pt x="9654" y="21585"/>
                      <a:pt x="0" y="11919"/>
                      <a:pt x="0" y="0"/>
                    </a:cubicBezTo>
                  </a:path>
                  <a:path extrusionOk="0" h="21600" w="21600">
                    <a:moveTo>
                      <a:pt x="21574" y="21599"/>
                    </a:moveTo>
                    <a:cubicBezTo>
                      <a:pt x="9654" y="21585"/>
                      <a:pt x="0" y="11919"/>
                      <a:pt x="0" y="0"/>
                    </a:cubicBezTo>
                    <a:lnTo>
                      <a:pt x="21600" y="0"/>
                    </a:lnTo>
                    <a:lnTo>
                      <a:pt x="21574" y="21599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4" name="Google Shape;1324;p41"/>
              <p:cNvSpPr/>
              <p:nvPr/>
            </p:nvSpPr>
            <p:spPr>
              <a:xfrm>
                <a:off x="6448" y="1407"/>
                <a:ext cx="377" cy="486"/>
              </a:xfrm>
              <a:custGeom>
                <a:rect b="b" l="l" r="r" t="t"/>
                <a:pathLst>
                  <a:path extrusionOk="0" fill="none" h="21645" w="21600">
                    <a:moveTo>
                      <a:pt x="21543" y="21644"/>
                    </a:moveTo>
                    <a:cubicBezTo>
                      <a:pt x="9635" y="21613"/>
                      <a:pt x="0" y="11952"/>
                      <a:pt x="0" y="45"/>
                    </a:cubicBezTo>
                    <a:cubicBezTo>
                      <a:pt x="-1" y="30"/>
                      <a:pt x="0" y="15"/>
                      <a:pt x="0" y="0"/>
                    </a:cubicBezTo>
                  </a:path>
                  <a:path extrusionOk="0" h="21645" w="21600">
                    <a:moveTo>
                      <a:pt x="21543" y="21644"/>
                    </a:moveTo>
                    <a:cubicBezTo>
                      <a:pt x="9635" y="21613"/>
                      <a:pt x="0" y="11952"/>
                      <a:pt x="0" y="45"/>
                    </a:cubicBezTo>
                    <a:cubicBezTo>
                      <a:pt x="-1" y="30"/>
                      <a:pt x="0" y="15"/>
                      <a:pt x="0" y="0"/>
                    </a:cubicBezTo>
                    <a:lnTo>
                      <a:pt x="21600" y="45"/>
                    </a:lnTo>
                    <a:lnTo>
                      <a:pt x="21543" y="21644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5" name="Google Shape;1325;p41"/>
              <p:cNvSpPr/>
              <p:nvPr/>
            </p:nvSpPr>
            <p:spPr>
              <a:xfrm>
                <a:off x="7883" y="1111"/>
                <a:ext cx="816" cy="261"/>
              </a:xfrm>
              <a:custGeom>
                <a:rect b="b" l="l" r="r" t="t"/>
                <a:pathLst>
                  <a:path extrusionOk="0" fill="none" h="21600" w="21600">
                    <a:moveTo>
                      <a:pt x="0" y="21600"/>
                    </a:moveTo>
                    <a:cubicBezTo>
                      <a:pt x="0" y="9680"/>
                      <a:pt x="9654" y="14"/>
                      <a:pt x="21574" y="0"/>
                    </a:cubicBezTo>
                  </a:path>
                  <a:path extrusionOk="0" h="21600" w="21600">
                    <a:moveTo>
                      <a:pt x="0" y="21600"/>
                    </a:moveTo>
                    <a:cubicBezTo>
                      <a:pt x="0" y="9680"/>
                      <a:pt x="9654" y="14"/>
                      <a:pt x="21574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6" name="Google Shape;1326;p41"/>
              <p:cNvSpPr/>
              <p:nvPr/>
            </p:nvSpPr>
            <p:spPr>
              <a:xfrm>
                <a:off x="7922" y="1283"/>
                <a:ext cx="680" cy="230"/>
              </a:xfrm>
              <a:custGeom>
                <a:rect b="b" l="l" r="r" t="t"/>
                <a:pathLst>
                  <a:path extrusionOk="0" fill="none" h="21600" w="21600">
                    <a:moveTo>
                      <a:pt x="0" y="21600"/>
                    </a:moveTo>
                    <a:cubicBezTo>
                      <a:pt x="0" y="9683"/>
                      <a:pt x="9651" y="17"/>
                      <a:pt x="21568" y="0"/>
                    </a:cubicBezTo>
                  </a:path>
                  <a:path extrusionOk="0" h="21600" w="21600">
                    <a:moveTo>
                      <a:pt x="0" y="21600"/>
                    </a:moveTo>
                    <a:cubicBezTo>
                      <a:pt x="0" y="9683"/>
                      <a:pt x="9651" y="17"/>
                      <a:pt x="21568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7" name="Google Shape;1327;p41"/>
              <p:cNvSpPr/>
              <p:nvPr/>
            </p:nvSpPr>
            <p:spPr>
              <a:xfrm>
                <a:off x="7951" y="1412"/>
                <a:ext cx="592" cy="262"/>
              </a:xfrm>
              <a:custGeom>
                <a:rect b="b" l="l" r="r" t="t"/>
                <a:pathLst>
                  <a:path extrusionOk="0" fill="none" h="21600" w="21600">
                    <a:moveTo>
                      <a:pt x="0" y="21517"/>
                    </a:moveTo>
                    <a:cubicBezTo>
                      <a:pt x="45" y="9634"/>
                      <a:pt x="9681" y="19"/>
                      <a:pt x="21564" y="0"/>
                    </a:cubicBezTo>
                  </a:path>
                  <a:path extrusionOk="0" h="21600" w="21600">
                    <a:moveTo>
                      <a:pt x="0" y="21517"/>
                    </a:moveTo>
                    <a:cubicBezTo>
                      <a:pt x="45" y="9634"/>
                      <a:pt x="9681" y="19"/>
                      <a:pt x="21564" y="0"/>
                    </a:cubicBezTo>
                    <a:lnTo>
                      <a:pt x="21600" y="21600"/>
                    </a:lnTo>
                    <a:lnTo>
                      <a:pt x="0" y="21517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8" name="Google Shape;1328;p41"/>
              <p:cNvSpPr/>
              <p:nvPr/>
            </p:nvSpPr>
            <p:spPr>
              <a:xfrm>
                <a:off x="8000" y="1599"/>
                <a:ext cx="309" cy="215"/>
              </a:xfrm>
              <a:custGeom>
                <a:rect b="b" l="l" r="r" t="t"/>
                <a:pathLst>
                  <a:path extrusionOk="0" fill="none" h="21600" w="21600">
                    <a:moveTo>
                      <a:pt x="0" y="21499"/>
                    </a:moveTo>
                    <a:cubicBezTo>
                      <a:pt x="55" y="9636"/>
                      <a:pt x="9667" y="38"/>
                      <a:pt x="21530" y="0"/>
                    </a:cubicBezTo>
                  </a:path>
                  <a:path extrusionOk="0" h="21600" w="21600">
                    <a:moveTo>
                      <a:pt x="0" y="21499"/>
                    </a:moveTo>
                    <a:cubicBezTo>
                      <a:pt x="55" y="9636"/>
                      <a:pt x="9667" y="38"/>
                      <a:pt x="21530" y="0"/>
                    </a:cubicBezTo>
                    <a:lnTo>
                      <a:pt x="21600" y="21600"/>
                    </a:lnTo>
                    <a:lnTo>
                      <a:pt x="0" y="21499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9" name="Google Shape;1329;p41"/>
              <p:cNvSpPr/>
              <p:nvPr/>
            </p:nvSpPr>
            <p:spPr>
              <a:xfrm>
                <a:off x="6823" y="1792"/>
                <a:ext cx="486" cy="105"/>
              </a:xfrm>
              <a:custGeom>
                <a:rect b="b" l="l" r="r" t="t"/>
                <a:pathLst>
                  <a:path extrusionOk="0" fill="none" h="21600" w="21645">
                    <a:moveTo>
                      <a:pt x="21645" y="0"/>
                    </a:moveTo>
                    <a:cubicBezTo>
                      <a:pt x="21645" y="11929"/>
                      <a:pt x="11974" y="21600"/>
                      <a:pt x="45" y="21600"/>
                    </a:cubicBezTo>
                    <a:cubicBezTo>
                      <a:pt x="30" y="21600"/>
                      <a:pt x="15" y="21599"/>
                      <a:pt x="0" y="21599"/>
                    </a:cubicBezTo>
                  </a:path>
                  <a:path extrusionOk="0" h="21600" w="21645">
                    <a:moveTo>
                      <a:pt x="21645" y="0"/>
                    </a:moveTo>
                    <a:cubicBezTo>
                      <a:pt x="21645" y="11929"/>
                      <a:pt x="11974" y="21600"/>
                      <a:pt x="45" y="21600"/>
                    </a:cubicBezTo>
                    <a:cubicBezTo>
                      <a:pt x="30" y="21600"/>
                      <a:pt x="15" y="21599"/>
                      <a:pt x="0" y="21599"/>
                    </a:cubicBezTo>
                    <a:lnTo>
                      <a:pt x="45" y="0"/>
                    </a:lnTo>
                    <a:lnTo>
                      <a:pt x="21645" y="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0" name="Google Shape;1330;p41"/>
            <p:cNvGrpSpPr/>
            <p:nvPr/>
          </p:nvGrpSpPr>
          <p:grpSpPr>
            <a:xfrm>
              <a:off x="2592" y="3888"/>
              <a:ext cx="817" cy="250"/>
              <a:chOff x="6096" y="3648"/>
              <a:chExt cx="817" cy="250"/>
            </a:xfrm>
          </p:grpSpPr>
          <p:grpSp>
            <p:nvGrpSpPr>
              <p:cNvPr id="1331" name="Google Shape;1331;p41"/>
              <p:cNvGrpSpPr/>
              <p:nvPr/>
            </p:nvGrpSpPr>
            <p:grpSpPr>
              <a:xfrm>
                <a:off x="6096" y="3648"/>
                <a:ext cx="817" cy="230"/>
                <a:chOff x="6096" y="3648"/>
                <a:chExt cx="817" cy="230"/>
              </a:xfrm>
            </p:grpSpPr>
            <p:grpSp>
              <p:nvGrpSpPr>
                <p:cNvPr id="1332" name="Google Shape;1332;p41"/>
                <p:cNvGrpSpPr/>
                <p:nvPr/>
              </p:nvGrpSpPr>
              <p:grpSpPr>
                <a:xfrm>
                  <a:off x="6096" y="3648"/>
                  <a:ext cx="817" cy="230"/>
                  <a:chOff x="3840" y="3984"/>
                  <a:chExt cx="817" cy="230"/>
                </a:xfrm>
              </p:grpSpPr>
              <p:sp>
                <p:nvSpPr>
                  <p:cNvPr id="1333" name="Google Shape;1333;p41"/>
                  <p:cNvSpPr txBox="1"/>
                  <p:nvPr/>
                </p:nvSpPr>
                <p:spPr>
                  <a:xfrm>
                    <a:off x="3840" y="3984"/>
                    <a:ext cx="817" cy="230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4" name="Google Shape;1334;p41"/>
                  <p:cNvSpPr txBox="1"/>
                  <p:nvPr/>
                </p:nvSpPr>
                <p:spPr>
                  <a:xfrm>
                    <a:off x="4172" y="4032"/>
                    <a:ext cx="114" cy="15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4450" lIns="90475" spcFirstLastPara="1" rIns="90475" wrap="square" tIns="4445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335" name="Google Shape;1335;p41"/>
                <p:cNvSpPr/>
                <p:nvPr/>
              </p:nvSpPr>
              <p:spPr>
                <a:xfrm>
                  <a:off x="6816" y="3696"/>
                  <a:ext cx="80" cy="41"/>
                </a:xfrm>
                <a:prstGeom prst="ellipse">
                  <a:avLst/>
                </a:prstGeom>
                <a:solidFill>
                  <a:schemeClr val="dk2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6" name="Google Shape;1336;p41"/>
                <p:cNvSpPr/>
                <p:nvPr/>
              </p:nvSpPr>
              <p:spPr>
                <a:xfrm>
                  <a:off x="6111" y="3696"/>
                  <a:ext cx="81" cy="41"/>
                </a:xfrm>
                <a:prstGeom prst="ellipse">
                  <a:avLst/>
                </a:prstGeom>
                <a:solidFill>
                  <a:schemeClr val="dk2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37" name="Google Shape;1337;p41"/>
              <p:cNvSpPr txBox="1"/>
              <p:nvPr/>
            </p:nvSpPr>
            <p:spPr>
              <a:xfrm>
                <a:off x="6179" y="3648"/>
                <a:ext cx="68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Jo</a:t>
                </a:r>
                <a:r>
                  <a:rPr b="0" i="0" lang="en-US" sz="10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Coffee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  Tuesday $.59</a:t>
                </a:r>
                <a:endParaRPr/>
              </a:p>
            </p:txBody>
          </p:sp>
        </p:grpSp>
      </p:grpSp>
      <p:graphicFrame>
        <p:nvGraphicFramePr>
          <p:cNvPr id="1338" name="Google Shape;1338;p41"/>
          <p:cNvGraphicFramePr/>
          <p:nvPr/>
        </p:nvGraphicFramePr>
        <p:xfrm>
          <a:off x="2971800" y="2179637"/>
          <a:ext cx="1143000" cy="944562"/>
        </p:xfrm>
        <a:graphic>
          <a:graphicData uri="http://schemas.openxmlformats.org/presentationml/2006/ole">
            <mc:AlternateContent>
              <mc:Choice Requires="v">
                <p:oleObj r:id="rId4" imgH="944562" imgW="1143000" progId="Visio.Drawing.6" spid="_x0000_s1">
                  <p:embed/>
                </p:oleObj>
              </mc:Choice>
              <mc:Fallback>
                <p:oleObj r:id="rId5" imgH="944562" imgW="1143000" progId="Visio.Drawing.6">
                  <p:embed/>
                  <p:pic>
                    <p:nvPicPr>
                      <p:cNvPr id="1338" name="Google Shape;1338;p4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971800" y="2179637"/>
                        <a:ext cx="114300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9" name="Google Shape;1339;p41"/>
          <p:cNvGraphicFramePr/>
          <p:nvPr/>
        </p:nvGraphicFramePr>
        <p:xfrm>
          <a:off x="5410200" y="2179637"/>
          <a:ext cx="1143000" cy="944562"/>
        </p:xfrm>
        <a:graphic>
          <a:graphicData uri="http://schemas.openxmlformats.org/presentationml/2006/ole">
            <mc:AlternateContent>
              <mc:Choice Requires="v">
                <p:oleObj r:id="rId7" imgH="944562" imgW="1143000" progId="Visio.Drawing.6" spid="_x0000_s2">
                  <p:embed/>
                </p:oleObj>
              </mc:Choice>
              <mc:Fallback>
                <p:oleObj r:id="rId8" imgH="944562" imgW="1143000" progId="Visio.Drawing.6">
                  <p:embed/>
                  <p:pic>
                    <p:nvPicPr>
                      <p:cNvPr id="1339" name="Google Shape;1339;p41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410200" y="2179637"/>
                        <a:ext cx="114300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0" name="Google Shape;1340;p41"/>
          <p:cNvSpPr txBox="1"/>
          <p:nvPr/>
        </p:nvSpPr>
        <p:spPr>
          <a:xfrm>
            <a:off x="3352800" y="2895600"/>
            <a:ext cx="5334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entury Schoolbook"/>
              <a:buNone/>
            </a:pPr>
            <a:r>
              <a:rPr b="1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</a:t>
            </a:r>
            <a:endParaRPr/>
          </a:p>
        </p:txBody>
      </p:sp>
      <p:sp>
        <p:nvSpPr>
          <p:cNvPr id="1341" name="Google Shape;1341;p41"/>
          <p:cNvSpPr txBox="1"/>
          <p:nvPr/>
        </p:nvSpPr>
        <p:spPr>
          <a:xfrm>
            <a:off x="5638800" y="2895600"/>
            <a:ext cx="5334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entury Schoolbook"/>
              <a:buNone/>
            </a:pPr>
            <a:r>
              <a:rPr b="1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</a:t>
            </a:r>
            <a:endParaRPr/>
          </a:p>
        </p:txBody>
      </p:sp>
      <p:sp>
        <p:nvSpPr>
          <p:cNvPr id="1342" name="Google Shape;1342;p41"/>
          <p:cNvSpPr txBox="1"/>
          <p:nvPr/>
        </p:nvSpPr>
        <p:spPr>
          <a:xfrm>
            <a:off x="2209800" y="2971800"/>
            <a:ext cx="2968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43" name="Google Shape;1343;p41"/>
          <p:cNvSpPr txBox="1"/>
          <p:nvPr/>
        </p:nvSpPr>
        <p:spPr>
          <a:xfrm>
            <a:off x="6553200" y="2971800"/>
            <a:ext cx="2968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44" name="Google Shape;1344;p41"/>
          <p:cNvSpPr txBox="1"/>
          <p:nvPr>
            <p:ph idx="1" type="body"/>
          </p:nvPr>
        </p:nvSpPr>
        <p:spPr>
          <a:xfrm>
            <a:off x="1966912" y="3482975"/>
            <a:ext cx="5365750" cy="98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b="0" i="0" lang="en-US" sz="9600" u="sng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Like this!</a:t>
            </a:r>
            <a:endParaRPr/>
          </a:p>
        </p:txBody>
      </p:sp>
      <p:sp>
        <p:nvSpPr>
          <p:cNvPr id="1345" name="Google Shape;1345;p41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wipe dir="u"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42"/>
          <p:cNvSpPr txBox="1"/>
          <p:nvPr>
            <p:ph type="title"/>
          </p:nvPr>
        </p:nvSpPr>
        <p:spPr>
          <a:xfrm>
            <a:off x="0" y="152400"/>
            <a:ext cx="9067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b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b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b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6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72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❼</a:t>
            </a:r>
            <a:r>
              <a:rPr b="0" i="0" lang="en-US" sz="6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br>
              <a:rPr b="0" i="0" lang="en-US" sz="6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8000" u="sng">
                <a:solidFill>
                  <a:srgbClr val="7FFF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Operations </a:t>
            </a:r>
            <a:br>
              <a:rPr b="0" i="0" lang="en-US" sz="8000" u="sng">
                <a:solidFill>
                  <a:srgbClr val="7FFF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6600" u="sng">
                <a:solidFill>
                  <a:srgbClr val="7FFF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(i.e., Behavior) </a:t>
            </a:r>
            <a:endParaRPr/>
          </a:p>
        </p:txBody>
      </p:sp>
      <p:sp>
        <p:nvSpPr>
          <p:cNvPr id="1351" name="Google Shape;1351;p42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43"/>
          <p:cNvSpPr txBox="1"/>
          <p:nvPr>
            <p:ph type="title"/>
          </p:nvPr>
        </p:nvSpPr>
        <p:spPr>
          <a:xfrm>
            <a:off x="685800" y="1524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9B03"/>
              </a:buClr>
              <a:buSzPts val="3200"/>
              <a:buFont typeface="DFKai-SB"/>
              <a:buNone/>
            </a:pPr>
            <a:r>
              <a:rPr b="0" i="0" lang="en-US" sz="3200" u="none">
                <a:solidFill>
                  <a:srgbClr val="FE9B03"/>
                </a:solidFill>
                <a:latin typeface="DFKai-SB"/>
                <a:ea typeface="DFKai-SB"/>
                <a:cs typeface="DFKai-SB"/>
                <a:sym typeface="DFKai-SB"/>
              </a:rPr>
              <a:t>9.2. The KRB Seven-Step Method. </a:t>
            </a:r>
            <a:b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❼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Operations (i.e., Behavior) </a:t>
            </a:r>
            <a:endParaRPr/>
          </a:p>
        </p:txBody>
      </p:sp>
      <p:sp>
        <p:nvSpPr>
          <p:cNvPr id="1357" name="Google Shape;1357;p43"/>
          <p:cNvSpPr txBox="1"/>
          <p:nvPr>
            <p:ph idx="1" type="body"/>
          </p:nvPr>
        </p:nvSpPr>
        <p:spPr>
          <a:xfrm>
            <a:off x="1741487" y="2784475"/>
            <a:ext cx="6716712" cy="319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i="0" lang="en-US" sz="40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1. By Inspection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i="0" lang="en-US" sz="40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2. Basic </a:t>
            </a:r>
            <a:r>
              <a:rPr b="0" i="1" lang="en-US" sz="40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CRUD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i="0" lang="en-US" sz="40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3. Use Cases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i="0" lang="en-US" sz="40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4. Statechart Diagram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i="0" lang="en-US" sz="40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5. CRC Cards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i="0" lang="en-US" sz="40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6. </a:t>
            </a:r>
            <a:r>
              <a:rPr b="0" i="1" lang="en-US" sz="40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CRUD</a:t>
            </a:r>
            <a:r>
              <a:rPr b="0" i="0" lang="en-US" sz="4000" u="none">
                <a:solidFill>
                  <a:srgbClr val="7FFF00"/>
                </a:solidFill>
                <a:latin typeface="DFKai-SB"/>
                <a:ea typeface="DFKai-SB"/>
                <a:cs typeface="DFKai-SB"/>
                <a:sym typeface="DFKai-SB"/>
              </a:rPr>
              <a:t> Revisited</a:t>
            </a:r>
            <a:endParaRPr/>
          </a:p>
        </p:txBody>
      </p:sp>
      <p:sp>
        <p:nvSpPr>
          <p:cNvPr id="1358" name="Google Shape;1358;p43"/>
          <p:cNvSpPr txBox="1"/>
          <p:nvPr/>
        </p:nvSpPr>
        <p:spPr>
          <a:xfrm>
            <a:off x="728662" y="1185862"/>
            <a:ext cx="62198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9100"/>
              </a:buClr>
              <a:buSzPts val="4400"/>
              <a:buFont typeface="Arial"/>
              <a:buNone/>
            </a:pPr>
            <a:r>
              <a:rPr b="1" i="0" lang="en-US" sz="4400" u="sng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Six techniques for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9100"/>
              </a:buClr>
              <a:buSzPts val="4400"/>
              <a:buFont typeface="Arial"/>
              <a:buNone/>
            </a:pPr>
            <a:r>
              <a:rPr b="1" i="0" lang="en-US" sz="4400" u="sng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	Finding Operations</a:t>
            </a:r>
            <a:endParaRPr/>
          </a:p>
        </p:txBody>
      </p:sp>
      <p:sp>
        <p:nvSpPr>
          <p:cNvPr id="1359" name="Google Shape;1359;p43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wipe dir="d"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4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entury Schoolbook"/>
              <a:buNone/>
            </a:pPr>
            <a:r>
              <a:rPr b="0" i="0" lang="en-US" sz="4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</a:t>
            </a:r>
            <a:r>
              <a:rPr b="0" i="0" lang="en-US" sz="4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🖰</a:t>
            </a:r>
            <a:endParaRPr/>
          </a:p>
        </p:txBody>
      </p:sp>
      <p:sp>
        <p:nvSpPr>
          <p:cNvPr id="1365" name="Google Shape;1365;p44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●"/>
            </a:pPr>
            <a:r>
              <a:rPr b="1" i="0" lang="en-US" sz="3200" u="none">
                <a:solidFill>
                  <a:srgbClr val="FFC000"/>
                </a:solidFill>
                <a:latin typeface="DFKai-SB"/>
                <a:ea typeface="DFKai-SB"/>
                <a:cs typeface="DFKai-SB"/>
                <a:sym typeface="DFKai-SB"/>
              </a:rPr>
              <a:t>Find the similarity (in behaviors) and construct  inheritance hierarchy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●"/>
            </a:pPr>
            <a:r>
              <a:rPr b="1" i="0" lang="en-US" sz="3200" u="none">
                <a:solidFill>
                  <a:srgbClr val="FFC000"/>
                </a:solidFill>
                <a:latin typeface="DFKai-SB"/>
                <a:ea typeface="DFKai-SB"/>
                <a:cs typeface="DFKai-SB"/>
                <a:sym typeface="DFKai-SB"/>
              </a:rPr>
              <a:t>Make sure there are association linked to base classes (a.k.a polymorphism) </a:t>
            </a:r>
            <a:endParaRPr/>
          </a:p>
        </p:txBody>
      </p:sp>
      <p:sp>
        <p:nvSpPr>
          <p:cNvPr id="1366" name="Google Shape;1366;p44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45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DFKai-SB"/>
              <a:buNone/>
            </a:pPr>
            <a:r>
              <a:rPr b="0" i="0" lang="en-US" sz="4400" u="non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rPr>
              <a:t>Case Study </a:t>
            </a:r>
            <a:endParaRPr/>
          </a:p>
        </p:txBody>
      </p:sp>
      <p:sp>
        <p:nvSpPr>
          <p:cNvPr id="1372" name="Google Shape;1372;p45"/>
          <p:cNvSpPr txBox="1"/>
          <p:nvPr>
            <p:ph idx="1" type="body"/>
          </p:nvPr>
        </p:nvSpPr>
        <p:spPr>
          <a:xfrm>
            <a:off x="457200" y="1401762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Draw the class diagram with methods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Noun list and their definition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Association check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(Check polymorphism exists)</a:t>
            </a:r>
            <a:endParaRPr/>
          </a:p>
          <a:p>
            <a:pPr indent="-20955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grpSp>
        <p:nvGrpSpPr>
          <p:cNvPr id="1373" name="Google Shape;1373;p45"/>
          <p:cNvGrpSpPr/>
          <p:nvPr/>
        </p:nvGrpSpPr>
        <p:grpSpPr>
          <a:xfrm>
            <a:off x="1368425" y="3706812"/>
            <a:ext cx="1349375" cy="2238375"/>
            <a:chOff x="231" y="1008"/>
            <a:chExt cx="850" cy="1410"/>
          </a:xfrm>
        </p:grpSpPr>
        <p:sp>
          <p:nvSpPr>
            <p:cNvPr id="1374" name="Google Shape;1374;p45"/>
            <p:cNvSpPr txBox="1"/>
            <p:nvPr/>
          </p:nvSpPr>
          <p:spPr>
            <a:xfrm>
              <a:off x="231" y="1008"/>
              <a:ext cx="762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entury Schoolbook"/>
                <a:buNone/>
              </a:pPr>
              <a:r>
                <a:rPr b="1" i="0" lang="en-US" sz="1600" u="none">
                  <a:solidFill>
                    <a:srgbClr val="FFFFFF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Customer</a:t>
              </a:r>
              <a:endParaRPr/>
            </a:p>
          </p:txBody>
        </p:sp>
        <p:sp>
          <p:nvSpPr>
            <p:cNvPr id="1375" name="Google Shape;1375;p45"/>
            <p:cNvSpPr txBox="1"/>
            <p:nvPr/>
          </p:nvSpPr>
          <p:spPr>
            <a:xfrm>
              <a:off x="231" y="1248"/>
              <a:ext cx="654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entury Schoolbook"/>
                <a:buNone/>
              </a:pPr>
              <a:r>
                <a:rPr b="1" i="0" lang="en-US" sz="1600" u="none">
                  <a:solidFill>
                    <a:srgbClr val="FFFFFF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Product</a:t>
              </a:r>
              <a:endParaRPr/>
            </a:p>
          </p:txBody>
        </p:sp>
        <p:sp>
          <p:nvSpPr>
            <p:cNvPr id="1376" name="Google Shape;1376;p45"/>
            <p:cNvSpPr txBox="1"/>
            <p:nvPr/>
          </p:nvSpPr>
          <p:spPr>
            <a:xfrm>
              <a:off x="231" y="1488"/>
              <a:ext cx="602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entury Schoolbook"/>
                <a:buNone/>
              </a:pPr>
              <a:r>
                <a:rPr b="1" i="0" lang="en-US" sz="1600" u="none">
                  <a:solidFill>
                    <a:srgbClr val="FFFFFF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Vendor</a:t>
              </a:r>
              <a:endParaRPr/>
            </a:p>
          </p:txBody>
        </p:sp>
        <p:sp>
          <p:nvSpPr>
            <p:cNvPr id="1377" name="Google Shape;1377;p45"/>
            <p:cNvSpPr txBox="1"/>
            <p:nvPr/>
          </p:nvSpPr>
          <p:spPr>
            <a:xfrm>
              <a:off x="231" y="1728"/>
              <a:ext cx="607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entury Schoolbook"/>
                <a:buNone/>
              </a:pPr>
              <a:r>
                <a:rPr b="1" i="0" lang="en-US" sz="1600" u="none">
                  <a:solidFill>
                    <a:srgbClr val="FFFFFF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Invoice</a:t>
              </a:r>
              <a:endParaRPr/>
            </a:p>
          </p:txBody>
        </p:sp>
        <p:sp>
          <p:nvSpPr>
            <p:cNvPr id="1378" name="Google Shape;1378;p45"/>
            <p:cNvSpPr txBox="1"/>
            <p:nvPr/>
          </p:nvSpPr>
          <p:spPr>
            <a:xfrm>
              <a:off x="231" y="1968"/>
              <a:ext cx="349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entury Schoolbook"/>
                <a:buNone/>
              </a:pPr>
              <a:r>
                <a:rPr b="1" i="0" lang="en-US" sz="1600" u="none">
                  <a:solidFill>
                    <a:srgbClr val="FFFFFF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Bin</a:t>
              </a:r>
              <a:endParaRPr/>
            </a:p>
          </p:txBody>
        </p:sp>
        <p:sp>
          <p:nvSpPr>
            <p:cNvPr id="1379" name="Google Shape;1379;p45"/>
            <p:cNvSpPr txBox="1"/>
            <p:nvPr/>
          </p:nvSpPr>
          <p:spPr>
            <a:xfrm>
              <a:off x="231" y="2208"/>
              <a:ext cx="850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entury Schoolbook"/>
                <a:buNone/>
              </a:pPr>
              <a:r>
                <a:rPr b="1" i="0" lang="en-US" sz="1600" u="none">
                  <a:solidFill>
                    <a:srgbClr val="FFFFFF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Warehouse</a:t>
              </a:r>
              <a:endParaRPr/>
            </a:p>
          </p:txBody>
        </p:sp>
      </p:grpSp>
      <p:sp>
        <p:nvSpPr>
          <p:cNvPr id="1380" name="Google Shape;1380;p45"/>
          <p:cNvSpPr/>
          <p:nvPr/>
        </p:nvSpPr>
        <p:spPr>
          <a:xfrm>
            <a:off x="2601912" y="3886200"/>
            <a:ext cx="50800" cy="4318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45"/>
          <p:cNvSpPr/>
          <p:nvPr/>
        </p:nvSpPr>
        <p:spPr>
          <a:xfrm>
            <a:off x="2601912" y="3886200"/>
            <a:ext cx="279400" cy="736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45"/>
          <p:cNvSpPr/>
          <p:nvPr/>
        </p:nvSpPr>
        <p:spPr>
          <a:xfrm>
            <a:off x="2601912" y="3886200"/>
            <a:ext cx="508000" cy="1117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45"/>
          <p:cNvSpPr/>
          <p:nvPr/>
        </p:nvSpPr>
        <p:spPr>
          <a:xfrm>
            <a:off x="2525712" y="3886200"/>
            <a:ext cx="965200" cy="15748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45"/>
          <p:cNvSpPr/>
          <p:nvPr/>
        </p:nvSpPr>
        <p:spPr>
          <a:xfrm>
            <a:off x="2601912" y="3962400"/>
            <a:ext cx="1346200" cy="18034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45"/>
          <p:cNvSpPr/>
          <p:nvPr/>
        </p:nvSpPr>
        <p:spPr>
          <a:xfrm>
            <a:off x="3821112" y="4191000"/>
            <a:ext cx="203200" cy="355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E9B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6" name="Google Shape;1386;p45"/>
          <p:cNvCxnSpPr/>
          <p:nvPr/>
        </p:nvCxnSpPr>
        <p:spPr>
          <a:xfrm rot="10800000">
            <a:off x="1300162" y="3706812"/>
            <a:ext cx="6337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87" name="Google Shape;1387;p45"/>
          <p:cNvCxnSpPr/>
          <p:nvPr/>
        </p:nvCxnSpPr>
        <p:spPr>
          <a:xfrm rot="10800000">
            <a:off x="1300162" y="4087812"/>
            <a:ext cx="6337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88" name="Google Shape;1388;p45"/>
          <p:cNvCxnSpPr/>
          <p:nvPr/>
        </p:nvCxnSpPr>
        <p:spPr>
          <a:xfrm rot="10800000">
            <a:off x="1300162" y="4468812"/>
            <a:ext cx="6337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89" name="Google Shape;1389;p45"/>
          <p:cNvCxnSpPr/>
          <p:nvPr/>
        </p:nvCxnSpPr>
        <p:spPr>
          <a:xfrm rot="10800000">
            <a:off x="1300162" y="4849812"/>
            <a:ext cx="6337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90" name="Google Shape;1390;p45"/>
          <p:cNvCxnSpPr/>
          <p:nvPr/>
        </p:nvCxnSpPr>
        <p:spPr>
          <a:xfrm rot="10800000">
            <a:off x="1300162" y="5230812"/>
            <a:ext cx="6337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91" name="Google Shape;1391;p45"/>
          <p:cNvCxnSpPr/>
          <p:nvPr/>
        </p:nvCxnSpPr>
        <p:spPr>
          <a:xfrm rot="10800000">
            <a:off x="1300162" y="5611812"/>
            <a:ext cx="6337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92" name="Google Shape;1392;p45"/>
          <p:cNvCxnSpPr/>
          <p:nvPr/>
        </p:nvCxnSpPr>
        <p:spPr>
          <a:xfrm rot="10800000">
            <a:off x="1300162" y="5992812"/>
            <a:ext cx="6337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93" name="Google Shape;1393;p45"/>
          <p:cNvSpPr/>
          <p:nvPr/>
        </p:nvSpPr>
        <p:spPr>
          <a:xfrm>
            <a:off x="3897312" y="4164012"/>
            <a:ext cx="660400" cy="8890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E9B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45"/>
          <p:cNvSpPr/>
          <p:nvPr/>
        </p:nvSpPr>
        <p:spPr>
          <a:xfrm>
            <a:off x="3897312" y="4191000"/>
            <a:ext cx="1117600" cy="12700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E9B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45"/>
          <p:cNvSpPr/>
          <p:nvPr/>
        </p:nvSpPr>
        <p:spPr>
          <a:xfrm>
            <a:off x="3897312" y="4191000"/>
            <a:ext cx="1422400" cy="16510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E9B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45"/>
          <p:cNvSpPr/>
          <p:nvPr/>
        </p:nvSpPr>
        <p:spPr>
          <a:xfrm>
            <a:off x="5268912" y="4724400"/>
            <a:ext cx="508000" cy="355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7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45"/>
          <p:cNvSpPr/>
          <p:nvPr/>
        </p:nvSpPr>
        <p:spPr>
          <a:xfrm>
            <a:off x="5421312" y="4724400"/>
            <a:ext cx="812800" cy="736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7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45"/>
          <p:cNvSpPr/>
          <p:nvPr/>
        </p:nvSpPr>
        <p:spPr>
          <a:xfrm>
            <a:off x="5345112" y="4724400"/>
            <a:ext cx="1193800" cy="10414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7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45"/>
          <p:cNvSpPr/>
          <p:nvPr/>
        </p:nvSpPr>
        <p:spPr>
          <a:xfrm>
            <a:off x="6716712" y="5105400"/>
            <a:ext cx="203200" cy="355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45"/>
          <p:cNvSpPr/>
          <p:nvPr/>
        </p:nvSpPr>
        <p:spPr>
          <a:xfrm>
            <a:off x="6640512" y="5105400"/>
            <a:ext cx="584200" cy="736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45"/>
          <p:cNvSpPr/>
          <p:nvPr/>
        </p:nvSpPr>
        <p:spPr>
          <a:xfrm>
            <a:off x="7402512" y="5486400"/>
            <a:ext cx="355600" cy="3556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rnd" cmpd="sng" w="50800">
            <a:solidFill>
              <a:srgbClr val="FDC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45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4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DFKai-SB"/>
              <a:buNone/>
            </a:pPr>
            <a:r>
              <a:rPr b="0" i="0" lang="en-US" sz="4400" u="non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rPr>
              <a:t>RUP</a:t>
            </a:r>
            <a:endParaRPr/>
          </a:p>
        </p:txBody>
      </p:sp>
      <p:sp>
        <p:nvSpPr>
          <p:cNvPr id="1408" name="Google Shape;1408;p46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Rational Unified Process</a:t>
            </a:r>
            <a:endParaRPr/>
          </a:p>
        </p:txBody>
      </p:sp>
      <p:sp>
        <p:nvSpPr>
          <p:cNvPr id="1409" name="Google Shape;1409;p46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47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DFKai-SB"/>
              <a:buNone/>
            </a:pPr>
            <a:r>
              <a:rPr b="0" i="0" lang="en-US" sz="4400" u="non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rPr>
              <a:t>Problem A – 需求.1</a:t>
            </a:r>
            <a:endParaRPr/>
          </a:p>
        </p:txBody>
      </p:sp>
      <p:sp>
        <p:nvSpPr>
          <p:cNvPr id="1415" name="Google Shape;1415;p47"/>
          <p:cNvSpPr txBox="1"/>
          <p:nvPr>
            <p:ph idx="1" type="body"/>
          </p:nvPr>
        </p:nvSpPr>
        <p:spPr>
          <a:xfrm>
            <a:off x="457200" y="1547812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Char char="●"/>
            </a:pPr>
            <a:r>
              <a:rPr b="0" i="0" lang="en-US" sz="1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你是一個幫百視達(電影DVD租片商)進行電腦化的工程師。以下是你要處理的規格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百視達的片子分三種: 新片($3)，舊片($2)，與兒童片($2)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一部電影有當然有很多片子可以承租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每一種片子有不同的計價。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新片$3 可以租一天，每多一天，一天是$2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舊片$2 可以租三天，每多一天，一天是$1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兒童片$2 可以租5天，每多一天，一天是$1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每一種片子有不同的積點優惠來做為鼓勵常常光顧客戶的措施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●"/>
            </a:pPr>
            <a:r>
              <a:rPr b="0" i="0" lang="en-US" sz="16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新片每租一片，常客基點 2.0，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●"/>
            </a:pPr>
            <a:r>
              <a:rPr b="0" i="0" lang="en-US" sz="16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舊片每租一片，常客基點 1.0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●"/>
            </a:pPr>
            <a:r>
              <a:rPr b="0" i="0" lang="en-US" sz="16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兒童片常客積點 0.5</a:t>
            </a:r>
            <a:endParaRPr/>
          </a:p>
          <a:p>
            <a:pPr indent="-171450" lvl="2" marL="11430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161925" lvl="2" marL="1143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276225" lvl="0" marL="342900" marR="0" rtl="0" algn="l"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105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416" name="Google Shape;1416;p47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4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DFKai-SB"/>
              <a:buNone/>
            </a:pPr>
            <a:r>
              <a:rPr b="0" i="0" lang="en-US" sz="4400" u="non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rPr>
              <a:t>Problem A - 需求.2</a:t>
            </a:r>
            <a:endParaRPr/>
          </a:p>
        </p:txBody>
      </p:sp>
      <p:sp>
        <p:nvSpPr>
          <p:cNvPr id="1422" name="Google Shape;1422;p48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百視達常常會要求印出某一個客戶的報表(print statement)，這個報表需要印出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過去曾經租過的片子，所有租片的總消費金額 (請記得，一個客戶會租各種片子)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計算常客積點總數</a:t>
            </a:r>
            <a:endParaRPr/>
          </a:p>
          <a:p>
            <a:pPr indent="-20955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423" name="Google Shape;1423;p48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49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DFKai-SB"/>
              <a:buNone/>
            </a:pPr>
            <a:r>
              <a:rPr b="0" i="0" lang="en-US" sz="4400" u="non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rPr>
              <a:t>請分析之後寫出problem A</a:t>
            </a:r>
            <a:endParaRPr/>
          </a:p>
        </p:txBody>
      </p:sp>
      <p:sp>
        <p:nvSpPr>
          <p:cNvPr id="1430" name="Google Shape;1430;p49"/>
          <p:cNvSpPr txBox="1"/>
          <p:nvPr>
            <p:ph idx="1" type="body"/>
          </p:nvPr>
        </p:nvSpPr>
        <p:spPr>
          <a:xfrm>
            <a:off x="457200" y="1387475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Class 宣告</a:t>
            </a:r>
            <a:endParaRPr b="0" i="0" sz="20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Class 名稱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關鍵 attributes (member) 與常數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每個 Class 的關鍵 method (*)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Method 的名稱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Pseudo code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rgbClr val="FFFF00"/>
                </a:solidFill>
                <a:latin typeface="DFKai-SB"/>
                <a:ea typeface="DFKai-SB"/>
                <a:cs typeface="DFKai-SB"/>
                <a:sym typeface="DFKai-SB"/>
              </a:rPr>
              <a:t>關鍵的 method print_statement()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rgbClr val="FFFF00"/>
                </a:solidFill>
                <a:latin typeface="DFKai-SB"/>
                <a:ea typeface="DFKai-SB"/>
                <a:cs typeface="DFKai-SB"/>
                <a:sym typeface="DFKai-SB"/>
              </a:rPr>
              <a:t>這個method 應該屬於哪一個 class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rgbClr val="FFFF00"/>
                </a:solidFill>
                <a:latin typeface="DFKai-SB"/>
                <a:ea typeface="DFKai-SB"/>
                <a:cs typeface="DFKai-SB"/>
                <a:sym typeface="DFKai-SB"/>
              </a:rPr>
              <a:t>其 pseudo code 應該如何用到其他的class 的關鍵 method (你在* 分析出來的)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●"/>
            </a:pPr>
            <a:r>
              <a:rPr b="0" i="0" lang="en-US" sz="2000" u="none">
                <a:solidFill>
                  <a:srgbClr val="FFFF00"/>
                </a:solidFill>
                <a:latin typeface="DFKai-SB"/>
                <a:ea typeface="DFKai-SB"/>
                <a:cs typeface="DFKai-SB"/>
                <a:sym typeface="DFKai-SB"/>
              </a:rPr>
              <a:t>main()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rgbClr val="FFFF00"/>
                </a:solidFill>
                <a:latin typeface="DFKai-SB"/>
                <a:ea typeface="DFKai-SB"/>
                <a:cs typeface="DFKai-SB"/>
                <a:sym typeface="DFKai-SB"/>
              </a:rPr>
              <a:t>請展示如何使用你的class 來建立一些物件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rgbClr val="FFFF00"/>
                </a:solidFill>
                <a:latin typeface="DFKai-SB"/>
                <a:ea typeface="DFKai-SB"/>
                <a:cs typeface="DFKai-SB"/>
                <a:sym typeface="DFKai-SB"/>
              </a:rPr>
              <a:t>例如，如果一個客戶要租一隻片，要如何使用你的class 來建立物件與必要的關聯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rgbClr val="FFFF00"/>
                </a:solidFill>
                <a:latin typeface="DFKai-SB"/>
                <a:ea typeface="DFKai-SB"/>
                <a:cs typeface="DFKai-SB"/>
                <a:sym typeface="DFKai-SB"/>
              </a:rPr>
              <a:t>例如，如果客戶要求列印一個客戶報表，要如何呼叫你提供的服務</a:t>
            </a:r>
            <a:endParaRPr/>
          </a:p>
          <a:p>
            <a:pPr indent="-200025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FF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257175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FF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431" name="Google Shape;1431;p49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50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DFKai-SB"/>
              <a:buNone/>
            </a:pPr>
            <a:r>
              <a:rPr b="0" i="0" lang="en-US" sz="4400" u="non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rPr>
              <a:t>你要繳交的範例.1</a:t>
            </a:r>
            <a:endParaRPr/>
          </a:p>
        </p:txBody>
      </p:sp>
      <p:sp>
        <p:nvSpPr>
          <p:cNvPr id="1437" name="Google Shape;1437;p50"/>
          <p:cNvSpPr txBox="1"/>
          <p:nvPr>
            <p:ph idx="1" type="body"/>
          </p:nvPr>
        </p:nvSpPr>
        <p:spPr>
          <a:xfrm>
            <a:off x="838200" y="1417637"/>
            <a:ext cx="38100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None/>
            </a:pPr>
            <a:r>
              <a:rPr b="0" i="0" lang="en-US" sz="20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class A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None/>
            </a:pPr>
            <a:r>
              <a:rPr b="0" i="0" lang="en-US" sz="20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string name 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None/>
            </a:pPr>
            <a:r>
              <a:rPr b="0" i="0" lang="en-US" sz="20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…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None/>
            </a:pPr>
            <a:r>
              <a:rPr b="0" i="0" lang="en-US" sz="20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getPrice() {..}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None/>
            </a:pPr>
            <a:r>
              <a:rPr b="0" i="0" lang="en-US" sz="20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};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None/>
            </a:pPr>
            <a:r>
              <a:rPr b="0" i="0" lang="en-US" sz="20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class B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None/>
            </a:pPr>
            <a:r>
              <a:rPr b="0" i="0" lang="en-US" sz="20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…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None/>
            </a:pPr>
            <a:r>
              <a:rPr b="0" i="0" lang="en-US" sz="20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…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None/>
            </a:pPr>
            <a:r>
              <a:rPr b="0" i="0" lang="en-US" sz="20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void print_statement() 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None/>
            </a:pPr>
            <a:r>
              <a:rPr b="0" i="0" lang="en-US" sz="20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  for each movie a in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None/>
            </a:pPr>
            <a:r>
              <a:rPr b="0" i="0" lang="en-US" sz="20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      total +=  a.getPrice() 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None/>
            </a:pPr>
            <a:r>
              <a:rPr b="0" i="0" lang="en-US" sz="20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  print “過去租片總額=“+total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None/>
            </a:pPr>
            <a:r>
              <a:rPr b="0" i="0" lang="en-US" sz="20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None/>
            </a:pPr>
            <a:r>
              <a:rPr b="0" i="0" lang="en-US" sz="20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}</a:t>
            </a:r>
            <a:endParaRPr/>
          </a:p>
          <a:p>
            <a:pPr indent="-24765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438" name="Google Shape;1438;p50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39" name="Google Shape;1439;p50"/>
          <p:cNvSpPr txBox="1"/>
          <p:nvPr/>
        </p:nvSpPr>
        <p:spPr>
          <a:xfrm>
            <a:off x="4635500" y="1654175"/>
            <a:ext cx="38100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Bell MT"/>
              <a:buNone/>
            </a:pPr>
            <a:r>
              <a:rPr b="0" i="0" lang="en-US" sz="2000" u="none">
                <a:solidFill>
                  <a:srgbClr val="FFFF00"/>
                </a:solidFill>
                <a:latin typeface="Bell MT"/>
                <a:ea typeface="Bell MT"/>
                <a:cs typeface="Bell MT"/>
                <a:sym typeface="Bell MT"/>
              </a:rPr>
              <a:t>請注意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FFFF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FFFF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Bell MT"/>
              <a:buNone/>
            </a:pPr>
            <a:r>
              <a:rPr b="0" i="0" lang="en-US" sz="2000" u="none">
                <a:solidFill>
                  <a:srgbClr val="FFFF00"/>
                </a:solidFill>
                <a:latin typeface="Bell MT"/>
                <a:ea typeface="Bell MT"/>
                <a:cs typeface="Bell MT"/>
                <a:sym typeface="Bell MT"/>
              </a:rPr>
              <a:t>左邊只是個範例，你當然不能用沒有意義的名字來命名你的 class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FFFF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Bell MT"/>
              <a:buNone/>
            </a:pPr>
            <a:r>
              <a:rPr b="0" i="0" lang="en-US" sz="2000" u="none">
                <a:solidFill>
                  <a:srgbClr val="FFFF00"/>
                </a:solidFill>
                <a:latin typeface="Bell MT"/>
                <a:ea typeface="Bell MT"/>
                <a:cs typeface="Bell MT"/>
                <a:sym typeface="Bell MT"/>
              </a:rPr>
              <a:t>print_statement 也只是個還差很遠的範例。詳細的 print_statement 應該完成的規格請看前幾頁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51"/>
          <p:cNvSpPr txBox="1"/>
          <p:nvPr/>
        </p:nvSpPr>
        <p:spPr>
          <a:xfrm>
            <a:off x="76200" y="6210300"/>
            <a:ext cx="762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45" name="Google Shape;1445;p51"/>
          <p:cNvSpPr txBox="1"/>
          <p:nvPr>
            <p:ph idx="1" type="body"/>
          </p:nvPr>
        </p:nvSpPr>
        <p:spPr>
          <a:xfrm>
            <a:off x="609600" y="1417637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rPr b="0" i="0" lang="en-US" sz="18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main()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rPr b="0" i="0" lang="en-US" sz="18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… // 請寫下如何用你的 classes 建立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rPr b="0" i="0" lang="en-US" sz="18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     //  2 customers April, Joe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rPr b="0" i="0" lang="en-US" sz="18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…// 請寫下如何用你的 classes 建立3 部電影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rPr b="0" i="0" lang="en-US" sz="18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    //  分別是神力女超人(舊片) ，正義聯盟(新片)，雷神索爾3(新片)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rPr b="0" i="0" lang="en-US" sz="18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… // 請寫下如何用你的 classes 以及以上建立的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rPr b="0" i="0" lang="en-US" sz="18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     // 物件實現以下的租片事實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rPr b="0" i="0" lang="en-US" sz="18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     // 		1. April 租了神力女超人 3 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rPr b="0" i="0" lang="en-US" sz="18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     // 		2. Joe 租了神力女超人 2 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rPr b="0" i="0" lang="en-US" sz="18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     // 		3. April 租了正義聯盟 5 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rPr b="0" i="0" lang="en-US" sz="18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     // 		4. Joe 租了雷神索爾3  1 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rPr b="0" i="0" lang="en-US" sz="18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…  // 請寫下如何用你的 class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rPr b="0" i="0" lang="en-US" sz="18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      // 印出 April 的客戶報表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rPr b="0" i="0" lang="en-US" sz="18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      // 印出 Joe 的客戶報表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rPr b="0" i="0" lang="en-US" sz="18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rPr b="0" i="0" lang="en-US" sz="1800" u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rPr>
              <a:t>          </a:t>
            </a:r>
            <a:endParaRPr/>
          </a:p>
          <a:p>
            <a:pPr indent="-257175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446" name="Google Shape;1446;p5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DFKai-SB"/>
              <a:buNone/>
            </a:pPr>
            <a:r>
              <a:rPr b="0" i="0" lang="en-US" sz="4400" u="non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rPr>
              <a:t>你要繳交的範例.2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rbit">
  <a:themeElements>
    <a:clrScheme name="Orbit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rbit">
  <a:themeElements>
    <a:clrScheme name="Orbit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Yung-Pin Cheng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